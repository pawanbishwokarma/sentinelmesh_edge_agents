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1.xml" ContentType="application/vnd.openxmlformats-officedocument.drawingml.chart+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451"/>
    <p:restoredTop sz="84061"/>
  </p:normalViewPr>
  <p:slideViewPr>
    <p:cSldViewPr snapToGrid="0" snapToObjects="1">
      <p:cViewPr varScale="1">
        <p:scale>
          <a:sx n="124" d="100"/>
          <a:sy n="124" d="100"/>
        </p:scale>
        <p:origin x="122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E293B"/>
                </a:solidFill>
                <a:latin typeface="Arial"/>
              </a:defRPr>
            </a:pPr>
            <a:r>
              <a:rPr lang="en-US" sz="1300" b="0" i="0" u="none" strike="noStrike">
                <a:solidFill>
                  <a:srgbClr val="1E293B"/>
                </a:solidFill>
                <a:latin typeface="Arial"/>
              </a:rPr>
              <a:t>Accuracy by agent model (12-alert eval)</a:t>
            </a:r>
          </a:p>
        </c:rich>
      </c:tx>
      <c:overlay val="0"/>
    </c:title>
    <c:autoTitleDeleted val="0"/>
    <c:plotArea>
      <c:layout/>
      <c:barChart>
        <c:barDir val="col"/>
        <c:grouping val="clustered"/>
        <c:varyColors val="0"/>
        <c:ser>
          <c:idx val="0"/>
          <c:order val="0"/>
          <c:tx>
            <c:strRef>
              <c:f>Sheet1!$B$1</c:f>
              <c:strCache>
                <c:ptCount val="1"/>
                <c:pt idx="0">
                  <c:v>Exact family</c:v>
                </c:pt>
              </c:strCache>
            </c:strRef>
          </c:tx>
          <c:spPr>
            <a:solidFill>
              <a:srgbClr val="0E7490"/>
            </a:solidFill>
            <a:effectLst/>
          </c:spPr>
          <c:invertIfNegative val="0"/>
          <c:dLbls>
            <c:numFmt formatCode="#,##0" sourceLinked="0"/>
            <c:spPr>
              <a:noFill/>
              <a:ln>
                <a:noFill/>
              </a:ln>
              <a:effectLst/>
            </c:spPr>
            <c:txPr>
              <a:bodyPr/>
              <a:lstStyle/>
              <a:p>
                <a:pPr>
                  <a:defRPr sz="11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gpt-oss-120b agent</c:v>
                </c:pt>
                <c:pt idx="1">
                  <c:v>Claude Sonnet agent</c:v>
                </c:pt>
              </c:strCache>
            </c:strRef>
          </c:cat>
          <c:val>
            <c:numRef>
              <c:f>Sheet1!$B$2:$B$3</c:f>
              <c:numCache>
                <c:formatCode>General</c:formatCode>
                <c:ptCount val="2"/>
                <c:pt idx="0">
                  <c:v>25</c:v>
                </c:pt>
                <c:pt idx="1">
                  <c:v>17</c:v>
                </c:pt>
              </c:numCache>
            </c:numRef>
          </c:val>
          <c:extLst>
            <c:ext xmlns:c16="http://schemas.microsoft.com/office/drawing/2014/chart" uri="{C3380CC4-5D6E-409C-BE32-E72D297353CC}">
              <c16:uniqueId val="{00000000-B7F0-7147-BE5B-04B4EF93DE18}"/>
            </c:ext>
          </c:extLst>
        </c:ser>
        <c:ser>
          <c:idx val="1"/>
          <c:order val="1"/>
          <c:tx>
            <c:strRef>
              <c:f>Sheet1!$C$1</c:f>
              <c:strCache>
                <c:ptCount val="1"/>
                <c:pt idx="0">
                  <c:v>Coarse triage group</c:v>
                </c:pt>
              </c:strCache>
            </c:strRef>
          </c:tx>
          <c:spPr>
            <a:solidFill>
              <a:srgbClr val="14B8A6"/>
            </a:solidFill>
            <a:effectLst/>
          </c:spPr>
          <c:invertIfNegative val="0"/>
          <c:dLbls>
            <c:numFmt formatCode="#,##0" sourceLinked="0"/>
            <c:spPr>
              <a:noFill/>
              <a:ln>
                <a:noFill/>
              </a:ln>
              <a:effectLst/>
            </c:spPr>
            <c:txPr>
              <a:bodyPr/>
              <a:lstStyle/>
              <a:p>
                <a:pPr>
                  <a:defRPr sz="11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gpt-oss-120b agent</c:v>
                </c:pt>
                <c:pt idx="1">
                  <c:v>Claude Sonnet agent</c:v>
                </c:pt>
              </c:strCache>
            </c:strRef>
          </c:cat>
          <c:val>
            <c:numRef>
              <c:f>Sheet1!$C$2:$C$3</c:f>
              <c:numCache>
                <c:formatCode>General</c:formatCode>
                <c:ptCount val="2"/>
                <c:pt idx="0">
                  <c:v>42</c:v>
                </c:pt>
                <c:pt idx="1">
                  <c:v>58</c:v>
                </c:pt>
              </c:numCache>
            </c:numRef>
          </c:val>
          <c:extLst>
            <c:ext xmlns:c16="http://schemas.microsoft.com/office/drawing/2014/chart" uri="{C3380CC4-5D6E-409C-BE32-E72D297353CC}">
              <c16:uniqueId val="{00000001-B7F0-7147-BE5B-04B4EF93DE18}"/>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max val="70"/>
          <c:min val="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64748B"/>
              </a:solidFill>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61455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my name is Pawan Bishwokarma, and this is my final project, SentinelMesh.</a:t>
            </a:r>
          </a:p>
          <a:p>
            <a:r>
              <a:rPr lang="en-US" dirty="0"/>
              <a:t>SentinelMesh is an autonomous Tier 1 SOC alert triage agent. The project combines an LLM, grounded security tools, Unity Catalog tables, and </a:t>
            </a:r>
            <a:r>
              <a:rPr lang="en-US" dirty="0" err="1"/>
              <a:t>MLflow</a:t>
            </a:r>
            <a:r>
              <a:rPr lang="en-US" dirty="0"/>
              <a:t> tracing to analyze network flow alerts and return a structured triage recommendation.</a:t>
            </a:r>
          </a:p>
          <a:p>
            <a:r>
              <a:rPr lang="en-US" dirty="0"/>
              <a:t>The goal is not to replace the analyst. The goal is to reduce repetitive triage work, provide a consistent first-pass security interpretation, and keep the final decision under human analyst control.</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I focused on is alert fatigue in Security Operations Centers.</a:t>
            </a:r>
          </a:p>
          <a:p>
            <a:r>
              <a:rPr lang="en-US" dirty="0"/>
              <a:t>Tier 1 analysts often have to look through large numbers of network alerts, decide whether each one is suspicious, classify the likely attack, estimate severity, and recommend a next step. That work is repetitive, time sensitive, and easy to get wrong under pressure.</a:t>
            </a:r>
          </a:p>
          <a:p>
            <a:r>
              <a:rPr lang="en-US" dirty="0"/>
              <a:t>The business risk is that slow triage can delay containment, while noisy alert queues can cause real threats to be missed. SentinelMesh is designed to assist with that first triage layer by turning raw network flow evidence into a structured SOC decision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solution is an AI triage co-pilot.</a:t>
            </a:r>
          </a:p>
          <a:p>
            <a:r>
              <a:rPr lang="en-US" dirty="0"/>
              <a:t>The agent receives a plain-English network flow alert. That alert includes observable traffic details such as protocol, packet rate, packet count, packet size statistics, inter-arrival time, and TCP flags.</a:t>
            </a:r>
          </a:p>
          <a:p>
            <a:r>
              <a:rPr lang="en-US" dirty="0"/>
              <a:t>The LLM predicts the most likely attack family from a controlled list of ten families. Then it calls tools to add MITRE ATT&amp;CK context, calculate severity, and recommend a response action.</a:t>
            </a:r>
          </a:p>
          <a:p>
            <a:r>
              <a:rPr lang="en-US" dirty="0"/>
              <a:t>The output is a structured triage summary. Importantly, the response is framed as awaiting analyst approval, so the system supports the analyst rather than taking action autonomously.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 high level, the project has five layers.</a:t>
            </a:r>
          </a:p>
          <a:p>
            <a:r>
              <a:rPr lang="en-US" dirty="0"/>
              <a:t>The first layer is the data pipeline. It takes the CIC-IoT-2023 dataset, builds a stratified sample, converts raw flow rows into readable alerts, and saves governed tables in Unity Catalog.</a:t>
            </a:r>
          </a:p>
          <a:p>
            <a:r>
              <a:rPr lang="en-US" dirty="0"/>
              <a:t>The second layer is the agent. The agent uses an LLM, a system prompt, and a tool-calling loop.</a:t>
            </a:r>
          </a:p>
          <a:p>
            <a:r>
              <a:rPr lang="en-US" dirty="0"/>
              <a:t>The third layer is the tool layer. The agent has three tools: MITRE lookup, severity scoring, and action recommendation.</a:t>
            </a:r>
          </a:p>
          <a:p>
            <a:r>
              <a:rPr lang="en-US" dirty="0"/>
              <a:t>The fourth layer is observability. </a:t>
            </a:r>
            <a:r>
              <a:rPr lang="en-US" dirty="0" err="1"/>
              <a:t>MLflow</a:t>
            </a:r>
            <a:r>
              <a:rPr lang="en-US" dirty="0"/>
              <a:t> tracing captures LLM calls and tool calls so each triage decision can be inspected.</a:t>
            </a:r>
          </a:p>
          <a:p>
            <a:r>
              <a:rPr lang="en-US" dirty="0"/>
              <a:t>The fifth layer is evaluation. I used deterministic evaluation, fallback LLM judging, and human review to assess how the agent performed.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Engineer owns this. The crucial point is that classification is honest — the model must infer the family from observable traffic only, exactly like a real analyst who doesn't get the answer key. Note the richer alert text was an intentional upgrade to give the model more evidence.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Engineer owns this. Stress that the agent logic lives in one reusable file (sentinelmesh_agent.py) loaded by every notebook, so the agent is defined once. The guardrails on the right map directly to the rubric's 'graceful error and out-of-scope handling' requirement.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tools is a rubric requirement; we have three, and none is an 'obvious missing tool' for triage. Mention the MITRE tool runs real SQL against a governed Unity Catalog table — that is what makes this a genuine agent, not just a prompt.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Traces are presented via an established provider (MLflow), satisfying the rubric. Note trace 3 is the required 'two different LLMs on the same trace' case and counts as one of the five. Be honest that trace 2 is a miss — we keep it because it shows real behavior.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one clear success and one honest miss. The miss is pedagogically useful: it previews the central finding that flow-statistics-only input limits fine-grained classification. Don't hide it — graders reward honest evaluation.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trace is the heart of the LLM-comparison requirement. Earlier the small model truncated; in the final run it completed but chose the adjacent family. The takeaway: model size buys precision on fine-grained calls, which feeds directly into ROI.</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graceful rejections is an explicit rubric line. Emphasize the agent calls no tools on these — it doesn't force a triage. This is exactly the kind of safety behavior leadership cares about in production.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I’ll move back to the slides for the evaluation and business interpretation.</a:t>
            </a:r>
          </a:p>
          <a:p>
            <a:r>
              <a:rPr lang="en-US" dirty="0"/>
              <a:t>I used three complementary evaluation methods.</a:t>
            </a:r>
          </a:p>
          <a:p>
            <a:r>
              <a:rPr lang="en-US" dirty="0"/>
              <a:t>The first is manual deterministic evaluation. This is the primary score because it is fully reproducible. It extracts the predicted family from the agent response and compares it to the expected family.</a:t>
            </a:r>
          </a:p>
          <a:p>
            <a:r>
              <a:rPr lang="en-US" dirty="0"/>
              <a:t>The second is an LLM judge. The original plan was to use </a:t>
            </a:r>
            <a:r>
              <a:rPr lang="en-US" dirty="0" err="1"/>
              <a:t>MLflow</a:t>
            </a:r>
            <a:r>
              <a:rPr lang="en-US" dirty="0"/>
              <a:t> </a:t>
            </a:r>
            <a:r>
              <a:rPr lang="en-US" dirty="0" err="1"/>
              <a:t>make_judge</a:t>
            </a:r>
            <a:r>
              <a:rPr lang="en-US" dirty="0"/>
              <a:t>, but because of endpoint issues, I implemented a fallback Claude Sonnet judge using normal chat completion.</a:t>
            </a:r>
          </a:p>
          <a:p>
            <a:r>
              <a:rPr lang="en-US" dirty="0"/>
              <a:t>The third is human review. Human review matters because SOC triage is high stakes. Even a well-performing agent should not autonomously block traffic or approve containment without analyst oversight.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what happened with the LLM judge.</a:t>
            </a:r>
          </a:p>
          <a:p>
            <a:r>
              <a:rPr lang="en-US" dirty="0" err="1"/>
              <a:t>MLflow</a:t>
            </a:r>
            <a:r>
              <a:rPr lang="en-US" dirty="0"/>
              <a:t> </a:t>
            </a:r>
            <a:r>
              <a:rPr lang="en-US" dirty="0" err="1"/>
              <a:t>make_judge</a:t>
            </a:r>
            <a:r>
              <a:rPr lang="en-US" dirty="0"/>
              <a:t> requires the judge model to return a structured response. In my workspace, the available endpoints did not support that reliably.</a:t>
            </a:r>
          </a:p>
          <a:p>
            <a:r>
              <a:rPr lang="en-US" dirty="0"/>
              <a:t>The GPT OSS endpoint hit QPS rate limits and produced null or failed assessments. The Claude Opus endpoint was unavailable because it had a Databricks-configured rate limit of zero. Claude Sonnet worked for normal agent calls, but failed as a </a:t>
            </a:r>
            <a:r>
              <a:rPr lang="en-US" dirty="0" err="1"/>
              <a:t>make_judge</a:t>
            </a:r>
            <a:r>
              <a:rPr lang="en-US" dirty="0"/>
              <a:t> scorer because the endpoint rejected the structured </a:t>
            </a:r>
            <a:r>
              <a:rPr lang="en-US" dirty="0" err="1"/>
              <a:t>response_schema</a:t>
            </a:r>
            <a:r>
              <a:rPr lang="en-US" dirty="0"/>
              <a:t> field.</a:t>
            </a:r>
          </a:p>
          <a:p>
            <a:r>
              <a:rPr lang="en-US" dirty="0"/>
              <a:t>So I documented those failures and implemented a fallback LLM judge using a normal Claude Sonnet chat-completion call. That gave me an automated second opinion without relying on structured judge output support.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human-in-the-loop design appears in two places.</a:t>
            </a:r>
          </a:p>
          <a:p>
            <a:r>
              <a:rPr lang="en-US" dirty="0"/>
              <a:t>First, the agent itself never executes containment. Every response says the recommendation is awaiting analyst approval.</a:t>
            </a:r>
          </a:p>
          <a:p>
            <a:r>
              <a:rPr lang="en-US" dirty="0"/>
              <a:t>Second, the evaluation includes human review. The human review checks whether the predicted family matched the expected family, whether the coarse triage group was still useful, and whether the recommendation made sense.</a:t>
            </a:r>
          </a:p>
          <a:p>
            <a:r>
              <a:rPr lang="en-US" dirty="0"/>
              <a:t>This is important because a wrong autonomous action could disrupt a service or miss a real threat. SentinelMesh is designed as a co-pilot: it accelerates triage, but the analyst remains responsible for the final decision.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key results.</a:t>
            </a:r>
          </a:p>
          <a:p>
            <a:r>
              <a:rPr lang="en-US" dirty="0"/>
              <a:t>The exact family metric is strict. It asks whether the agent predicted the exact mapped family, such as DDOS_FLOOD, RECON, SPOOFING, or BENIGN.</a:t>
            </a:r>
          </a:p>
          <a:p>
            <a:r>
              <a:rPr lang="en-US" dirty="0"/>
              <a:t>The coarse metric asks whether the agent found the right broader operational group, such as flood, recon or scan, spoofing, intrusion, or benign.</a:t>
            </a:r>
          </a:p>
          <a:p>
            <a:r>
              <a:rPr lang="en-US" dirty="0"/>
              <a:t>The important finding is that exact family classification is weak, but coarse triage is more useful. In the final comparison, Claude Sonnet had the stronger coarse triage score, while GPT OSS performed better on exact family in this small evaluation.</a:t>
            </a:r>
          </a:p>
          <a:p>
            <a:r>
              <a:rPr lang="en-US" dirty="0"/>
              <a:t>The fallback LLM judge pass rate was also low, which reinforced the same conclusion: the agent can often identify the broad pattern, but exact family prediction is not reliable enough to automate.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agent is only seeing a rendered single-row flow summary. That is enough to say something like, this looks like flood traffic. But it is not always enough to distinguish DDoS from DoS from Mirai, or low-rate recon from benign.</a:t>
            </a:r>
          </a:p>
          <a:p>
            <a:r>
              <a:rPr lang="en-US" dirty="0"/>
              <a:t>That is why exact 10-way classification is difficult from this data alone.</a:t>
            </a:r>
          </a:p>
          <a:p>
            <a:r>
              <a:rPr lang="en-US" dirty="0"/>
              <a:t>The win is coarse triage. A 58 percent coarse triage result is not production-ready automation, but it is meaningful for queue routing, prioritization, and analyst acceleration.</a:t>
            </a:r>
          </a:p>
          <a:p>
            <a:r>
              <a:rPr lang="en-US" dirty="0"/>
              <a:t>I am not presenting this as inflated accuracy. I fixed a substring-matching bug that previously overstated performance, and I am reporting the stricter result honestly.</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uses an illustrative model with 10,000 alerts per month, about 2,000 tokens per alert, and 10 minutes of analyst time saved per correctly triaged alert at 50 dollars per hour.</a:t>
            </a:r>
          </a:p>
          <a:p>
            <a:r>
              <a:rPr lang="en-US" dirty="0"/>
              <a:t>Even with a premium model, inference cost is small compared to analyst labor. That means the business decision should prioritize effectiveness, not just cheapest inference.</a:t>
            </a:r>
          </a:p>
          <a:p>
            <a:r>
              <a:rPr lang="en-US" dirty="0"/>
              <a:t>The cheaper model may cost less, but if it produces weaker tool-calling behavior or lower triage usefulness, the labor savings are worse. The recommendation is to choose the model that gives the best operational accuracy at the triage layer.</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would deploy SentinelMesh in three phases.</a:t>
            </a:r>
          </a:p>
          <a:p>
            <a:r>
              <a:rPr lang="en-US" dirty="0"/>
              <a:t>Phase 1 is shadow mode. The agent runs next to analysts but does not affect the queue. The goal is to measure agreement, collect feedback, and identify failure patterns.</a:t>
            </a:r>
          </a:p>
          <a:p>
            <a:r>
              <a:rPr lang="en-US" dirty="0"/>
              <a:t>Phase 2 is assist mode. The agent pre-fills triage summaries and prioritizes the queue, but analysts approve every action.</a:t>
            </a:r>
          </a:p>
          <a:p>
            <a:r>
              <a:rPr lang="en-US" dirty="0"/>
              <a:t>Phase 3 is auto-assist. Only high-confidence benign or high-confidence flood cases are partially automated, with human spot checks and escalation for anything uncertain.</a:t>
            </a:r>
          </a:p>
          <a:p>
            <a:r>
              <a:rPr lang="en-US" dirty="0"/>
              <a:t>For production, I would deploy through Databricks Model Serving or the Mosaic AI Agent Framework, keep </a:t>
            </a:r>
            <a:r>
              <a:rPr lang="en-US" dirty="0" err="1"/>
              <a:t>MLflow</a:t>
            </a:r>
            <a:r>
              <a:rPr lang="en-US" dirty="0"/>
              <a:t> tracing on, and enforce guardrails such as severity thresholds, low-confidence escalation, and full audit logging.</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biggest limitation is that the input is flow-statistics-only. Single-row flow summaries do not provide enough temporal or multi-flow context for fine-grained classification.</a:t>
            </a:r>
          </a:p>
          <a:p>
            <a:r>
              <a:rPr lang="en-US" dirty="0"/>
              <a:t>The evaluation set is also small, so the results are directional rather than statistically robust.</a:t>
            </a:r>
          </a:p>
          <a:p>
            <a:r>
              <a:rPr lang="en-US" dirty="0"/>
              <a:t>The next step is to add a grounding tool, probably vector search over labeled example flows. That would let the agent retrieve similar historical examples before predicting the family.</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Required disclosure. Read it plainly and sincerely. The key message graders want: AI was a tool, not a replacement — the team understands and owns every part. Make sure the left column is truthful to what you actually used.</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SentinelMesh is an LLM-based SOC triage agent that reads network-flow alerts, grounds its reasoning in MITRE ATT&amp;CK context, scores severity, recommends an action, and keeps a human analyst in control.</a:t>
            </a:r>
          </a:p>
          <a:p>
            <a:r>
              <a:rPr lang="en-US" dirty="0"/>
              <a:t>The final result is honest: it is not ready to be a precise standalone classifier, but it is a useful prototype for Tier 1 triage assistance, queue routing, and analyst acceleration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10.png"/><Relationship Id="rId7"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5.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16.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2.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chart" Target="../charts/chart1.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png"/><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image" Target="../media/image7.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726"/>
        </a:solidFill>
        <a:effectLst/>
      </p:bgPr>
    </p:bg>
    <p:spTree>
      <p:nvGrpSpPr>
        <p:cNvPr id="1" name=""/>
        <p:cNvGrpSpPr/>
        <p:nvPr/>
      </p:nvGrpSpPr>
      <p:grpSpPr>
        <a:xfrm>
          <a:off x="0" y="0"/>
          <a:ext cx="0" cy="0"/>
          <a:chOff x="0" y="0"/>
          <a:chExt cx="0" cy="0"/>
        </a:xfrm>
      </p:grpSpPr>
      <p:sp>
        <p:nvSpPr>
          <p:cNvPr id="2" name="Shape 0"/>
          <p:cNvSpPr/>
          <p:nvPr/>
        </p:nvSpPr>
        <p:spPr>
          <a:xfrm>
            <a:off x="8869680" y="-1463040"/>
            <a:ext cx="5120640" cy="5120640"/>
          </a:xfrm>
          <a:prstGeom prst="ellipse">
            <a:avLst/>
          </a:prstGeom>
          <a:solidFill>
            <a:srgbClr val="16233B"/>
          </a:solidFill>
          <a:ln/>
        </p:spPr>
      </p:sp>
      <p:sp>
        <p:nvSpPr>
          <p:cNvPr id="3" name="Shape 1"/>
          <p:cNvSpPr/>
          <p:nvPr/>
        </p:nvSpPr>
        <p:spPr>
          <a:xfrm>
            <a:off x="10058400" y="3840480"/>
            <a:ext cx="3840480" cy="3840480"/>
          </a:xfrm>
          <a:prstGeom prst="ellipse">
            <a:avLst/>
          </a:prstGeom>
          <a:solidFill>
            <a:srgbClr val="16233B"/>
          </a:solidFill>
          <a:ln/>
        </p:spPr>
      </p:sp>
      <p:pic>
        <p:nvPicPr>
          <p:cNvPr id="4" name="Image 0" descr="preencoded.png"/>
          <p:cNvPicPr>
            <a:picLocks noChangeAspect="1"/>
          </p:cNvPicPr>
          <p:nvPr/>
        </p:nvPicPr>
        <p:blipFill>
          <a:blip r:embed="rId3"/>
          <a:stretch>
            <a:fillRect/>
          </a:stretch>
        </p:blipFill>
        <p:spPr>
          <a:xfrm>
            <a:off x="9509760" y="1051560"/>
            <a:ext cx="1828800" cy="1828800"/>
          </a:xfrm>
          <a:prstGeom prst="rect">
            <a:avLst/>
          </a:prstGeom>
        </p:spPr>
      </p:pic>
      <p:sp>
        <p:nvSpPr>
          <p:cNvPr id="5" name="Text 2"/>
          <p:cNvSpPr/>
          <p:nvPr/>
        </p:nvSpPr>
        <p:spPr>
          <a:xfrm>
            <a:off x="566928" y="1371600"/>
            <a:ext cx="8229600" cy="365760"/>
          </a:xfrm>
          <a:prstGeom prst="rect">
            <a:avLst/>
          </a:prstGeom>
          <a:noFill/>
          <a:ln/>
        </p:spPr>
        <p:txBody>
          <a:bodyPr wrap="square" rtlCol="0" anchor="ctr"/>
          <a:lstStyle/>
          <a:p>
            <a:pPr marL="0" indent="0">
              <a:buNone/>
            </a:pPr>
            <a:r>
              <a:rPr lang="en-US" sz="1400" b="1" kern="0" spc="400" dirty="0">
                <a:solidFill>
                  <a:srgbClr val="06B6D4"/>
                </a:solidFill>
                <a:latin typeface="Calibri" pitchFamily="34" charset="0"/>
                <a:ea typeface="Calibri" pitchFamily="34" charset="-122"/>
                <a:cs typeface="Calibri" pitchFamily="34" charset="-120"/>
              </a:rPr>
              <a:t>AAI-510  ·  FINAL TEAM PROJECT</a:t>
            </a:r>
            <a:endParaRPr lang="en-US" sz="1400" dirty="0"/>
          </a:p>
        </p:txBody>
      </p:sp>
      <p:sp>
        <p:nvSpPr>
          <p:cNvPr id="6" name="Text 3"/>
          <p:cNvSpPr/>
          <p:nvPr/>
        </p:nvSpPr>
        <p:spPr>
          <a:xfrm>
            <a:off x="566928" y="1783080"/>
            <a:ext cx="9144000" cy="1005840"/>
          </a:xfrm>
          <a:prstGeom prst="rect">
            <a:avLst/>
          </a:prstGeom>
          <a:noFill/>
          <a:ln/>
        </p:spPr>
        <p:txBody>
          <a:bodyPr wrap="square" rtlCol="0" anchor="ctr"/>
          <a:lstStyle/>
          <a:p>
            <a:pPr marL="0" indent="0">
              <a:buNone/>
            </a:pPr>
            <a:r>
              <a:rPr lang="en-US" sz="6000" b="1" dirty="0">
                <a:solidFill>
                  <a:srgbClr val="FFFFFF"/>
                </a:solidFill>
                <a:latin typeface="Cambria" pitchFamily="34" charset="0"/>
                <a:ea typeface="Cambria" pitchFamily="34" charset="-122"/>
                <a:cs typeface="Cambria" pitchFamily="34" charset="-120"/>
              </a:rPr>
              <a:t>SentinelMesh</a:t>
            </a:r>
            <a:endParaRPr lang="en-US" sz="6000" dirty="0"/>
          </a:p>
        </p:txBody>
      </p:sp>
      <p:sp>
        <p:nvSpPr>
          <p:cNvPr id="7" name="Text 4"/>
          <p:cNvSpPr/>
          <p:nvPr/>
        </p:nvSpPr>
        <p:spPr>
          <a:xfrm>
            <a:off x="566928" y="2880360"/>
            <a:ext cx="10058400" cy="548640"/>
          </a:xfrm>
          <a:prstGeom prst="rect">
            <a:avLst/>
          </a:prstGeom>
          <a:noFill/>
          <a:ln/>
        </p:spPr>
        <p:txBody>
          <a:bodyPr wrap="square" rtlCol="0" anchor="ctr"/>
          <a:lstStyle/>
          <a:p>
            <a:pPr marL="0" indent="0">
              <a:buNone/>
            </a:pPr>
            <a:r>
              <a:rPr lang="en-US" sz="2400" dirty="0">
                <a:solidFill>
                  <a:srgbClr val="CBE7F2"/>
                </a:solidFill>
                <a:latin typeface="Calibri" pitchFamily="34" charset="0"/>
                <a:ea typeface="Calibri" pitchFamily="34" charset="-122"/>
                <a:cs typeface="Calibri" pitchFamily="34" charset="-120"/>
              </a:rPr>
              <a:t>An Autonomous Tier-1 SOC Alert-Triage Agent</a:t>
            </a:r>
            <a:endParaRPr lang="en-US" sz="2400" dirty="0"/>
          </a:p>
        </p:txBody>
      </p:sp>
      <p:sp>
        <p:nvSpPr>
          <p:cNvPr id="8" name="Text 5"/>
          <p:cNvSpPr/>
          <p:nvPr/>
        </p:nvSpPr>
        <p:spPr>
          <a:xfrm>
            <a:off x="566928" y="3611880"/>
            <a:ext cx="10515600" cy="365760"/>
          </a:xfrm>
          <a:prstGeom prst="rect">
            <a:avLst/>
          </a:prstGeom>
          <a:noFill/>
          <a:ln/>
        </p:spPr>
        <p:txBody>
          <a:bodyPr wrap="square" rtlCol="0" anchor="ctr"/>
          <a:lstStyle/>
          <a:p>
            <a:pPr marL="0" indent="0">
              <a:buNone/>
            </a:pPr>
            <a:r>
              <a:rPr lang="en-US" sz="1400" dirty="0">
                <a:solidFill>
                  <a:srgbClr val="E2E8F0"/>
                </a:solidFill>
                <a:latin typeface="Calibri" pitchFamily="34" charset="0"/>
                <a:ea typeface="Calibri" pitchFamily="34" charset="-122"/>
                <a:cs typeface="Calibri" pitchFamily="34" charset="-120"/>
              </a:rPr>
              <a:t>LLM + MITRE-grounded tools  ·  MLflow tracing  ·  multi-method evaluation</a:t>
            </a:r>
            <a:endParaRPr lang="en-US" sz="1400" dirty="0"/>
          </a:p>
        </p:txBody>
      </p:sp>
      <p:sp>
        <p:nvSpPr>
          <p:cNvPr id="9" name="Text 6"/>
          <p:cNvSpPr/>
          <p:nvPr/>
        </p:nvSpPr>
        <p:spPr>
          <a:xfrm>
            <a:off x="566928" y="5029200"/>
            <a:ext cx="10515600" cy="365760"/>
          </a:xfrm>
          <a:prstGeom prst="rect">
            <a:avLst/>
          </a:prstGeom>
          <a:noFill/>
          <a:ln/>
        </p:spPr>
        <p:txBody>
          <a:bodyPr wrap="square" rtlCol="0" anchor="ctr"/>
          <a:lstStyle/>
          <a:p>
            <a:pPr marL="0" indent="0">
              <a:buNone/>
            </a:pPr>
            <a:r>
              <a:rPr lang="en-US" sz="1400" b="1" dirty="0">
                <a:solidFill>
                  <a:srgbClr val="06B6D4"/>
                </a:solidFill>
                <a:latin typeface="Calibri" pitchFamily="34" charset="0"/>
                <a:ea typeface="Calibri" pitchFamily="34" charset="-122"/>
                <a:cs typeface="Calibri" pitchFamily="34" charset="-120"/>
              </a:rPr>
              <a:t>Team roles:  </a:t>
            </a:r>
            <a:r>
              <a:rPr lang="en-US" sz="1400" dirty="0">
                <a:solidFill>
                  <a:srgbClr val="E2E8F0"/>
                </a:solidFill>
                <a:latin typeface="Calibri" pitchFamily="34" charset="0"/>
                <a:ea typeface="Calibri" pitchFamily="34" charset="-122"/>
                <a:cs typeface="Calibri" pitchFamily="34" charset="-120"/>
              </a:rPr>
              <a:t>Product Manager  ·  Data Engineer  ·  AI Engineer</a:t>
            </a:r>
            <a:endParaRPr lang="en-US" sz="1400" dirty="0"/>
          </a:p>
        </p:txBody>
      </p:sp>
      <p:sp>
        <p:nvSpPr>
          <p:cNvPr id="10" name="Text 7"/>
          <p:cNvSpPr/>
          <p:nvPr/>
        </p:nvSpPr>
        <p:spPr>
          <a:xfrm>
            <a:off x="566928" y="5394960"/>
            <a:ext cx="10515600" cy="274320"/>
          </a:xfrm>
          <a:prstGeom prst="rect">
            <a:avLst/>
          </a:prstGeom>
          <a:noFill/>
          <a:ln/>
        </p:spPr>
        <p:txBody>
          <a:bodyPr wrap="square"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Pawan Bishwokarma</a:t>
            </a:r>
            <a:endParaRPr lang="en-US" sz="1200" dirty="0"/>
          </a:p>
        </p:txBody>
      </p:sp>
      <p:sp>
        <p:nvSpPr>
          <p:cNvPr id="11" name="Text 8"/>
          <p:cNvSpPr/>
          <p:nvPr/>
        </p:nvSpPr>
        <p:spPr>
          <a:xfrm>
            <a:off x="11365992" y="6400800"/>
            <a:ext cx="457200" cy="274320"/>
          </a:xfrm>
          <a:prstGeom prst="rect">
            <a:avLst/>
          </a:prstGeom>
          <a:noFill/>
          <a:ln/>
        </p:spPr>
        <p:txBody>
          <a:bodyPr wrap="square"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1</a:t>
            </a:r>
            <a:endParaRPr lang="en-US" sz="1000" dirty="0"/>
          </a:p>
        </p:txBody>
      </p:sp>
      <p:sp>
        <p:nvSpPr>
          <p:cNvPr id="12" name="Text 9"/>
          <p:cNvSpPr/>
          <p:nvPr/>
        </p:nvSpPr>
        <p:spPr>
          <a:xfrm>
            <a:off x="566928" y="6400800"/>
            <a:ext cx="3657600" cy="274320"/>
          </a:xfrm>
          <a:prstGeom prst="rect">
            <a:avLst/>
          </a:prstGeom>
          <a:noFill/>
          <a:ln/>
        </p:spPr>
        <p:txBody>
          <a:bodyPr wrap="square" rtlCol="0" anchor="ctr"/>
          <a:lstStyle/>
          <a:p>
            <a:pPr marL="0" indent="0" algn="l">
              <a:buNone/>
            </a:pPr>
            <a:r>
              <a:rPr lang="en-US" sz="1000" dirty="0">
                <a:solidFill>
                  <a:srgbClr val="64748B"/>
                </a:solidFill>
                <a:latin typeface="Calibri" pitchFamily="34" charset="0"/>
                <a:ea typeface="Calibri" pitchFamily="34" charset="-122"/>
                <a:cs typeface="Calibri" pitchFamily="34" charset="-120"/>
              </a:rPr>
              <a:t>SentinelMesh</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57200"/>
            <a:ext cx="566928" cy="566928"/>
          </a:xfrm>
          <a:prstGeom prst="ellipse">
            <a:avLst/>
          </a:prstGeom>
          <a:solidFill>
            <a:srgbClr val="0E1726"/>
          </a:solidFill>
          <a:ln/>
        </p:spPr>
      </p:sp>
      <p:pic>
        <p:nvPicPr>
          <p:cNvPr id="3" name="Image 0" descr="preencoded.png"/>
          <p:cNvPicPr>
            <a:picLocks noChangeAspect="1"/>
          </p:cNvPicPr>
          <p:nvPr/>
        </p:nvPicPr>
        <p:blipFill>
          <a:blip r:embed="rId3"/>
          <a:stretch>
            <a:fillRect/>
          </a:stretch>
        </p:blipFill>
        <p:spPr>
          <a:xfrm>
            <a:off x="704088" y="594360"/>
            <a:ext cx="292608" cy="292608"/>
          </a:xfrm>
          <a:prstGeom prst="rect">
            <a:avLst/>
          </a:prstGeom>
        </p:spPr>
      </p:pic>
      <p:sp>
        <p:nvSpPr>
          <p:cNvPr id="4" name="Text 1"/>
          <p:cNvSpPr/>
          <p:nvPr/>
        </p:nvSpPr>
        <p:spPr>
          <a:xfrm>
            <a:off x="1298448" y="457200"/>
            <a:ext cx="9144000" cy="274320"/>
          </a:xfrm>
          <a:prstGeom prst="rect">
            <a:avLst/>
          </a:prstGeom>
          <a:noFill/>
          <a:ln/>
        </p:spPr>
        <p:txBody>
          <a:bodyPr wrap="square" rtlCol="0" anchor="ctr"/>
          <a:lstStyle/>
          <a:p>
            <a:pPr marL="0" indent="0">
              <a:buNone/>
            </a:pPr>
            <a:r>
              <a:rPr lang="en-US" sz="1200" b="1" kern="0" spc="300" dirty="0">
                <a:solidFill>
                  <a:srgbClr val="0E7490"/>
                </a:solidFill>
                <a:latin typeface="Calibri" pitchFamily="34" charset="0"/>
                <a:ea typeface="Calibri" pitchFamily="34" charset="-122"/>
                <a:cs typeface="Calibri" pitchFamily="34" charset="-120"/>
              </a:rPr>
              <a:t>THE PROBLEM</a:t>
            </a:r>
            <a:endParaRPr lang="en-US" sz="1200" dirty="0"/>
          </a:p>
        </p:txBody>
      </p:sp>
      <p:sp>
        <p:nvSpPr>
          <p:cNvPr id="5" name="Text 2"/>
          <p:cNvSpPr/>
          <p:nvPr/>
        </p:nvSpPr>
        <p:spPr>
          <a:xfrm>
            <a:off x="1298448" y="694944"/>
            <a:ext cx="10341864" cy="502920"/>
          </a:xfrm>
          <a:prstGeom prst="rect">
            <a:avLst/>
          </a:prstGeom>
          <a:noFill/>
          <a:ln/>
        </p:spPr>
        <p:txBody>
          <a:bodyPr wrap="square" rtlCol="0" anchor="ctr"/>
          <a:lstStyle/>
          <a:p>
            <a:pPr marL="0" indent="0">
              <a:buNone/>
            </a:pPr>
            <a:r>
              <a:rPr lang="en-US" sz="2800" b="1" dirty="0">
                <a:solidFill>
                  <a:srgbClr val="1E293B"/>
                </a:solidFill>
                <a:latin typeface="Cambria" pitchFamily="34" charset="0"/>
                <a:ea typeface="Cambria" pitchFamily="34" charset="-122"/>
                <a:cs typeface="Cambria" pitchFamily="34" charset="-120"/>
              </a:rPr>
              <a:t>SOC analysts are drowning in alerts</a:t>
            </a:r>
            <a:endParaRPr lang="en-US" sz="2800" dirty="0"/>
          </a:p>
        </p:txBody>
      </p:sp>
      <p:sp>
        <p:nvSpPr>
          <p:cNvPr id="6" name="Text 3"/>
          <p:cNvSpPr/>
          <p:nvPr/>
        </p:nvSpPr>
        <p:spPr>
          <a:xfrm>
            <a:off x="566928" y="1554480"/>
            <a:ext cx="5669280" cy="3200400"/>
          </a:xfrm>
          <a:prstGeom prst="rect">
            <a:avLst/>
          </a:prstGeom>
          <a:noFill/>
          <a:ln/>
        </p:spPr>
        <p:txBody>
          <a:bodyPr wrap="square" rtlCol="0" anchor="t"/>
          <a:lstStyle/>
          <a:p>
            <a:pPr marL="0" indent="0">
              <a:lnSpc>
                <a:spcPct val="115000"/>
              </a:lnSpc>
              <a:buNone/>
            </a:pPr>
            <a:r>
              <a:rPr lang="en-US" sz="1600" b="1" dirty="0">
                <a:solidFill>
                  <a:srgbClr val="1E293B"/>
                </a:solidFill>
                <a:latin typeface="Calibri" pitchFamily="34" charset="0"/>
                <a:ea typeface="Calibri" pitchFamily="34" charset="-122"/>
                <a:cs typeface="Calibri" pitchFamily="34" charset="-120"/>
              </a:rPr>
              <a:t>Security Operations Centers receive thousands of network alerts per day.</a:t>
            </a:r>
            <a:endParaRPr lang="en-US" sz="1600" dirty="0"/>
          </a:p>
          <a:p>
            <a:pPr marL="0" indent="0">
              <a:lnSpc>
                <a:spcPct val="115000"/>
              </a:lnSpc>
              <a:buNone/>
            </a:pPr>
            <a:endParaRPr lang="en-US" sz="1600" dirty="0"/>
          </a:p>
          <a:p>
            <a:pPr marL="0" indent="0">
              <a:lnSpc>
                <a:spcPct val="115000"/>
              </a:lnSpc>
              <a:buNone/>
            </a:pPr>
            <a:r>
              <a:rPr lang="en-US" sz="1600" dirty="0">
                <a:solidFill>
                  <a:srgbClr val="1E293B"/>
                </a:solidFill>
                <a:latin typeface="Calibri" pitchFamily="34" charset="0"/>
                <a:ea typeface="Calibri" pitchFamily="34" charset="-122"/>
                <a:cs typeface="Calibri" pitchFamily="34" charset="-120"/>
              </a:rPr>
              <a:t>Tier-1 analysts must read each one, guess the likely attack, judge severity, and decide what to do — fast.</a:t>
            </a:r>
            <a:endParaRPr lang="en-US" sz="1600" dirty="0"/>
          </a:p>
          <a:p>
            <a:pPr marL="0" indent="0">
              <a:lnSpc>
                <a:spcPct val="115000"/>
              </a:lnSpc>
              <a:buNone/>
            </a:pPr>
            <a:endParaRPr lang="en-US" sz="1600" dirty="0"/>
          </a:p>
          <a:p>
            <a:pPr marL="0" indent="0">
              <a:lnSpc>
                <a:spcPct val="115000"/>
              </a:lnSpc>
              <a:buNone/>
            </a:pPr>
            <a:r>
              <a:rPr lang="en-US" sz="1600" dirty="0">
                <a:solidFill>
                  <a:srgbClr val="1E293B"/>
                </a:solidFill>
                <a:latin typeface="Calibri" pitchFamily="34" charset="0"/>
                <a:ea typeface="Calibri" pitchFamily="34" charset="-122"/>
                <a:cs typeface="Calibri" pitchFamily="34" charset="-120"/>
              </a:rPr>
              <a:t>The result is alert fatigue: real threats get missed, response is slow, and skilled analysts burn out on repetitive triage.</a:t>
            </a:r>
            <a:endParaRPr lang="en-US" sz="1600" dirty="0"/>
          </a:p>
        </p:txBody>
      </p:sp>
      <p:sp>
        <p:nvSpPr>
          <p:cNvPr id="7" name="Shape 4"/>
          <p:cNvSpPr/>
          <p:nvPr/>
        </p:nvSpPr>
        <p:spPr>
          <a:xfrm>
            <a:off x="6537960" y="1554480"/>
            <a:ext cx="5074920" cy="1024128"/>
          </a:xfrm>
          <a:prstGeom prst="roundRect">
            <a:avLst>
              <a:gd name="adj" fmla="val 7143"/>
            </a:avLst>
          </a:prstGeom>
          <a:solidFill>
            <a:srgbClr val="F4F7FB"/>
          </a:solidFill>
          <a:ln w="12700">
            <a:solidFill>
              <a:srgbClr val="E2E8F0"/>
            </a:solidFill>
            <a:prstDash val="solid"/>
          </a:ln>
          <a:effectLst>
            <a:outerShdw blurRad="88900" dist="38100" dir="5400000" algn="bl" rotWithShape="0">
              <a:srgbClr val="000000">
                <a:alpha val="14000"/>
              </a:srgbClr>
            </a:outerShdw>
          </a:effectLst>
        </p:spPr>
      </p:sp>
      <p:sp>
        <p:nvSpPr>
          <p:cNvPr id="8" name="Shape 5"/>
          <p:cNvSpPr/>
          <p:nvPr/>
        </p:nvSpPr>
        <p:spPr>
          <a:xfrm>
            <a:off x="6720840" y="1801368"/>
            <a:ext cx="530352" cy="530352"/>
          </a:xfrm>
          <a:prstGeom prst="ellipse">
            <a:avLst/>
          </a:prstGeom>
          <a:solidFill>
            <a:srgbClr val="0E1726"/>
          </a:solidFill>
          <a:ln/>
        </p:spPr>
      </p:sp>
      <p:pic>
        <p:nvPicPr>
          <p:cNvPr id="9" name="Image 1" descr="preencoded.png"/>
          <p:cNvPicPr>
            <a:picLocks noChangeAspect="1"/>
          </p:cNvPicPr>
          <p:nvPr/>
        </p:nvPicPr>
        <p:blipFill>
          <a:blip r:embed="rId3"/>
          <a:stretch>
            <a:fillRect/>
          </a:stretch>
        </p:blipFill>
        <p:spPr>
          <a:xfrm>
            <a:off x="6848856" y="1929384"/>
            <a:ext cx="274320" cy="274320"/>
          </a:xfrm>
          <a:prstGeom prst="rect">
            <a:avLst/>
          </a:prstGeom>
        </p:spPr>
      </p:pic>
      <p:sp>
        <p:nvSpPr>
          <p:cNvPr id="10" name="Text 6"/>
          <p:cNvSpPr/>
          <p:nvPr/>
        </p:nvSpPr>
        <p:spPr>
          <a:xfrm>
            <a:off x="7406640" y="1700784"/>
            <a:ext cx="1737360" cy="502920"/>
          </a:xfrm>
          <a:prstGeom prst="rect">
            <a:avLst/>
          </a:prstGeom>
          <a:noFill/>
          <a:ln/>
        </p:spPr>
        <p:txBody>
          <a:bodyPr wrap="square" rtlCol="0" anchor="ctr"/>
          <a:lstStyle/>
          <a:p>
            <a:pPr marL="0" indent="0">
              <a:buNone/>
            </a:pPr>
            <a:r>
              <a:rPr lang="en-US" sz="2600" b="1" dirty="0">
                <a:solidFill>
                  <a:srgbClr val="0E7490"/>
                </a:solidFill>
                <a:latin typeface="Cambria" pitchFamily="34" charset="0"/>
                <a:ea typeface="Cambria" pitchFamily="34" charset="-122"/>
                <a:cs typeface="Cambria" pitchFamily="34" charset="-120"/>
              </a:rPr>
              <a:t>1000s</a:t>
            </a:r>
            <a:endParaRPr lang="en-US" sz="2600" dirty="0"/>
          </a:p>
        </p:txBody>
      </p:sp>
      <p:sp>
        <p:nvSpPr>
          <p:cNvPr id="11" name="Text 7"/>
          <p:cNvSpPr/>
          <p:nvPr/>
        </p:nvSpPr>
        <p:spPr>
          <a:xfrm>
            <a:off x="9144000" y="1737360"/>
            <a:ext cx="2377440" cy="685800"/>
          </a:xfrm>
          <a:prstGeom prst="rect">
            <a:avLst/>
          </a:prstGeom>
          <a:noFill/>
          <a:ln/>
        </p:spPr>
        <p:txBody>
          <a:bodyPr wrap="square" rtlCol="0" anchor="ctr"/>
          <a:lstStyle/>
          <a:p>
            <a:pPr marL="0" indent="0">
              <a:buNone/>
            </a:pPr>
            <a:r>
              <a:rPr lang="en-US" sz="1250" dirty="0">
                <a:solidFill>
                  <a:srgbClr val="1E293B"/>
                </a:solidFill>
                <a:latin typeface="Calibri" pitchFamily="34" charset="0"/>
                <a:ea typeface="Calibri" pitchFamily="34" charset="-122"/>
                <a:cs typeface="Calibri" pitchFamily="34" charset="-120"/>
              </a:rPr>
              <a:t>alerts per analyst, per day</a:t>
            </a:r>
            <a:endParaRPr lang="en-US" sz="1250" dirty="0"/>
          </a:p>
        </p:txBody>
      </p:sp>
      <p:sp>
        <p:nvSpPr>
          <p:cNvPr id="12" name="Shape 8"/>
          <p:cNvSpPr/>
          <p:nvPr/>
        </p:nvSpPr>
        <p:spPr>
          <a:xfrm>
            <a:off x="6537960" y="2724912"/>
            <a:ext cx="5074920" cy="1024128"/>
          </a:xfrm>
          <a:prstGeom prst="roundRect">
            <a:avLst>
              <a:gd name="adj" fmla="val 7143"/>
            </a:avLst>
          </a:prstGeom>
          <a:solidFill>
            <a:srgbClr val="F4F7FB"/>
          </a:solidFill>
          <a:ln w="12700">
            <a:solidFill>
              <a:srgbClr val="E2E8F0"/>
            </a:solidFill>
            <a:prstDash val="solid"/>
          </a:ln>
          <a:effectLst>
            <a:outerShdw blurRad="88900" dist="38100" dir="5400000" algn="bl" rotWithShape="0">
              <a:srgbClr val="000000">
                <a:alpha val="14000"/>
              </a:srgbClr>
            </a:outerShdw>
          </a:effectLst>
        </p:spPr>
      </p:sp>
      <p:sp>
        <p:nvSpPr>
          <p:cNvPr id="13" name="Shape 9"/>
          <p:cNvSpPr/>
          <p:nvPr/>
        </p:nvSpPr>
        <p:spPr>
          <a:xfrm>
            <a:off x="6720840" y="2971800"/>
            <a:ext cx="530352" cy="530352"/>
          </a:xfrm>
          <a:prstGeom prst="ellipse">
            <a:avLst/>
          </a:prstGeom>
          <a:solidFill>
            <a:srgbClr val="0E1726"/>
          </a:solidFill>
          <a:ln/>
        </p:spPr>
      </p:sp>
      <p:pic>
        <p:nvPicPr>
          <p:cNvPr id="14" name="Image 2" descr="preencoded.png"/>
          <p:cNvPicPr>
            <a:picLocks noChangeAspect="1"/>
          </p:cNvPicPr>
          <p:nvPr/>
        </p:nvPicPr>
        <p:blipFill>
          <a:blip r:embed="rId4"/>
          <a:stretch>
            <a:fillRect/>
          </a:stretch>
        </p:blipFill>
        <p:spPr>
          <a:xfrm>
            <a:off x="6848856" y="3099816"/>
            <a:ext cx="274320" cy="274320"/>
          </a:xfrm>
          <a:prstGeom prst="rect">
            <a:avLst/>
          </a:prstGeom>
        </p:spPr>
      </p:pic>
      <p:sp>
        <p:nvSpPr>
          <p:cNvPr id="15" name="Text 10"/>
          <p:cNvSpPr/>
          <p:nvPr/>
        </p:nvSpPr>
        <p:spPr>
          <a:xfrm>
            <a:off x="7406640" y="2871216"/>
            <a:ext cx="1737360" cy="502920"/>
          </a:xfrm>
          <a:prstGeom prst="rect">
            <a:avLst/>
          </a:prstGeom>
          <a:noFill/>
          <a:ln/>
        </p:spPr>
        <p:txBody>
          <a:bodyPr wrap="square" rtlCol="0" anchor="ctr"/>
          <a:lstStyle/>
          <a:p>
            <a:pPr marL="0" indent="0">
              <a:buNone/>
            </a:pPr>
            <a:r>
              <a:rPr lang="en-US" sz="2600" b="1" dirty="0">
                <a:solidFill>
                  <a:srgbClr val="0E7490"/>
                </a:solidFill>
                <a:latin typeface="Cambria" pitchFamily="34" charset="0"/>
                <a:ea typeface="Cambria" pitchFamily="34" charset="-122"/>
                <a:cs typeface="Cambria" pitchFamily="34" charset="-120"/>
              </a:rPr>
              <a:t>~30%</a:t>
            </a:r>
            <a:endParaRPr lang="en-US" sz="2600" dirty="0"/>
          </a:p>
        </p:txBody>
      </p:sp>
      <p:sp>
        <p:nvSpPr>
          <p:cNvPr id="16" name="Text 11"/>
          <p:cNvSpPr/>
          <p:nvPr/>
        </p:nvSpPr>
        <p:spPr>
          <a:xfrm>
            <a:off x="9144000" y="2907792"/>
            <a:ext cx="2377440" cy="685800"/>
          </a:xfrm>
          <a:prstGeom prst="rect">
            <a:avLst/>
          </a:prstGeom>
          <a:noFill/>
          <a:ln/>
        </p:spPr>
        <p:txBody>
          <a:bodyPr wrap="square" rtlCol="0" anchor="ctr"/>
          <a:lstStyle/>
          <a:p>
            <a:pPr marL="0" indent="0">
              <a:buNone/>
            </a:pPr>
            <a:r>
              <a:rPr lang="en-US" sz="1250" dirty="0">
                <a:solidFill>
                  <a:srgbClr val="1E293B"/>
                </a:solidFill>
                <a:latin typeface="Calibri" pitchFamily="34" charset="0"/>
                <a:ea typeface="Calibri" pitchFamily="34" charset="-122"/>
                <a:cs typeface="Calibri" pitchFamily="34" charset="-120"/>
              </a:rPr>
              <a:t>of alerts go uninvestigated in many SOCs</a:t>
            </a:r>
            <a:endParaRPr lang="en-US" sz="1250" dirty="0"/>
          </a:p>
        </p:txBody>
      </p:sp>
      <p:sp>
        <p:nvSpPr>
          <p:cNvPr id="17" name="Shape 12"/>
          <p:cNvSpPr/>
          <p:nvPr/>
        </p:nvSpPr>
        <p:spPr>
          <a:xfrm>
            <a:off x="6537960" y="3895344"/>
            <a:ext cx="5074920" cy="1024128"/>
          </a:xfrm>
          <a:prstGeom prst="roundRect">
            <a:avLst>
              <a:gd name="adj" fmla="val 7143"/>
            </a:avLst>
          </a:prstGeom>
          <a:solidFill>
            <a:srgbClr val="F4F7FB"/>
          </a:solidFill>
          <a:ln w="12700">
            <a:solidFill>
              <a:srgbClr val="E2E8F0"/>
            </a:solidFill>
            <a:prstDash val="solid"/>
          </a:ln>
          <a:effectLst>
            <a:outerShdw blurRad="88900" dist="38100" dir="5400000" algn="bl" rotWithShape="0">
              <a:srgbClr val="000000">
                <a:alpha val="14000"/>
              </a:srgbClr>
            </a:outerShdw>
          </a:effectLst>
        </p:spPr>
      </p:sp>
      <p:sp>
        <p:nvSpPr>
          <p:cNvPr id="18" name="Shape 13"/>
          <p:cNvSpPr/>
          <p:nvPr/>
        </p:nvSpPr>
        <p:spPr>
          <a:xfrm>
            <a:off x="6720840" y="4142232"/>
            <a:ext cx="530352" cy="530352"/>
          </a:xfrm>
          <a:prstGeom prst="ellipse">
            <a:avLst/>
          </a:prstGeom>
          <a:solidFill>
            <a:srgbClr val="0E1726"/>
          </a:solidFill>
          <a:ln/>
        </p:spPr>
      </p:sp>
      <p:pic>
        <p:nvPicPr>
          <p:cNvPr id="19" name="Image 3" descr="preencoded.png"/>
          <p:cNvPicPr>
            <a:picLocks noChangeAspect="1"/>
          </p:cNvPicPr>
          <p:nvPr/>
        </p:nvPicPr>
        <p:blipFill>
          <a:blip r:embed="rId5"/>
          <a:stretch>
            <a:fillRect/>
          </a:stretch>
        </p:blipFill>
        <p:spPr>
          <a:xfrm>
            <a:off x="6848856" y="4270248"/>
            <a:ext cx="274320" cy="274320"/>
          </a:xfrm>
          <a:prstGeom prst="rect">
            <a:avLst/>
          </a:prstGeom>
        </p:spPr>
      </p:pic>
      <p:sp>
        <p:nvSpPr>
          <p:cNvPr id="20" name="Text 14"/>
          <p:cNvSpPr/>
          <p:nvPr/>
        </p:nvSpPr>
        <p:spPr>
          <a:xfrm>
            <a:off x="7406640" y="4041648"/>
            <a:ext cx="1737360" cy="502920"/>
          </a:xfrm>
          <a:prstGeom prst="rect">
            <a:avLst/>
          </a:prstGeom>
          <a:noFill/>
          <a:ln/>
        </p:spPr>
        <p:txBody>
          <a:bodyPr wrap="square" rtlCol="0" anchor="ctr"/>
          <a:lstStyle/>
          <a:p>
            <a:pPr marL="0" indent="0">
              <a:buNone/>
            </a:pPr>
            <a:r>
              <a:rPr lang="en-US" sz="2600" b="1" dirty="0">
                <a:solidFill>
                  <a:srgbClr val="0E7490"/>
                </a:solidFill>
                <a:latin typeface="Cambria" pitchFamily="34" charset="0"/>
                <a:ea typeface="Cambria" pitchFamily="34" charset="-122"/>
                <a:cs typeface="Cambria" pitchFamily="34" charset="-120"/>
              </a:rPr>
              <a:t>Minutes</a:t>
            </a:r>
            <a:endParaRPr lang="en-US" sz="2600" dirty="0"/>
          </a:p>
        </p:txBody>
      </p:sp>
      <p:sp>
        <p:nvSpPr>
          <p:cNvPr id="21" name="Text 15"/>
          <p:cNvSpPr/>
          <p:nvPr/>
        </p:nvSpPr>
        <p:spPr>
          <a:xfrm>
            <a:off x="9144000" y="4078224"/>
            <a:ext cx="2377440" cy="685800"/>
          </a:xfrm>
          <a:prstGeom prst="rect">
            <a:avLst/>
          </a:prstGeom>
          <a:noFill/>
          <a:ln/>
        </p:spPr>
        <p:txBody>
          <a:bodyPr wrap="square" rtlCol="0" anchor="ctr"/>
          <a:lstStyle/>
          <a:p>
            <a:pPr marL="0" indent="0">
              <a:buNone/>
            </a:pPr>
            <a:r>
              <a:rPr lang="en-US" sz="1250" dirty="0">
                <a:solidFill>
                  <a:srgbClr val="1E293B"/>
                </a:solidFill>
                <a:latin typeface="Calibri" pitchFamily="34" charset="0"/>
                <a:ea typeface="Calibri" pitchFamily="34" charset="-122"/>
                <a:cs typeface="Calibri" pitchFamily="34" charset="-120"/>
              </a:rPr>
              <a:t>matter — slow triage = wider breach</a:t>
            </a:r>
            <a:endParaRPr lang="en-US" sz="1250" dirty="0"/>
          </a:p>
        </p:txBody>
      </p:sp>
      <p:sp>
        <p:nvSpPr>
          <p:cNvPr id="22" name="Text 16"/>
          <p:cNvSpPr/>
          <p:nvPr/>
        </p:nvSpPr>
        <p:spPr>
          <a:xfrm>
            <a:off x="11365992" y="6400800"/>
            <a:ext cx="457200" cy="274320"/>
          </a:xfrm>
          <a:prstGeom prst="rect">
            <a:avLst/>
          </a:prstGeom>
          <a:noFill/>
          <a:ln/>
        </p:spPr>
        <p:txBody>
          <a:bodyPr wrap="square"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2</a:t>
            </a:r>
            <a:endParaRPr lang="en-US" sz="1000" dirty="0"/>
          </a:p>
        </p:txBody>
      </p:sp>
      <p:sp>
        <p:nvSpPr>
          <p:cNvPr id="23" name="Text 17"/>
          <p:cNvSpPr/>
          <p:nvPr/>
        </p:nvSpPr>
        <p:spPr>
          <a:xfrm>
            <a:off x="566928" y="6400800"/>
            <a:ext cx="3657600" cy="274320"/>
          </a:xfrm>
          <a:prstGeom prst="rect">
            <a:avLst/>
          </a:prstGeom>
          <a:noFill/>
          <a:ln/>
        </p:spPr>
        <p:txBody>
          <a:bodyPr wrap="square" rtlCol="0" anchor="ctr"/>
          <a:lstStyle/>
          <a:p>
            <a:pPr marL="0" indent="0" algn="l">
              <a:buNone/>
            </a:pPr>
            <a:r>
              <a:rPr lang="en-US" sz="1000" dirty="0">
                <a:solidFill>
                  <a:srgbClr val="64748B"/>
                </a:solidFill>
                <a:latin typeface="Calibri" pitchFamily="34" charset="0"/>
                <a:ea typeface="Calibri" pitchFamily="34" charset="-122"/>
                <a:cs typeface="Calibri" pitchFamily="34" charset="-120"/>
              </a:rPr>
              <a:t>SentinelMesh</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57200"/>
            <a:ext cx="566928" cy="566928"/>
          </a:xfrm>
          <a:prstGeom prst="ellipse">
            <a:avLst/>
          </a:prstGeom>
          <a:solidFill>
            <a:srgbClr val="0E1726"/>
          </a:solidFill>
          <a:ln/>
        </p:spPr>
      </p:sp>
      <p:pic>
        <p:nvPicPr>
          <p:cNvPr id="3" name="Image 0" descr="preencoded.png"/>
          <p:cNvPicPr>
            <a:picLocks noChangeAspect="1"/>
          </p:cNvPicPr>
          <p:nvPr/>
        </p:nvPicPr>
        <p:blipFill>
          <a:blip r:embed="rId3"/>
          <a:stretch>
            <a:fillRect/>
          </a:stretch>
        </p:blipFill>
        <p:spPr>
          <a:xfrm>
            <a:off x="704088" y="594360"/>
            <a:ext cx="292608" cy="292608"/>
          </a:xfrm>
          <a:prstGeom prst="rect">
            <a:avLst/>
          </a:prstGeom>
        </p:spPr>
      </p:pic>
      <p:sp>
        <p:nvSpPr>
          <p:cNvPr id="4" name="Text 1"/>
          <p:cNvSpPr/>
          <p:nvPr/>
        </p:nvSpPr>
        <p:spPr>
          <a:xfrm>
            <a:off x="1298448" y="457200"/>
            <a:ext cx="9144000" cy="274320"/>
          </a:xfrm>
          <a:prstGeom prst="rect">
            <a:avLst/>
          </a:prstGeom>
          <a:noFill/>
          <a:ln/>
        </p:spPr>
        <p:txBody>
          <a:bodyPr wrap="square" rtlCol="0" anchor="ctr"/>
          <a:lstStyle/>
          <a:p>
            <a:pPr marL="0" indent="0">
              <a:buNone/>
            </a:pPr>
            <a:r>
              <a:rPr lang="en-US" sz="1200" b="1" kern="0" spc="300" dirty="0">
                <a:solidFill>
                  <a:srgbClr val="0E7490"/>
                </a:solidFill>
                <a:latin typeface="Calibri" pitchFamily="34" charset="0"/>
                <a:ea typeface="Calibri" pitchFamily="34" charset="-122"/>
                <a:cs typeface="Calibri" pitchFamily="34" charset="-120"/>
              </a:rPr>
              <a:t>THE SOLUTION</a:t>
            </a:r>
            <a:endParaRPr lang="en-US" sz="1200" dirty="0"/>
          </a:p>
        </p:txBody>
      </p:sp>
      <p:sp>
        <p:nvSpPr>
          <p:cNvPr id="5" name="Text 2"/>
          <p:cNvSpPr/>
          <p:nvPr/>
        </p:nvSpPr>
        <p:spPr>
          <a:xfrm>
            <a:off x="1298448" y="694944"/>
            <a:ext cx="10341864" cy="502920"/>
          </a:xfrm>
          <a:prstGeom prst="rect">
            <a:avLst/>
          </a:prstGeom>
          <a:noFill/>
          <a:ln/>
        </p:spPr>
        <p:txBody>
          <a:bodyPr wrap="square" rtlCol="0" anchor="ctr"/>
          <a:lstStyle/>
          <a:p>
            <a:pPr marL="0" indent="0">
              <a:buNone/>
            </a:pPr>
            <a:r>
              <a:rPr lang="en-US" sz="2800" b="1" dirty="0">
                <a:solidFill>
                  <a:srgbClr val="1E293B"/>
                </a:solidFill>
                <a:latin typeface="Cambria" pitchFamily="34" charset="0"/>
                <a:ea typeface="Cambria" pitchFamily="34" charset="-122"/>
                <a:cs typeface="Cambria" pitchFamily="34" charset="-120"/>
              </a:rPr>
              <a:t>SentinelMesh: an AI triage co-pilot</a:t>
            </a:r>
            <a:endParaRPr lang="en-US" sz="2800" dirty="0"/>
          </a:p>
        </p:txBody>
      </p:sp>
      <p:sp>
        <p:nvSpPr>
          <p:cNvPr id="6" name="Text 3"/>
          <p:cNvSpPr/>
          <p:nvPr/>
        </p:nvSpPr>
        <p:spPr>
          <a:xfrm>
            <a:off x="566928" y="1508760"/>
            <a:ext cx="11055096" cy="731520"/>
          </a:xfrm>
          <a:prstGeom prst="rect">
            <a:avLst/>
          </a:prstGeom>
          <a:noFill/>
          <a:ln/>
        </p:spPr>
        <p:txBody>
          <a:bodyPr wrap="square" rtlCol="0" anchor="ctr"/>
          <a:lstStyle/>
          <a:p>
            <a:pPr marL="0" indent="0">
              <a:lnSpc>
                <a:spcPct val="110000"/>
              </a:lnSpc>
              <a:buNone/>
            </a:pPr>
            <a:r>
              <a:rPr lang="en-US" sz="1600" dirty="0">
                <a:solidFill>
                  <a:srgbClr val="1E293B"/>
                </a:solidFill>
                <a:latin typeface="Calibri" pitchFamily="34" charset="0"/>
                <a:ea typeface="Calibri" pitchFamily="34" charset="-122"/>
                <a:cs typeface="Calibri" pitchFamily="34" charset="-120"/>
              </a:rPr>
              <a:t>Give the agent a plain-English network-flow alert. It reasons over the evidence, calls grounded tools, and returns a structured triage decision for a human to approve.</a:t>
            </a:r>
            <a:endParaRPr lang="en-US" sz="1600" dirty="0"/>
          </a:p>
        </p:txBody>
      </p:sp>
      <p:sp>
        <p:nvSpPr>
          <p:cNvPr id="7" name="Shape 4"/>
          <p:cNvSpPr/>
          <p:nvPr/>
        </p:nvSpPr>
        <p:spPr>
          <a:xfrm>
            <a:off x="566928" y="2468880"/>
            <a:ext cx="2558034" cy="2468880"/>
          </a:xfrm>
          <a:prstGeom prst="roundRect">
            <a:avLst>
              <a:gd name="adj" fmla="val 2963"/>
            </a:avLst>
          </a:prstGeom>
          <a:solidFill>
            <a:srgbClr val="FFFFFF"/>
          </a:solidFill>
          <a:ln w="12700">
            <a:solidFill>
              <a:srgbClr val="E2E8F0"/>
            </a:solidFill>
            <a:prstDash val="solid"/>
          </a:ln>
          <a:effectLst>
            <a:outerShdw blurRad="88900" dist="38100" dir="5400000" algn="bl" rotWithShape="0">
              <a:srgbClr val="000000">
                <a:alpha val="14000"/>
              </a:srgbClr>
            </a:outerShdw>
          </a:effectLst>
        </p:spPr>
      </p:sp>
      <p:sp>
        <p:nvSpPr>
          <p:cNvPr id="8" name="Shape 5"/>
          <p:cNvSpPr/>
          <p:nvPr/>
        </p:nvSpPr>
        <p:spPr>
          <a:xfrm>
            <a:off x="1461897" y="2697480"/>
            <a:ext cx="768096" cy="768096"/>
          </a:xfrm>
          <a:prstGeom prst="ellipse">
            <a:avLst/>
          </a:prstGeom>
          <a:solidFill>
            <a:srgbClr val="0E1726"/>
          </a:solidFill>
          <a:ln/>
        </p:spPr>
      </p:sp>
      <p:pic>
        <p:nvPicPr>
          <p:cNvPr id="9" name="Image 1" descr="preencoded.png"/>
          <p:cNvPicPr>
            <a:picLocks noChangeAspect="1"/>
          </p:cNvPicPr>
          <p:nvPr/>
        </p:nvPicPr>
        <p:blipFill>
          <a:blip r:embed="rId4"/>
          <a:stretch>
            <a:fillRect/>
          </a:stretch>
        </p:blipFill>
        <p:spPr>
          <a:xfrm>
            <a:off x="1644777" y="2898648"/>
            <a:ext cx="402336" cy="402336"/>
          </a:xfrm>
          <a:prstGeom prst="rect">
            <a:avLst/>
          </a:prstGeom>
        </p:spPr>
      </p:pic>
      <p:sp>
        <p:nvSpPr>
          <p:cNvPr id="10" name="Text 6"/>
          <p:cNvSpPr/>
          <p:nvPr/>
        </p:nvSpPr>
        <p:spPr>
          <a:xfrm>
            <a:off x="704088" y="3611880"/>
            <a:ext cx="2283714" cy="365760"/>
          </a:xfrm>
          <a:prstGeom prst="rect">
            <a:avLst/>
          </a:prstGeom>
          <a:noFill/>
          <a:ln/>
        </p:spPr>
        <p:txBody>
          <a:bodyPr wrap="square" rtlCol="0" anchor="ctr"/>
          <a:lstStyle/>
          <a:p>
            <a:pPr marL="0" indent="0" algn="ctr">
              <a:buNone/>
            </a:pPr>
            <a:r>
              <a:rPr lang="en-US" sz="1600" b="1" dirty="0">
                <a:solidFill>
                  <a:srgbClr val="0E7490"/>
                </a:solidFill>
                <a:latin typeface="Cambria" pitchFamily="34" charset="0"/>
                <a:ea typeface="Cambria" pitchFamily="34" charset="-122"/>
                <a:cs typeface="Cambria" pitchFamily="34" charset="-120"/>
              </a:rPr>
              <a:t>1. Alert in</a:t>
            </a:r>
            <a:endParaRPr lang="en-US" sz="1600" dirty="0"/>
          </a:p>
        </p:txBody>
      </p:sp>
      <p:sp>
        <p:nvSpPr>
          <p:cNvPr id="11" name="Text 7"/>
          <p:cNvSpPr/>
          <p:nvPr/>
        </p:nvSpPr>
        <p:spPr>
          <a:xfrm>
            <a:off x="749808" y="4023360"/>
            <a:ext cx="2192274" cy="822960"/>
          </a:xfrm>
          <a:prstGeom prst="rect">
            <a:avLst/>
          </a:prstGeom>
          <a:noFill/>
          <a:ln/>
        </p:spPr>
        <p:txBody>
          <a:bodyPr wrap="square" rtlCol="0" anchor="t"/>
          <a:lstStyle/>
          <a:p>
            <a:pPr marL="0" indent="0" algn="ctr">
              <a:buNone/>
            </a:pPr>
            <a:r>
              <a:rPr lang="en-US" sz="1250" dirty="0">
                <a:solidFill>
                  <a:srgbClr val="1E293B"/>
                </a:solidFill>
                <a:latin typeface="Calibri" pitchFamily="34" charset="0"/>
                <a:ea typeface="Calibri" pitchFamily="34" charset="-122"/>
                <a:cs typeface="Calibri" pitchFamily="34" charset="-120"/>
              </a:rPr>
              <a:t>A network-flow alert in plain English (protocol, rate, flags, counts).</a:t>
            </a:r>
            <a:endParaRPr lang="en-US" sz="1250" dirty="0"/>
          </a:p>
        </p:txBody>
      </p:sp>
      <p:pic>
        <p:nvPicPr>
          <p:cNvPr id="12" name="Image 2" descr="preencoded.png"/>
          <p:cNvPicPr>
            <a:picLocks noChangeAspect="1"/>
          </p:cNvPicPr>
          <p:nvPr/>
        </p:nvPicPr>
        <p:blipFill>
          <a:blip r:embed="rId5"/>
          <a:stretch>
            <a:fillRect/>
          </a:stretch>
        </p:blipFill>
        <p:spPr>
          <a:xfrm>
            <a:off x="3143250" y="2971800"/>
            <a:ext cx="237744" cy="237744"/>
          </a:xfrm>
          <a:prstGeom prst="rect">
            <a:avLst/>
          </a:prstGeom>
        </p:spPr>
      </p:pic>
      <p:sp>
        <p:nvSpPr>
          <p:cNvPr id="13" name="Shape 8"/>
          <p:cNvSpPr/>
          <p:nvPr/>
        </p:nvSpPr>
        <p:spPr>
          <a:xfrm>
            <a:off x="3399282" y="2468880"/>
            <a:ext cx="2558034" cy="2468880"/>
          </a:xfrm>
          <a:prstGeom prst="roundRect">
            <a:avLst>
              <a:gd name="adj" fmla="val 2963"/>
            </a:avLst>
          </a:prstGeom>
          <a:solidFill>
            <a:srgbClr val="FFFFFF"/>
          </a:solidFill>
          <a:ln w="12700">
            <a:solidFill>
              <a:srgbClr val="E2E8F0"/>
            </a:solidFill>
            <a:prstDash val="solid"/>
          </a:ln>
          <a:effectLst>
            <a:outerShdw blurRad="88900" dist="38100" dir="5400000" algn="bl" rotWithShape="0">
              <a:srgbClr val="000000">
                <a:alpha val="14000"/>
              </a:srgbClr>
            </a:outerShdw>
          </a:effectLst>
        </p:spPr>
      </p:sp>
      <p:sp>
        <p:nvSpPr>
          <p:cNvPr id="14" name="Shape 9"/>
          <p:cNvSpPr/>
          <p:nvPr/>
        </p:nvSpPr>
        <p:spPr>
          <a:xfrm>
            <a:off x="4294251" y="2697480"/>
            <a:ext cx="768096" cy="768096"/>
          </a:xfrm>
          <a:prstGeom prst="ellipse">
            <a:avLst/>
          </a:prstGeom>
          <a:solidFill>
            <a:srgbClr val="0E1726"/>
          </a:solidFill>
          <a:ln/>
        </p:spPr>
      </p:sp>
      <p:pic>
        <p:nvPicPr>
          <p:cNvPr id="15" name="Image 3" descr="preencoded.png"/>
          <p:cNvPicPr>
            <a:picLocks noChangeAspect="1"/>
          </p:cNvPicPr>
          <p:nvPr/>
        </p:nvPicPr>
        <p:blipFill>
          <a:blip r:embed="rId6"/>
          <a:stretch>
            <a:fillRect/>
          </a:stretch>
        </p:blipFill>
        <p:spPr>
          <a:xfrm>
            <a:off x="4477131" y="2898648"/>
            <a:ext cx="402336" cy="402336"/>
          </a:xfrm>
          <a:prstGeom prst="rect">
            <a:avLst/>
          </a:prstGeom>
        </p:spPr>
      </p:pic>
      <p:sp>
        <p:nvSpPr>
          <p:cNvPr id="16" name="Text 10"/>
          <p:cNvSpPr/>
          <p:nvPr/>
        </p:nvSpPr>
        <p:spPr>
          <a:xfrm>
            <a:off x="3536442" y="3611880"/>
            <a:ext cx="2283714" cy="365760"/>
          </a:xfrm>
          <a:prstGeom prst="rect">
            <a:avLst/>
          </a:prstGeom>
          <a:noFill/>
          <a:ln/>
        </p:spPr>
        <p:txBody>
          <a:bodyPr wrap="square" rtlCol="0" anchor="ctr"/>
          <a:lstStyle/>
          <a:p>
            <a:pPr marL="0" indent="0" algn="ctr">
              <a:buNone/>
            </a:pPr>
            <a:r>
              <a:rPr lang="en-US" sz="1600" b="1" dirty="0">
                <a:solidFill>
                  <a:srgbClr val="0E7490"/>
                </a:solidFill>
                <a:latin typeface="Cambria" pitchFamily="34" charset="0"/>
                <a:ea typeface="Cambria" pitchFamily="34" charset="-122"/>
                <a:cs typeface="Cambria" pitchFamily="34" charset="-120"/>
              </a:rPr>
              <a:t>2. Classify</a:t>
            </a:r>
            <a:endParaRPr lang="en-US" sz="1600" dirty="0"/>
          </a:p>
        </p:txBody>
      </p:sp>
      <p:sp>
        <p:nvSpPr>
          <p:cNvPr id="17" name="Text 11"/>
          <p:cNvSpPr/>
          <p:nvPr/>
        </p:nvSpPr>
        <p:spPr>
          <a:xfrm>
            <a:off x="3582162" y="4023360"/>
            <a:ext cx="2192274" cy="822960"/>
          </a:xfrm>
          <a:prstGeom prst="rect">
            <a:avLst/>
          </a:prstGeom>
          <a:noFill/>
          <a:ln/>
        </p:spPr>
        <p:txBody>
          <a:bodyPr wrap="square" rtlCol="0" anchor="t"/>
          <a:lstStyle/>
          <a:p>
            <a:pPr marL="0" indent="0" algn="ctr">
              <a:buNone/>
            </a:pPr>
            <a:r>
              <a:rPr lang="en-US" sz="1250" dirty="0">
                <a:solidFill>
                  <a:srgbClr val="1E293B"/>
                </a:solidFill>
                <a:latin typeface="Calibri" pitchFamily="34" charset="0"/>
                <a:ea typeface="Calibri" pitchFamily="34" charset="-122"/>
                <a:cs typeface="Calibri" pitchFamily="34" charset="-120"/>
              </a:rPr>
              <a:t>LLM predicts the most likely attack family from 10 options.</a:t>
            </a:r>
            <a:endParaRPr lang="en-US" sz="1250" dirty="0"/>
          </a:p>
        </p:txBody>
      </p:sp>
      <p:pic>
        <p:nvPicPr>
          <p:cNvPr id="18" name="Image 4" descr="preencoded.png"/>
          <p:cNvPicPr>
            <a:picLocks noChangeAspect="1"/>
          </p:cNvPicPr>
          <p:nvPr/>
        </p:nvPicPr>
        <p:blipFill>
          <a:blip r:embed="rId5"/>
          <a:stretch>
            <a:fillRect/>
          </a:stretch>
        </p:blipFill>
        <p:spPr>
          <a:xfrm>
            <a:off x="5975604" y="2971800"/>
            <a:ext cx="237744" cy="237744"/>
          </a:xfrm>
          <a:prstGeom prst="rect">
            <a:avLst/>
          </a:prstGeom>
        </p:spPr>
      </p:pic>
      <p:sp>
        <p:nvSpPr>
          <p:cNvPr id="19" name="Shape 12"/>
          <p:cNvSpPr/>
          <p:nvPr/>
        </p:nvSpPr>
        <p:spPr>
          <a:xfrm>
            <a:off x="6231636" y="2468880"/>
            <a:ext cx="2558034" cy="2468880"/>
          </a:xfrm>
          <a:prstGeom prst="roundRect">
            <a:avLst>
              <a:gd name="adj" fmla="val 2963"/>
            </a:avLst>
          </a:prstGeom>
          <a:solidFill>
            <a:srgbClr val="FFFFFF"/>
          </a:solidFill>
          <a:ln w="12700">
            <a:solidFill>
              <a:srgbClr val="E2E8F0"/>
            </a:solidFill>
            <a:prstDash val="solid"/>
          </a:ln>
          <a:effectLst>
            <a:outerShdw blurRad="88900" dist="38100" dir="5400000" algn="bl" rotWithShape="0">
              <a:srgbClr val="000000">
                <a:alpha val="14000"/>
              </a:srgbClr>
            </a:outerShdw>
          </a:effectLst>
        </p:spPr>
      </p:sp>
      <p:sp>
        <p:nvSpPr>
          <p:cNvPr id="20" name="Shape 13"/>
          <p:cNvSpPr/>
          <p:nvPr/>
        </p:nvSpPr>
        <p:spPr>
          <a:xfrm>
            <a:off x="7126605" y="2697480"/>
            <a:ext cx="768096" cy="768096"/>
          </a:xfrm>
          <a:prstGeom prst="ellipse">
            <a:avLst/>
          </a:prstGeom>
          <a:solidFill>
            <a:srgbClr val="0E1726"/>
          </a:solidFill>
          <a:ln/>
        </p:spPr>
      </p:sp>
      <p:pic>
        <p:nvPicPr>
          <p:cNvPr id="21" name="Image 5" descr="preencoded.png"/>
          <p:cNvPicPr>
            <a:picLocks noChangeAspect="1"/>
          </p:cNvPicPr>
          <p:nvPr/>
        </p:nvPicPr>
        <p:blipFill>
          <a:blip r:embed="rId7"/>
          <a:stretch>
            <a:fillRect/>
          </a:stretch>
        </p:blipFill>
        <p:spPr>
          <a:xfrm>
            <a:off x="7309485" y="2898648"/>
            <a:ext cx="402336" cy="402336"/>
          </a:xfrm>
          <a:prstGeom prst="rect">
            <a:avLst/>
          </a:prstGeom>
        </p:spPr>
      </p:pic>
      <p:sp>
        <p:nvSpPr>
          <p:cNvPr id="22" name="Text 14"/>
          <p:cNvSpPr/>
          <p:nvPr/>
        </p:nvSpPr>
        <p:spPr>
          <a:xfrm>
            <a:off x="6368796" y="3611880"/>
            <a:ext cx="2283714" cy="365760"/>
          </a:xfrm>
          <a:prstGeom prst="rect">
            <a:avLst/>
          </a:prstGeom>
          <a:noFill/>
          <a:ln/>
        </p:spPr>
        <p:txBody>
          <a:bodyPr wrap="square" rtlCol="0" anchor="ctr"/>
          <a:lstStyle/>
          <a:p>
            <a:pPr marL="0" indent="0" algn="ctr">
              <a:buNone/>
            </a:pPr>
            <a:r>
              <a:rPr lang="en-US" sz="1600" b="1" dirty="0">
                <a:solidFill>
                  <a:srgbClr val="0E7490"/>
                </a:solidFill>
                <a:latin typeface="Cambria" pitchFamily="34" charset="0"/>
                <a:ea typeface="Cambria" pitchFamily="34" charset="-122"/>
                <a:cs typeface="Cambria" pitchFamily="34" charset="-120"/>
              </a:rPr>
              <a:t>3. Enrich + score</a:t>
            </a:r>
            <a:endParaRPr lang="en-US" sz="1600" dirty="0"/>
          </a:p>
        </p:txBody>
      </p:sp>
      <p:sp>
        <p:nvSpPr>
          <p:cNvPr id="23" name="Text 15"/>
          <p:cNvSpPr/>
          <p:nvPr/>
        </p:nvSpPr>
        <p:spPr>
          <a:xfrm>
            <a:off x="6414516" y="4023360"/>
            <a:ext cx="2192274" cy="822960"/>
          </a:xfrm>
          <a:prstGeom prst="rect">
            <a:avLst/>
          </a:prstGeom>
          <a:noFill/>
          <a:ln/>
        </p:spPr>
        <p:txBody>
          <a:bodyPr wrap="square" rtlCol="0" anchor="t"/>
          <a:lstStyle/>
          <a:p>
            <a:pPr marL="0" indent="0" algn="ctr">
              <a:buNone/>
            </a:pPr>
            <a:r>
              <a:rPr lang="en-US" sz="1250" dirty="0">
                <a:solidFill>
                  <a:srgbClr val="1E293B"/>
                </a:solidFill>
                <a:latin typeface="Calibri" pitchFamily="34" charset="0"/>
                <a:ea typeface="Calibri" pitchFamily="34" charset="-122"/>
                <a:cs typeface="Calibri" pitchFamily="34" charset="-120"/>
              </a:rPr>
              <a:t>Tools add MITRE context, a severity score, and a recommended action.</a:t>
            </a:r>
            <a:endParaRPr lang="en-US" sz="1250" dirty="0"/>
          </a:p>
        </p:txBody>
      </p:sp>
      <p:pic>
        <p:nvPicPr>
          <p:cNvPr id="24" name="Image 6" descr="preencoded.png"/>
          <p:cNvPicPr>
            <a:picLocks noChangeAspect="1"/>
          </p:cNvPicPr>
          <p:nvPr/>
        </p:nvPicPr>
        <p:blipFill>
          <a:blip r:embed="rId5"/>
          <a:stretch>
            <a:fillRect/>
          </a:stretch>
        </p:blipFill>
        <p:spPr>
          <a:xfrm>
            <a:off x="8807958" y="2971800"/>
            <a:ext cx="237744" cy="237744"/>
          </a:xfrm>
          <a:prstGeom prst="rect">
            <a:avLst/>
          </a:prstGeom>
        </p:spPr>
      </p:pic>
      <p:sp>
        <p:nvSpPr>
          <p:cNvPr id="25" name="Shape 16"/>
          <p:cNvSpPr/>
          <p:nvPr/>
        </p:nvSpPr>
        <p:spPr>
          <a:xfrm>
            <a:off x="9063990" y="2468880"/>
            <a:ext cx="2558034" cy="2468880"/>
          </a:xfrm>
          <a:prstGeom prst="roundRect">
            <a:avLst>
              <a:gd name="adj" fmla="val 2963"/>
            </a:avLst>
          </a:prstGeom>
          <a:solidFill>
            <a:srgbClr val="FFFFFF"/>
          </a:solidFill>
          <a:ln w="12700">
            <a:solidFill>
              <a:srgbClr val="E2E8F0"/>
            </a:solidFill>
            <a:prstDash val="solid"/>
          </a:ln>
          <a:effectLst>
            <a:outerShdw blurRad="88900" dist="38100" dir="5400000" algn="bl" rotWithShape="0">
              <a:srgbClr val="000000">
                <a:alpha val="14000"/>
              </a:srgbClr>
            </a:outerShdw>
          </a:effectLst>
        </p:spPr>
      </p:sp>
      <p:sp>
        <p:nvSpPr>
          <p:cNvPr id="26" name="Shape 17"/>
          <p:cNvSpPr/>
          <p:nvPr/>
        </p:nvSpPr>
        <p:spPr>
          <a:xfrm>
            <a:off x="9958959" y="2697480"/>
            <a:ext cx="768096" cy="768096"/>
          </a:xfrm>
          <a:prstGeom prst="ellipse">
            <a:avLst/>
          </a:prstGeom>
          <a:solidFill>
            <a:srgbClr val="0E1726"/>
          </a:solidFill>
          <a:ln/>
        </p:spPr>
      </p:sp>
      <p:pic>
        <p:nvPicPr>
          <p:cNvPr id="27" name="Image 7" descr="preencoded.png"/>
          <p:cNvPicPr>
            <a:picLocks noChangeAspect="1"/>
          </p:cNvPicPr>
          <p:nvPr/>
        </p:nvPicPr>
        <p:blipFill>
          <a:blip r:embed="rId8"/>
          <a:stretch>
            <a:fillRect/>
          </a:stretch>
        </p:blipFill>
        <p:spPr>
          <a:xfrm>
            <a:off x="10141839" y="2898648"/>
            <a:ext cx="402336" cy="402336"/>
          </a:xfrm>
          <a:prstGeom prst="rect">
            <a:avLst/>
          </a:prstGeom>
        </p:spPr>
      </p:pic>
      <p:sp>
        <p:nvSpPr>
          <p:cNvPr id="28" name="Text 18"/>
          <p:cNvSpPr/>
          <p:nvPr/>
        </p:nvSpPr>
        <p:spPr>
          <a:xfrm>
            <a:off x="9201150" y="3611880"/>
            <a:ext cx="2283714" cy="365760"/>
          </a:xfrm>
          <a:prstGeom prst="rect">
            <a:avLst/>
          </a:prstGeom>
          <a:noFill/>
          <a:ln/>
        </p:spPr>
        <p:txBody>
          <a:bodyPr wrap="square" rtlCol="0" anchor="ctr"/>
          <a:lstStyle/>
          <a:p>
            <a:pPr marL="0" indent="0" algn="ctr">
              <a:buNone/>
            </a:pPr>
            <a:r>
              <a:rPr lang="en-US" sz="1600" b="1" dirty="0">
                <a:solidFill>
                  <a:srgbClr val="0E7490"/>
                </a:solidFill>
                <a:latin typeface="Cambria" pitchFamily="34" charset="0"/>
                <a:ea typeface="Cambria" pitchFamily="34" charset="-122"/>
                <a:cs typeface="Cambria" pitchFamily="34" charset="-120"/>
              </a:rPr>
              <a:t>4. Decision out</a:t>
            </a:r>
            <a:endParaRPr lang="en-US" sz="1600" dirty="0"/>
          </a:p>
        </p:txBody>
      </p:sp>
      <p:sp>
        <p:nvSpPr>
          <p:cNvPr id="29" name="Text 19"/>
          <p:cNvSpPr/>
          <p:nvPr/>
        </p:nvSpPr>
        <p:spPr>
          <a:xfrm>
            <a:off x="9246870" y="4023360"/>
            <a:ext cx="2192274" cy="822960"/>
          </a:xfrm>
          <a:prstGeom prst="rect">
            <a:avLst/>
          </a:prstGeom>
          <a:noFill/>
          <a:ln/>
        </p:spPr>
        <p:txBody>
          <a:bodyPr wrap="square" rtlCol="0" anchor="t"/>
          <a:lstStyle/>
          <a:p>
            <a:pPr marL="0" indent="0" algn="ctr">
              <a:buNone/>
            </a:pPr>
            <a:r>
              <a:rPr lang="en-US" sz="1250" dirty="0">
                <a:solidFill>
                  <a:srgbClr val="1E293B"/>
                </a:solidFill>
                <a:latin typeface="Calibri" pitchFamily="34" charset="0"/>
                <a:ea typeface="Calibri" pitchFamily="34" charset="-122"/>
                <a:cs typeface="Calibri" pitchFamily="34" charset="-120"/>
              </a:rPr>
              <a:t>A structured triage summary — awaiting analyst approval.</a:t>
            </a:r>
            <a:endParaRPr lang="en-US" sz="1250" dirty="0"/>
          </a:p>
        </p:txBody>
      </p:sp>
      <p:sp>
        <p:nvSpPr>
          <p:cNvPr id="30" name="Text 20"/>
          <p:cNvSpPr/>
          <p:nvPr/>
        </p:nvSpPr>
        <p:spPr>
          <a:xfrm>
            <a:off x="566928" y="5166360"/>
            <a:ext cx="11055096" cy="457200"/>
          </a:xfrm>
          <a:prstGeom prst="rect">
            <a:avLst/>
          </a:prstGeom>
          <a:noFill/>
          <a:ln/>
        </p:spPr>
        <p:txBody>
          <a:bodyPr wrap="square" rtlCol="0" anchor="ctr"/>
          <a:lstStyle/>
          <a:p>
            <a:pPr marL="0" indent="0">
              <a:buNone/>
            </a:pPr>
            <a:r>
              <a:rPr lang="en-US" sz="1250" i="1" dirty="0">
                <a:solidFill>
                  <a:srgbClr val="64748B"/>
                </a:solidFill>
                <a:latin typeface="Calibri" pitchFamily="34" charset="0"/>
                <a:ea typeface="Calibri" pitchFamily="34" charset="-122"/>
                <a:cs typeface="Calibri" pitchFamily="34" charset="-120"/>
              </a:rPr>
              <a:t>Definition of an agent: it leverages an LLM plus relevant tooling (here, Unity Catalog SQL tools and custom functions) to act toward a goal.</a:t>
            </a:r>
            <a:endParaRPr lang="en-US" sz="1250" dirty="0"/>
          </a:p>
        </p:txBody>
      </p:sp>
      <p:sp>
        <p:nvSpPr>
          <p:cNvPr id="31" name="Text 21"/>
          <p:cNvSpPr/>
          <p:nvPr/>
        </p:nvSpPr>
        <p:spPr>
          <a:xfrm>
            <a:off x="11365992" y="6400800"/>
            <a:ext cx="457200" cy="274320"/>
          </a:xfrm>
          <a:prstGeom prst="rect">
            <a:avLst/>
          </a:prstGeom>
          <a:noFill/>
          <a:ln/>
        </p:spPr>
        <p:txBody>
          <a:bodyPr wrap="square"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3</a:t>
            </a:r>
            <a:endParaRPr lang="en-US" sz="1000" dirty="0"/>
          </a:p>
        </p:txBody>
      </p:sp>
      <p:sp>
        <p:nvSpPr>
          <p:cNvPr id="32" name="Text 22"/>
          <p:cNvSpPr/>
          <p:nvPr/>
        </p:nvSpPr>
        <p:spPr>
          <a:xfrm>
            <a:off x="566928" y="6400800"/>
            <a:ext cx="3657600" cy="274320"/>
          </a:xfrm>
          <a:prstGeom prst="rect">
            <a:avLst/>
          </a:prstGeom>
          <a:noFill/>
          <a:ln/>
        </p:spPr>
        <p:txBody>
          <a:bodyPr wrap="square" rtlCol="0" anchor="ctr"/>
          <a:lstStyle/>
          <a:p>
            <a:pPr marL="0" indent="0" algn="l">
              <a:buNone/>
            </a:pPr>
            <a:r>
              <a:rPr lang="en-US" sz="1000" dirty="0">
                <a:solidFill>
                  <a:srgbClr val="64748B"/>
                </a:solidFill>
                <a:latin typeface="Calibri" pitchFamily="34" charset="0"/>
                <a:ea typeface="Calibri" pitchFamily="34" charset="-122"/>
                <a:cs typeface="Calibri" pitchFamily="34" charset="-120"/>
              </a:rPr>
              <a:t>SentinelMesh</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57200"/>
            <a:ext cx="566928" cy="566928"/>
          </a:xfrm>
          <a:prstGeom prst="ellipse">
            <a:avLst/>
          </a:prstGeom>
          <a:solidFill>
            <a:srgbClr val="0E1726"/>
          </a:solidFill>
          <a:ln/>
        </p:spPr>
      </p:sp>
      <p:pic>
        <p:nvPicPr>
          <p:cNvPr id="3" name="Image 0" descr="preencoded.png"/>
          <p:cNvPicPr>
            <a:picLocks noChangeAspect="1"/>
          </p:cNvPicPr>
          <p:nvPr/>
        </p:nvPicPr>
        <p:blipFill>
          <a:blip r:embed="rId3"/>
          <a:stretch>
            <a:fillRect/>
          </a:stretch>
        </p:blipFill>
        <p:spPr>
          <a:xfrm>
            <a:off x="704088" y="594360"/>
            <a:ext cx="292608" cy="292608"/>
          </a:xfrm>
          <a:prstGeom prst="rect">
            <a:avLst/>
          </a:prstGeom>
        </p:spPr>
      </p:pic>
      <p:sp>
        <p:nvSpPr>
          <p:cNvPr id="4" name="Text 1"/>
          <p:cNvSpPr/>
          <p:nvPr/>
        </p:nvSpPr>
        <p:spPr>
          <a:xfrm>
            <a:off x="1298448" y="457200"/>
            <a:ext cx="9144000" cy="274320"/>
          </a:xfrm>
          <a:prstGeom prst="rect">
            <a:avLst/>
          </a:prstGeom>
          <a:noFill/>
          <a:ln/>
        </p:spPr>
        <p:txBody>
          <a:bodyPr wrap="square" rtlCol="0" anchor="ctr"/>
          <a:lstStyle/>
          <a:p>
            <a:pPr marL="0" indent="0">
              <a:buNone/>
            </a:pPr>
            <a:r>
              <a:rPr lang="en-US" sz="1200" b="1" kern="0" spc="300" dirty="0">
                <a:solidFill>
                  <a:srgbClr val="0E7490"/>
                </a:solidFill>
                <a:latin typeface="Calibri" pitchFamily="34" charset="0"/>
                <a:ea typeface="Calibri" pitchFamily="34" charset="-122"/>
                <a:cs typeface="Calibri" pitchFamily="34" charset="-120"/>
              </a:rPr>
              <a:t>TECHNICAL SOLUTION</a:t>
            </a:r>
            <a:endParaRPr lang="en-US" sz="1200" dirty="0"/>
          </a:p>
        </p:txBody>
      </p:sp>
      <p:sp>
        <p:nvSpPr>
          <p:cNvPr id="5" name="Text 2"/>
          <p:cNvSpPr/>
          <p:nvPr/>
        </p:nvSpPr>
        <p:spPr>
          <a:xfrm>
            <a:off x="1298448" y="694944"/>
            <a:ext cx="10341864" cy="502920"/>
          </a:xfrm>
          <a:prstGeom prst="rect">
            <a:avLst/>
          </a:prstGeom>
          <a:noFill/>
          <a:ln/>
        </p:spPr>
        <p:txBody>
          <a:bodyPr wrap="square" rtlCol="0" anchor="ctr"/>
          <a:lstStyle/>
          <a:p>
            <a:pPr marL="0" indent="0">
              <a:buNone/>
            </a:pPr>
            <a:r>
              <a:rPr lang="en-US" sz="2800" b="1" dirty="0">
                <a:solidFill>
                  <a:srgbClr val="1E293B"/>
                </a:solidFill>
                <a:latin typeface="Cambria" pitchFamily="34" charset="0"/>
                <a:ea typeface="Cambria" pitchFamily="34" charset="-122"/>
                <a:cs typeface="Cambria" pitchFamily="34" charset="-120"/>
              </a:rPr>
              <a:t>System architecture</a:t>
            </a:r>
            <a:endParaRPr lang="en-US" sz="2800" dirty="0"/>
          </a:p>
        </p:txBody>
      </p:sp>
      <p:sp>
        <p:nvSpPr>
          <p:cNvPr id="6" name="Shape 3"/>
          <p:cNvSpPr/>
          <p:nvPr/>
        </p:nvSpPr>
        <p:spPr>
          <a:xfrm>
            <a:off x="566928" y="1600200"/>
            <a:ext cx="11055096" cy="841248"/>
          </a:xfrm>
          <a:prstGeom prst="roundRect">
            <a:avLst>
              <a:gd name="adj" fmla="val 8696"/>
            </a:avLst>
          </a:prstGeom>
          <a:solidFill>
            <a:srgbClr val="FFFFFF"/>
          </a:solidFill>
          <a:ln w="12700">
            <a:solidFill>
              <a:srgbClr val="E2E8F0"/>
            </a:solidFill>
            <a:prstDash val="solid"/>
          </a:ln>
          <a:effectLst>
            <a:outerShdw blurRad="88900" dist="38100" dir="5400000" algn="bl" rotWithShape="0">
              <a:srgbClr val="000000">
                <a:alpha val="14000"/>
              </a:srgbClr>
            </a:outerShdw>
          </a:effectLst>
        </p:spPr>
      </p:sp>
      <p:sp>
        <p:nvSpPr>
          <p:cNvPr id="7" name="Shape 4"/>
          <p:cNvSpPr/>
          <p:nvPr/>
        </p:nvSpPr>
        <p:spPr>
          <a:xfrm>
            <a:off x="768096" y="1755648"/>
            <a:ext cx="530352" cy="530352"/>
          </a:xfrm>
          <a:prstGeom prst="ellipse">
            <a:avLst/>
          </a:prstGeom>
          <a:solidFill>
            <a:srgbClr val="0E1726"/>
          </a:solidFill>
          <a:ln/>
        </p:spPr>
      </p:sp>
      <p:pic>
        <p:nvPicPr>
          <p:cNvPr id="8" name="Image 1" descr="preencoded.png"/>
          <p:cNvPicPr>
            <a:picLocks noChangeAspect="1"/>
          </p:cNvPicPr>
          <p:nvPr/>
        </p:nvPicPr>
        <p:blipFill>
          <a:blip r:embed="rId4"/>
          <a:stretch>
            <a:fillRect/>
          </a:stretch>
        </p:blipFill>
        <p:spPr>
          <a:xfrm>
            <a:off x="896112" y="1883664"/>
            <a:ext cx="274320" cy="274320"/>
          </a:xfrm>
          <a:prstGeom prst="rect">
            <a:avLst/>
          </a:prstGeom>
        </p:spPr>
      </p:pic>
      <p:sp>
        <p:nvSpPr>
          <p:cNvPr id="9" name="Text 5"/>
          <p:cNvSpPr/>
          <p:nvPr/>
        </p:nvSpPr>
        <p:spPr>
          <a:xfrm>
            <a:off x="1481328" y="1719072"/>
            <a:ext cx="3108960" cy="603504"/>
          </a:xfrm>
          <a:prstGeom prst="rect">
            <a:avLst/>
          </a:prstGeom>
          <a:noFill/>
          <a:ln/>
        </p:spPr>
        <p:txBody>
          <a:bodyPr wrap="square" rtlCol="0" anchor="ctr"/>
          <a:lstStyle/>
          <a:p>
            <a:pPr marL="0" indent="0">
              <a:buNone/>
            </a:pPr>
            <a:r>
              <a:rPr lang="en-US" sz="1600" b="1" dirty="0">
                <a:solidFill>
                  <a:srgbClr val="1E293B"/>
                </a:solidFill>
                <a:latin typeface="Cambria" pitchFamily="34" charset="0"/>
                <a:ea typeface="Cambria" pitchFamily="34" charset="-122"/>
                <a:cs typeface="Cambria" pitchFamily="34" charset="-120"/>
              </a:rPr>
              <a:t>01  Data Pipeline</a:t>
            </a:r>
            <a:endParaRPr lang="en-US" sz="1600" dirty="0"/>
          </a:p>
        </p:txBody>
      </p:sp>
      <p:sp>
        <p:nvSpPr>
          <p:cNvPr id="10" name="Text 6"/>
          <p:cNvSpPr/>
          <p:nvPr/>
        </p:nvSpPr>
        <p:spPr>
          <a:xfrm>
            <a:off x="4590288" y="1719072"/>
            <a:ext cx="6848856" cy="603504"/>
          </a:xfrm>
          <a:prstGeom prst="rect">
            <a:avLst/>
          </a:prstGeom>
          <a:noFill/>
          <a:ln/>
        </p:spPr>
        <p:txBody>
          <a:bodyPr wrap="square" rtlCol="0" anchor="ctr"/>
          <a:lstStyle/>
          <a:p>
            <a:pPr marL="0" indent="0">
              <a:buNone/>
            </a:pPr>
            <a:r>
              <a:rPr lang="en-US" sz="1300" dirty="0">
                <a:solidFill>
                  <a:srgbClr val="1E293B"/>
                </a:solidFill>
                <a:latin typeface="Calibri" pitchFamily="34" charset="0"/>
                <a:ea typeface="Calibri" pitchFamily="34" charset="-122"/>
                <a:cs typeface="Calibri" pitchFamily="34" charset="-120"/>
              </a:rPr>
              <a:t>CIC-IoT-2023 → stratified sample → plain-English alerts → Unity Catalog tables</a:t>
            </a:r>
            <a:endParaRPr lang="en-US" sz="1300" dirty="0"/>
          </a:p>
        </p:txBody>
      </p:sp>
      <p:sp>
        <p:nvSpPr>
          <p:cNvPr id="11" name="Shape 7"/>
          <p:cNvSpPr/>
          <p:nvPr/>
        </p:nvSpPr>
        <p:spPr>
          <a:xfrm>
            <a:off x="566928" y="2551176"/>
            <a:ext cx="11055096" cy="841248"/>
          </a:xfrm>
          <a:prstGeom prst="roundRect">
            <a:avLst>
              <a:gd name="adj" fmla="val 8696"/>
            </a:avLst>
          </a:prstGeom>
          <a:solidFill>
            <a:srgbClr val="FFFFFF"/>
          </a:solidFill>
          <a:ln w="12700">
            <a:solidFill>
              <a:srgbClr val="E2E8F0"/>
            </a:solidFill>
            <a:prstDash val="solid"/>
          </a:ln>
          <a:effectLst>
            <a:outerShdw blurRad="88900" dist="38100" dir="5400000" algn="bl" rotWithShape="0">
              <a:srgbClr val="000000">
                <a:alpha val="14000"/>
              </a:srgbClr>
            </a:outerShdw>
          </a:effectLst>
        </p:spPr>
      </p:sp>
      <p:sp>
        <p:nvSpPr>
          <p:cNvPr id="12" name="Shape 8"/>
          <p:cNvSpPr/>
          <p:nvPr/>
        </p:nvSpPr>
        <p:spPr>
          <a:xfrm>
            <a:off x="768096" y="2706624"/>
            <a:ext cx="530352" cy="530352"/>
          </a:xfrm>
          <a:prstGeom prst="ellipse">
            <a:avLst/>
          </a:prstGeom>
          <a:solidFill>
            <a:srgbClr val="0E1726"/>
          </a:solidFill>
          <a:ln/>
        </p:spPr>
      </p:sp>
      <p:pic>
        <p:nvPicPr>
          <p:cNvPr id="13" name="Image 2" descr="preencoded.png"/>
          <p:cNvPicPr>
            <a:picLocks noChangeAspect="1"/>
          </p:cNvPicPr>
          <p:nvPr/>
        </p:nvPicPr>
        <p:blipFill>
          <a:blip r:embed="rId5"/>
          <a:stretch>
            <a:fillRect/>
          </a:stretch>
        </p:blipFill>
        <p:spPr>
          <a:xfrm>
            <a:off x="896112" y="2834640"/>
            <a:ext cx="274320" cy="274320"/>
          </a:xfrm>
          <a:prstGeom prst="rect">
            <a:avLst/>
          </a:prstGeom>
        </p:spPr>
      </p:pic>
      <p:sp>
        <p:nvSpPr>
          <p:cNvPr id="14" name="Text 9"/>
          <p:cNvSpPr/>
          <p:nvPr/>
        </p:nvSpPr>
        <p:spPr>
          <a:xfrm>
            <a:off x="1481328" y="2670048"/>
            <a:ext cx="3108960" cy="603504"/>
          </a:xfrm>
          <a:prstGeom prst="rect">
            <a:avLst/>
          </a:prstGeom>
          <a:noFill/>
          <a:ln/>
        </p:spPr>
        <p:txBody>
          <a:bodyPr wrap="square" rtlCol="0" anchor="ctr"/>
          <a:lstStyle/>
          <a:p>
            <a:pPr marL="0" indent="0">
              <a:buNone/>
            </a:pPr>
            <a:r>
              <a:rPr lang="en-US" sz="1600" b="1" dirty="0">
                <a:solidFill>
                  <a:srgbClr val="1E293B"/>
                </a:solidFill>
                <a:latin typeface="Cambria" pitchFamily="34" charset="0"/>
                <a:ea typeface="Cambria" pitchFamily="34" charset="-122"/>
                <a:cs typeface="Cambria" pitchFamily="34" charset="-120"/>
              </a:rPr>
              <a:t>02  Agent</a:t>
            </a:r>
            <a:endParaRPr lang="en-US" sz="1600" dirty="0"/>
          </a:p>
        </p:txBody>
      </p:sp>
      <p:sp>
        <p:nvSpPr>
          <p:cNvPr id="15" name="Text 10"/>
          <p:cNvSpPr/>
          <p:nvPr/>
        </p:nvSpPr>
        <p:spPr>
          <a:xfrm>
            <a:off x="4590288" y="2670048"/>
            <a:ext cx="6848856" cy="603504"/>
          </a:xfrm>
          <a:prstGeom prst="rect">
            <a:avLst/>
          </a:prstGeom>
          <a:noFill/>
          <a:ln/>
        </p:spPr>
        <p:txBody>
          <a:bodyPr wrap="square" rtlCol="0" anchor="ctr"/>
          <a:lstStyle/>
          <a:p>
            <a:pPr marL="0" indent="0">
              <a:buNone/>
            </a:pPr>
            <a:r>
              <a:rPr lang="en-US" sz="1300" dirty="0">
                <a:solidFill>
                  <a:srgbClr val="1E293B"/>
                </a:solidFill>
                <a:latin typeface="Calibri" pitchFamily="34" charset="0"/>
                <a:ea typeface="Calibri" pitchFamily="34" charset="-122"/>
                <a:cs typeface="Calibri" pitchFamily="34" charset="-120"/>
              </a:rPr>
              <a:t>gpt-oss-120b / 20b / Claude Sonnet + system prompt + tool-calling loop</a:t>
            </a:r>
            <a:endParaRPr lang="en-US" sz="1300" dirty="0"/>
          </a:p>
        </p:txBody>
      </p:sp>
      <p:sp>
        <p:nvSpPr>
          <p:cNvPr id="16" name="Shape 11"/>
          <p:cNvSpPr/>
          <p:nvPr/>
        </p:nvSpPr>
        <p:spPr>
          <a:xfrm>
            <a:off x="566928" y="3502152"/>
            <a:ext cx="11055096" cy="841248"/>
          </a:xfrm>
          <a:prstGeom prst="roundRect">
            <a:avLst>
              <a:gd name="adj" fmla="val 8696"/>
            </a:avLst>
          </a:prstGeom>
          <a:solidFill>
            <a:srgbClr val="FFFFFF"/>
          </a:solidFill>
          <a:ln w="12700">
            <a:solidFill>
              <a:srgbClr val="E2E8F0"/>
            </a:solidFill>
            <a:prstDash val="solid"/>
          </a:ln>
          <a:effectLst>
            <a:outerShdw blurRad="88900" dist="38100" dir="5400000" algn="bl" rotWithShape="0">
              <a:srgbClr val="000000">
                <a:alpha val="14000"/>
              </a:srgbClr>
            </a:outerShdw>
          </a:effectLst>
        </p:spPr>
      </p:sp>
      <p:sp>
        <p:nvSpPr>
          <p:cNvPr id="17" name="Shape 12"/>
          <p:cNvSpPr/>
          <p:nvPr/>
        </p:nvSpPr>
        <p:spPr>
          <a:xfrm>
            <a:off x="768096" y="3657600"/>
            <a:ext cx="530352" cy="530352"/>
          </a:xfrm>
          <a:prstGeom prst="ellipse">
            <a:avLst/>
          </a:prstGeom>
          <a:solidFill>
            <a:srgbClr val="0E1726"/>
          </a:solidFill>
          <a:ln/>
        </p:spPr>
      </p:sp>
      <p:pic>
        <p:nvPicPr>
          <p:cNvPr id="18" name="Image 3" descr="preencoded.png"/>
          <p:cNvPicPr>
            <a:picLocks noChangeAspect="1"/>
          </p:cNvPicPr>
          <p:nvPr/>
        </p:nvPicPr>
        <p:blipFill>
          <a:blip r:embed="rId6"/>
          <a:stretch>
            <a:fillRect/>
          </a:stretch>
        </p:blipFill>
        <p:spPr>
          <a:xfrm>
            <a:off x="896112" y="3785616"/>
            <a:ext cx="274320" cy="274320"/>
          </a:xfrm>
          <a:prstGeom prst="rect">
            <a:avLst/>
          </a:prstGeom>
        </p:spPr>
      </p:pic>
      <p:sp>
        <p:nvSpPr>
          <p:cNvPr id="19" name="Text 13"/>
          <p:cNvSpPr/>
          <p:nvPr/>
        </p:nvSpPr>
        <p:spPr>
          <a:xfrm>
            <a:off x="1481328" y="3621024"/>
            <a:ext cx="3108960" cy="603504"/>
          </a:xfrm>
          <a:prstGeom prst="rect">
            <a:avLst/>
          </a:prstGeom>
          <a:noFill/>
          <a:ln/>
        </p:spPr>
        <p:txBody>
          <a:bodyPr wrap="square" rtlCol="0" anchor="ctr"/>
          <a:lstStyle/>
          <a:p>
            <a:pPr marL="0" indent="0">
              <a:buNone/>
            </a:pPr>
            <a:r>
              <a:rPr lang="en-US" sz="1600" b="1" dirty="0">
                <a:solidFill>
                  <a:srgbClr val="1E293B"/>
                </a:solidFill>
                <a:latin typeface="Cambria" pitchFamily="34" charset="0"/>
                <a:ea typeface="Cambria" pitchFamily="34" charset="-122"/>
                <a:cs typeface="Cambria" pitchFamily="34" charset="-120"/>
              </a:rPr>
              <a:t>03  Tools</a:t>
            </a:r>
            <a:endParaRPr lang="en-US" sz="1600" dirty="0"/>
          </a:p>
        </p:txBody>
      </p:sp>
      <p:sp>
        <p:nvSpPr>
          <p:cNvPr id="20" name="Text 14"/>
          <p:cNvSpPr/>
          <p:nvPr/>
        </p:nvSpPr>
        <p:spPr>
          <a:xfrm>
            <a:off x="4590288" y="3621024"/>
            <a:ext cx="6848856" cy="603504"/>
          </a:xfrm>
          <a:prstGeom prst="rect">
            <a:avLst/>
          </a:prstGeom>
          <a:noFill/>
          <a:ln/>
        </p:spPr>
        <p:txBody>
          <a:bodyPr wrap="square" rtlCol="0" anchor="ctr"/>
          <a:lstStyle/>
          <a:p>
            <a:pPr marL="0" indent="0">
              <a:buNone/>
            </a:pPr>
            <a:r>
              <a:rPr lang="en-US" sz="1300" dirty="0">
                <a:solidFill>
                  <a:srgbClr val="1E293B"/>
                </a:solidFill>
                <a:latin typeface="Calibri" pitchFamily="34" charset="0"/>
                <a:ea typeface="Calibri" pitchFamily="34" charset="-122"/>
                <a:cs typeface="Calibri" pitchFamily="34" charset="-120"/>
              </a:rPr>
              <a:t>MITRE lookup · severity scoring · action recommendation (UC SQL + functions)</a:t>
            </a:r>
            <a:endParaRPr lang="en-US" sz="1300" dirty="0"/>
          </a:p>
        </p:txBody>
      </p:sp>
      <p:sp>
        <p:nvSpPr>
          <p:cNvPr id="21" name="Shape 15"/>
          <p:cNvSpPr/>
          <p:nvPr/>
        </p:nvSpPr>
        <p:spPr>
          <a:xfrm>
            <a:off x="566928" y="4453128"/>
            <a:ext cx="11055096" cy="841248"/>
          </a:xfrm>
          <a:prstGeom prst="roundRect">
            <a:avLst>
              <a:gd name="adj" fmla="val 8696"/>
            </a:avLst>
          </a:prstGeom>
          <a:solidFill>
            <a:srgbClr val="FFFFFF"/>
          </a:solidFill>
          <a:ln w="12700">
            <a:solidFill>
              <a:srgbClr val="E2E8F0"/>
            </a:solidFill>
            <a:prstDash val="solid"/>
          </a:ln>
          <a:effectLst>
            <a:outerShdw blurRad="88900" dist="38100" dir="5400000" algn="bl" rotWithShape="0">
              <a:srgbClr val="000000">
                <a:alpha val="14000"/>
              </a:srgbClr>
            </a:outerShdw>
          </a:effectLst>
        </p:spPr>
      </p:sp>
      <p:sp>
        <p:nvSpPr>
          <p:cNvPr id="22" name="Shape 16"/>
          <p:cNvSpPr/>
          <p:nvPr/>
        </p:nvSpPr>
        <p:spPr>
          <a:xfrm>
            <a:off x="768096" y="4608576"/>
            <a:ext cx="530352" cy="530352"/>
          </a:xfrm>
          <a:prstGeom prst="ellipse">
            <a:avLst/>
          </a:prstGeom>
          <a:solidFill>
            <a:srgbClr val="0E1726"/>
          </a:solidFill>
          <a:ln/>
        </p:spPr>
      </p:sp>
      <p:pic>
        <p:nvPicPr>
          <p:cNvPr id="23" name="Image 4" descr="preencoded.png"/>
          <p:cNvPicPr>
            <a:picLocks noChangeAspect="1"/>
          </p:cNvPicPr>
          <p:nvPr/>
        </p:nvPicPr>
        <p:blipFill>
          <a:blip r:embed="rId7"/>
          <a:stretch>
            <a:fillRect/>
          </a:stretch>
        </p:blipFill>
        <p:spPr>
          <a:xfrm>
            <a:off x="896112" y="4736592"/>
            <a:ext cx="274320" cy="274320"/>
          </a:xfrm>
          <a:prstGeom prst="rect">
            <a:avLst/>
          </a:prstGeom>
        </p:spPr>
      </p:pic>
      <p:sp>
        <p:nvSpPr>
          <p:cNvPr id="24" name="Text 17"/>
          <p:cNvSpPr/>
          <p:nvPr/>
        </p:nvSpPr>
        <p:spPr>
          <a:xfrm>
            <a:off x="1481328" y="4572000"/>
            <a:ext cx="3108960" cy="603504"/>
          </a:xfrm>
          <a:prstGeom prst="rect">
            <a:avLst/>
          </a:prstGeom>
          <a:noFill/>
          <a:ln/>
        </p:spPr>
        <p:txBody>
          <a:bodyPr wrap="square" rtlCol="0" anchor="ctr"/>
          <a:lstStyle/>
          <a:p>
            <a:pPr marL="0" indent="0">
              <a:buNone/>
            </a:pPr>
            <a:r>
              <a:rPr lang="en-US" sz="1600" b="1" dirty="0">
                <a:solidFill>
                  <a:srgbClr val="1E293B"/>
                </a:solidFill>
                <a:latin typeface="Cambria" pitchFamily="34" charset="0"/>
                <a:ea typeface="Cambria" pitchFamily="34" charset="-122"/>
                <a:cs typeface="Cambria" pitchFamily="34" charset="-120"/>
              </a:rPr>
              <a:t>04  Observability</a:t>
            </a:r>
            <a:endParaRPr lang="en-US" sz="1600" dirty="0"/>
          </a:p>
        </p:txBody>
      </p:sp>
      <p:sp>
        <p:nvSpPr>
          <p:cNvPr id="25" name="Text 18"/>
          <p:cNvSpPr/>
          <p:nvPr/>
        </p:nvSpPr>
        <p:spPr>
          <a:xfrm>
            <a:off x="4590288" y="4572000"/>
            <a:ext cx="6848856" cy="603504"/>
          </a:xfrm>
          <a:prstGeom prst="rect">
            <a:avLst/>
          </a:prstGeom>
          <a:noFill/>
          <a:ln/>
        </p:spPr>
        <p:txBody>
          <a:bodyPr wrap="square" rtlCol="0" anchor="ctr"/>
          <a:lstStyle/>
          <a:p>
            <a:pPr marL="0" indent="0">
              <a:buNone/>
            </a:pPr>
            <a:r>
              <a:rPr lang="en-US" sz="1300" dirty="0">
                <a:solidFill>
                  <a:srgbClr val="1E293B"/>
                </a:solidFill>
                <a:latin typeface="Calibri" pitchFamily="34" charset="0"/>
                <a:ea typeface="Calibri" pitchFamily="34" charset="-122"/>
                <a:cs typeface="Calibri" pitchFamily="34" charset="-120"/>
              </a:rPr>
              <a:t>MLflow tracing — every LLM + tool call captured as a viewable trace</a:t>
            </a:r>
            <a:endParaRPr lang="en-US" sz="1300" dirty="0"/>
          </a:p>
        </p:txBody>
      </p:sp>
      <p:sp>
        <p:nvSpPr>
          <p:cNvPr id="26" name="Shape 19"/>
          <p:cNvSpPr/>
          <p:nvPr/>
        </p:nvSpPr>
        <p:spPr>
          <a:xfrm>
            <a:off x="566928" y="5404104"/>
            <a:ext cx="11055096" cy="841248"/>
          </a:xfrm>
          <a:prstGeom prst="roundRect">
            <a:avLst>
              <a:gd name="adj" fmla="val 8696"/>
            </a:avLst>
          </a:prstGeom>
          <a:solidFill>
            <a:srgbClr val="FFFFFF"/>
          </a:solidFill>
          <a:ln w="12700">
            <a:solidFill>
              <a:srgbClr val="E2E8F0"/>
            </a:solidFill>
            <a:prstDash val="solid"/>
          </a:ln>
          <a:effectLst>
            <a:outerShdw blurRad="88900" dist="38100" dir="5400000" algn="bl" rotWithShape="0">
              <a:srgbClr val="000000">
                <a:alpha val="14000"/>
              </a:srgbClr>
            </a:outerShdw>
          </a:effectLst>
        </p:spPr>
      </p:sp>
      <p:sp>
        <p:nvSpPr>
          <p:cNvPr id="27" name="Shape 20"/>
          <p:cNvSpPr/>
          <p:nvPr/>
        </p:nvSpPr>
        <p:spPr>
          <a:xfrm>
            <a:off x="768096" y="5559552"/>
            <a:ext cx="530352" cy="530352"/>
          </a:xfrm>
          <a:prstGeom prst="ellipse">
            <a:avLst/>
          </a:prstGeom>
          <a:solidFill>
            <a:srgbClr val="0E1726"/>
          </a:solidFill>
          <a:ln/>
        </p:spPr>
      </p:sp>
      <p:pic>
        <p:nvPicPr>
          <p:cNvPr id="28" name="Image 5" descr="preencoded.png"/>
          <p:cNvPicPr>
            <a:picLocks noChangeAspect="1"/>
          </p:cNvPicPr>
          <p:nvPr/>
        </p:nvPicPr>
        <p:blipFill>
          <a:blip r:embed="rId8"/>
          <a:stretch>
            <a:fillRect/>
          </a:stretch>
        </p:blipFill>
        <p:spPr>
          <a:xfrm>
            <a:off x="896112" y="5687568"/>
            <a:ext cx="274320" cy="274320"/>
          </a:xfrm>
          <a:prstGeom prst="rect">
            <a:avLst/>
          </a:prstGeom>
        </p:spPr>
      </p:pic>
      <p:sp>
        <p:nvSpPr>
          <p:cNvPr id="29" name="Text 21"/>
          <p:cNvSpPr/>
          <p:nvPr/>
        </p:nvSpPr>
        <p:spPr>
          <a:xfrm>
            <a:off x="1481328" y="5522976"/>
            <a:ext cx="3108960" cy="603504"/>
          </a:xfrm>
          <a:prstGeom prst="rect">
            <a:avLst/>
          </a:prstGeom>
          <a:noFill/>
          <a:ln/>
        </p:spPr>
        <p:txBody>
          <a:bodyPr wrap="square" rtlCol="0" anchor="ctr"/>
          <a:lstStyle/>
          <a:p>
            <a:pPr marL="0" indent="0">
              <a:buNone/>
            </a:pPr>
            <a:r>
              <a:rPr lang="en-US" sz="1600" b="1" dirty="0">
                <a:solidFill>
                  <a:srgbClr val="1E293B"/>
                </a:solidFill>
                <a:latin typeface="Cambria" pitchFamily="34" charset="0"/>
                <a:ea typeface="Cambria" pitchFamily="34" charset="-122"/>
                <a:cs typeface="Cambria" pitchFamily="34" charset="-120"/>
              </a:rPr>
              <a:t>05  Evaluation</a:t>
            </a:r>
            <a:endParaRPr lang="en-US" sz="1600" dirty="0"/>
          </a:p>
        </p:txBody>
      </p:sp>
      <p:sp>
        <p:nvSpPr>
          <p:cNvPr id="30" name="Text 22"/>
          <p:cNvSpPr/>
          <p:nvPr/>
        </p:nvSpPr>
        <p:spPr>
          <a:xfrm>
            <a:off x="4590288" y="5522976"/>
            <a:ext cx="6848856" cy="603504"/>
          </a:xfrm>
          <a:prstGeom prst="rect">
            <a:avLst/>
          </a:prstGeom>
          <a:noFill/>
          <a:ln/>
        </p:spPr>
        <p:txBody>
          <a:bodyPr wrap="square" rtlCol="0" anchor="ctr"/>
          <a:lstStyle/>
          <a:p>
            <a:pPr marL="0" indent="0">
              <a:buNone/>
            </a:pPr>
            <a:r>
              <a:rPr lang="en-US" sz="1300" dirty="0">
                <a:solidFill>
                  <a:srgbClr val="1E293B"/>
                </a:solidFill>
                <a:latin typeface="Calibri" pitchFamily="34" charset="0"/>
                <a:ea typeface="Calibri" pitchFamily="34" charset="-122"/>
                <a:cs typeface="Calibri" pitchFamily="34" charset="-120"/>
              </a:rPr>
              <a:t>Manual deterministic + LLM judge + human review</a:t>
            </a:r>
            <a:endParaRPr lang="en-US" sz="1300" dirty="0"/>
          </a:p>
        </p:txBody>
      </p:sp>
      <p:sp>
        <p:nvSpPr>
          <p:cNvPr id="31" name="Text 23"/>
          <p:cNvSpPr/>
          <p:nvPr/>
        </p:nvSpPr>
        <p:spPr>
          <a:xfrm>
            <a:off x="11365992" y="6400800"/>
            <a:ext cx="457200" cy="274320"/>
          </a:xfrm>
          <a:prstGeom prst="rect">
            <a:avLst/>
          </a:prstGeom>
          <a:noFill/>
          <a:ln/>
        </p:spPr>
        <p:txBody>
          <a:bodyPr wrap="square"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4</a:t>
            </a:r>
            <a:endParaRPr lang="en-US" sz="1000" dirty="0"/>
          </a:p>
        </p:txBody>
      </p:sp>
      <p:sp>
        <p:nvSpPr>
          <p:cNvPr id="32" name="Text 24"/>
          <p:cNvSpPr/>
          <p:nvPr/>
        </p:nvSpPr>
        <p:spPr>
          <a:xfrm>
            <a:off x="566928" y="6400800"/>
            <a:ext cx="3657600" cy="274320"/>
          </a:xfrm>
          <a:prstGeom prst="rect">
            <a:avLst/>
          </a:prstGeom>
          <a:noFill/>
          <a:ln/>
        </p:spPr>
        <p:txBody>
          <a:bodyPr wrap="square" rtlCol="0" anchor="ctr"/>
          <a:lstStyle/>
          <a:p>
            <a:pPr marL="0" indent="0" algn="l">
              <a:buNone/>
            </a:pPr>
            <a:r>
              <a:rPr lang="en-US" sz="1000" dirty="0">
                <a:solidFill>
                  <a:srgbClr val="64748B"/>
                </a:solidFill>
                <a:latin typeface="Calibri" pitchFamily="34" charset="0"/>
                <a:ea typeface="Calibri" pitchFamily="34" charset="-122"/>
                <a:cs typeface="Calibri" pitchFamily="34" charset="-120"/>
              </a:rPr>
              <a:t>SentinelMesh</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57200"/>
            <a:ext cx="566928" cy="566928"/>
          </a:xfrm>
          <a:prstGeom prst="ellipse">
            <a:avLst/>
          </a:prstGeom>
          <a:solidFill>
            <a:srgbClr val="0E1726"/>
          </a:solidFill>
          <a:ln/>
        </p:spPr>
      </p:sp>
      <p:pic>
        <p:nvPicPr>
          <p:cNvPr id="3" name="Image 0" descr="preencoded.png"/>
          <p:cNvPicPr>
            <a:picLocks noChangeAspect="1"/>
          </p:cNvPicPr>
          <p:nvPr/>
        </p:nvPicPr>
        <p:blipFill>
          <a:blip r:embed="rId3"/>
          <a:stretch>
            <a:fillRect/>
          </a:stretch>
        </p:blipFill>
        <p:spPr>
          <a:xfrm>
            <a:off x="704088" y="594360"/>
            <a:ext cx="292608" cy="292608"/>
          </a:xfrm>
          <a:prstGeom prst="rect">
            <a:avLst/>
          </a:prstGeom>
        </p:spPr>
      </p:pic>
      <p:sp>
        <p:nvSpPr>
          <p:cNvPr id="4" name="Text 1"/>
          <p:cNvSpPr/>
          <p:nvPr/>
        </p:nvSpPr>
        <p:spPr>
          <a:xfrm>
            <a:off x="1298448" y="457200"/>
            <a:ext cx="9144000" cy="274320"/>
          </a:xfrm>
          <a:prstGeom prst="rect">
            <a:avLst/>
          </a:prstGeom>
          <a:noFill/>
          <a:ln/>
        </p:spPr>
        <p:txBody>
          <a:bodyPr wrap="square" rtlCol="0" anchor="ctr"/>
          <a:lstStyle/>
          <a:p>
            <a:pPr marL="0" indent="0">
              <a:buNone/>
            </a:pPr>
            <a:r>
              <a:rPr lang="en-US" sz="1200" b="1" kern="0" spc="300" dirty="0">
                <a:solidFill>
                  <a:srgbClr val="0E7490"/>
                </a:solidFill>
                <a:latin typeface="Calibri" pitchFamily="34" charset="0"/>
                <a:ea typeface="Calibri" pitchFamily="34" charset="-122"/>
                <a:cs typeface="Calibri" pitchFamily="34" charset="-120"/>
              </a:rPr>
              <a:t>LAYER 1 — DATA PIPELINE</a:t>
            </a:r>
            <a:endParaRPr lang="en-US" sz="1200" dirty="0"/>
          </a:p>
        </p:txBody>
      </p:sp>
      <p:sp>
        <p:nvSpPr>
          <p:cNvPr id="5" name="Text 2"/>
          <p:cNvSpPr/>
          <p:nvPr/>
        </p:nvSpPr>
        <p:spPr>
          <a:xfrm>
            <a:off x="1298448" y="694944"/>
            <a:ext cx="10341864" cy="502920"/>
          </a:xfrm>
          <a:prstGeom prst="rect">
            <a:avLst/>
          </a:prstGeom>
          <a:noFill/>
          <a:ln/>
        </p:spPr>
        <p:txBody>
          <a:bodyPr wrap="square" rtlCol="0" anchor="ctr"/>
          <a:lstStyle/>
          <a:p>
            <a:pPr marL="0" indent="0">
              <a:buNone/>
            </a:pPr>
            <a:r>
              <a:rPr lang="en-US" sz="2800" b="1" dirty="0">
                <a:solidFill>
                  <a:srgbClr val="1E293B"/>
                </a:solidFill>
                <a:latin typeface="Cambria" pitchFamily="34" charset="0"/>
                <a:ea typeface="Cambria" pitchFamily="34" charset="-122"/>
                <a:cs typeface="Cambria" pitchFamily="34" charset="-120"/>
              </a:rPr>
              <a:t>From raw flows to readable alerts</a:t>
            </a:r>
            <a:endParaRPr lang="en-US" sz="2800" dirty="0"/>
          </a:p>
        </p:txBody>
      </p:sp>
      <p:sp>
        <p:nvSpPr>
          <p:cNvPr id="6" name="Shape 3"/>
          <p:cNvSpPr/>
          <p:nvPr/>
        </p:nvSpPr>
        <p:spPr>
          <a:xfrm>
            <a:off x="566928" y="1600200"/>
            <a:ext cx="5715000" cy="1078992"/>
          </a:xfrm>
          <a:prstGeom prst="roundRect">
            <a:avLst>
              <a:gd name="adj" fmla="val 6780"/>
            </a:avLst>
          </a:prstGeom>
          <a:solidFill>
            <a:srgbClr val="FFFFFF"/>
          </a:solidFill>
          <a:ln w="12700">
            <a:solidFill>
              <a:srgbClr val="E2E8F0"/>
            </a:solidFill>
            <a:prstDash val="solid"/>
          </a:ln>
          <a:effectLst>
            <a:outerShdw blurRad="88900" dist="38100" dir="5400000" algn="bl" rotWithShape="0">
              <a:srgbClr val="000000">
                <a:alpha val="14000"/>
              </a:srgbClr>
            </a:outerShdw>
          </a:effectLst>
        </p:spPr>
      </p:sp>
      <p:sp>
        <p:nvSpPr>
          <p:cNvPr id="7" name="Shape 4"/>
          <p:cNvSpPr/>
          <p:nvPr/>
        </p:nvSpPr>
        <p:spPr>
          <a:xfrm>
            <a:off x="749808" y="1874520"/>
            <a:ext cx="530352" cy="530352"/>
          </a:xfrm>
          <a:prstGeom prst="ellipse">
            <a:avLst/>
          </a:prstGeom>
          <a:solidFill>
            <a:srgbClr val="0E1726"/>
          </a:solidFill>
          <a:ln/>
        </p:spPr>
      </p:sp>
      <p:pic>
        <p:nvPicPr>
          <p:cNvPr id="8" name="Image 1" descr="preencoded.png"/>
          <p:cNvPicPr>
            <a:picLocks noChangeAspect="1"/>
          </p:cNvPicPr>
          <p:nvPr/>
        </p:nvPicPr>
        <p:blipFill>
          <a:blip r:embed="rId3"/>
          <a:stretch>
            <a:fillRect/>
          </a:stretch>
        </p:blipFill>
        <p:spPr>
          <a:xfrm>
            <a:off x="877824" y="2002536"/>
            <a:ext cx="274320" cy="274320"/>
          </a:xfrm>
          <a:prstGeom prst="rect">
            <a:avLst/>
          </a:prstGeom>
        </p:spPr>
      </p:pic>
      <p:sp>
        <p:nvSpPr>
          <p:cNvPr id="9" name="Text 5"/>
          <p:cNvSpPr/>
          <p:nvPr/>
        </p:nvSpPr>
        <p:spPr>
          <a:xfrm>
            <a:off x="1435608" y="1728216"/>
            <a:ext cx="4709160" cy="310896"/>
          </a:xfrm>
          <a:prstGeom prst="rect">
            <a:avLst/>
          </a:prstGeom>
          <a:noFill/>
          <a:ln/>
        </p:spPr>
        <p:txBody>
          <a:bodyPr wrap="square" rtlCol="0" anchor="ctr"/>
          <a:lstStyle/>
          <a:p>
            <a:pPr marL="0" indent="0">
              <a:buNone/>
            </a:pPr>
            <a:r>
              <a:rPr lang="en-US" sz="1500" b="1" dirty="0">
                <a:solidFill>
                  <a:srgbClr val="0E7490"/>
                </a:solidFill>
                <a:latin typeface="Cambria" pitchFamily="34" charset="0"/>
                <a:ea typeface="Cambria" pitchFamily="34" charset="-122"/>
                <a:cs typeface="Cambria" pitchFamily="34" charset="-120"/>
              </a:rPr>
              <a:t>Source</a:t>
            </a:r>
            <a:endParaRPr lang="en-US" sz="1500" dirty="0"/>
          </a:p>
        </p:txBody>
      </p:sp>
      <p:sp>
        <p:nvSpPr>
          <p:cNvPr id="10" name="Text 6"/>
          <p:cNvSpPr/>
          <p:nvPr/>
        </p:nvSpPr>
        <p:spPr>
          <a:xfrm>
            <a:off x="1435608" y="2020824"/>
            <a:ext cx="4663440" cy="603504"/>
          </a:xfrm>
          <a:prstGeom prst="rect">
            <a:avLst/>
          </a:prstGeom>
          <a:noFill/>
          <a:ln/>
        </p:spPr>
        <p:txBody>
          <a:bodyPr wrap="square" rtlCol="0" anchor="t"/>
          <a:lstStyle/>
          <a:p>
            <a:pPr marL="0" indent="0">
              <a:buNone/>
            </a:pPr>
            <a:r>
              <a:rPr lang="en-US" sz="1250" dirty="0">
                <a:solidFill>
                  <a:srgbClr val="1E293B"/>
                </a:solidFill>
                <a:latin typeface="Calibri" pitchFamily="34" charset="0"/>
                <a:ea typeface="Calibri" pitchFamily="34" charset="-122"/>
                <a:cs typeface="Calibri" pitchFamily="34" charset="-120"/>
              </a:rPr>
              <a:t>CIC-IoT-2023 subset — 34 labelled attack types across IoT network flows.</a:t>
            </a:r>
            <a:endParaRPr lang="en-US" sz="1250" dirty="0"/>
          </a:p>
        </p:txBody>
      </p:sp>
      <p:sp>
        <p:nvSpPr>
          <p:cNvPr id="11" name="Shape 7"/>
          <p:cNvSpPr/>
          <p:nvPr/>
        </p:nvSpPr>
        <p:spPr>
          <a:xfrm>
            <a:off x="566928" y="2788920"/>
            <a:ext cx="5715000" cy="1078992"/>
          </a:xfrm>
          <a:prstGeom prst="roundRect">
            <a:avLst>
              <a:gd name="adj" fmla="val 6780"/>
            </a:avLst>
          </a:prstGeom>
          <a:solidFill>
            <a:srgbClr val="FFFFFF"/>
          </a:solidFill>
          <a:ln w="12700">
            <a:solidFill>
              <a:srgbClr val="E2E8F0"/>
            </a:solidFill>
            <a:prstDash val="solid"/>
          </a:ln>
          <a:effectLst>
            <a:outerShdw blurRad="88900" dist="38100" dir="5400000" algn="bl" rotWithShape="0">
              <a:srgbClr val="000000">
                <a:alpha val="14000"/>
              </a:srgbClr>
            </a:outerShdw>
          </a:effectLst>
        </p:spPr>
      </p:sp>
      <p:sp>
        <p:nvSpPr>
          <p:cNvPr id="12" name="Shape 8"/>
          <p:cNvSpPr/>
          <p:nvPr/>
        </p:nvSpPr>
        <p:spPr>
          <a:xfrm>
            <a:off x="749808" y="3063240"/>
            <a:ext cx="530352" cy="530352"/>
          </a:xfrm>
          <a:prstGeom prst="ellipse">
            <a:avLst/>
          </a:prstGeom>
          <a:solidFill>
            <a:srgbClr val="0E1726"/>
          </a:solidFill>
          <a:ln/>
        </p:spPr>
      </p:sp>
      <p:pic>
        <p:nvPicPr>
          <p:cNvPr id="13" name="Image 2" descr="preencoded.png"/>
          <p:cNvPicPr>
            <a:picLocks noChangeAspect="1"/>
          </p:cNvPicPr>
          <p:nvPr/>
        </p:nvPicPr>
        <p:blipFill>
          <a:blip r:embed="rId4"/>
          <a:stretch>
            <a:fillRect/>
          </a:stretch>
        </p:blipFill>
        <p:spPr>
          <a:xfrm>
            <a:off x="877824" y="3191256"/>
            <a:ext cx="274320" cy="274320"/>
          </a:xfrm>
          <a:prstGeom prst="rect">
            <a:avLst/>
          </a:prstGeom>
        </p:spPr>
      </p:pic>
      <p:sp>
        <p:nvSpPr>
          <p:cNvPr id="14" name="Text 9"/>
          <p:cNvSpPr/>
          <p:nvPr/>
        </p:nvSpPr>
        <p:spPr>
          <a:xfrm>
            <a:off x="1435608" y="2916936"/>
            <a:ext cx="4709160" cy="310896"/>
          </a:xfrm>
          <a:prstGeom prst="rect">
            <a:avLst/>
          </a:prstGeom>
          <a:noFill/>
          <a:ln/>
        </p:spPr>
        <p:txBody>
          <a:bodyPr wrap="square" rtlCol="0" anchor="ctr"/>
          <a:lstStyle/>
          <a:p>
            <a:pPr marL="0" indent="0">
              <a:buNone/>
            </a:pPr>
            <a:r>
              <a:rPr lang="en-US" sz="1500" b="1" dirty="0">
                <a:solidFill>
                  <a:srgbClr val="0E7490"/>
                </a:solidFill>
                <a:latin typeface="Cambria" pitchFamily="34" charset="0"/>
                <a:ea typeface="Cambria" pitchFamily="34" charset="-122"/>
                <a:cs typeface="Cambria" pitchFamily="34" charset="-120"/>
              </a:rPr>
              <a:t>Stratified sample</a:t>
            </a:r>
            <a:endParaRPr lang="en-US" sz="1500" dirty="0"/>
          </a:p>
        </p:txBody>
      </p:sp>
      <p:sp>
        <p:nvSpPr>
          <p:cNvPr id="15" name="Text 10"/>
          <p:cNvSpPr/>
          <p:nvPr/>
        </p:nvSpPr>
        <p:spPr>
          <a:xfrm>
            <a:off x="1435608" y="3209544"/>
            <a:ext cx="4663440" cy="603504"/>
          </a:xfrm>
          <a:prstGeom prst="rect">
            <a:avLst/>
          </a:prstGeom>
          <a:noFill/>
          <a:ln/>
        </p:spPr>
        <p:txBody>
          <a:bodyPr wrap="square" rtlCol="0" anchor="t"/>
          <a:lstStyle/>
          <a:p>
            <a:pPr marL="0" indent="0">
              <a:buNone/>
            </a:pPr>
            <a:r>
              <a:rPr lang="en-US" sz="1250" dirty="0">
                <a:solidFill>
                  <a:srgbClr val="1E293B"/>
                </a:solidFill>
                <a:latin typeface="Calibri" pitchFamily="34" charset="0"/>
                <a:ea typeface="Calibri" pitchFamily="34" charset="-122"/>
                <a:cs typeface="Calibri" pitchFamily="34" charset="-120"/>
              </a:rPr>
              <a:t>Up to 5 rows per label so rare attacks aren't drowned out by common floods.</a:t>
            </a:r>
            <a:endParaRPr lang="en-US" sz="1250" dirty="0"/>
          </a:p>
        </p:txBody>
      </p:sp>
      <p:sp>
        <p:nvSpPr>
          <p:cNvPr id="16" name="Shape 11"/>
          <p:cNvSpPr/>
          <p:nvPr/>
        </p:nvSpPr>
        <p:spPr>
          <a:xfrm>
            <a:off x="566928" y="3977640"/>
            <a:ext cx="5715000" cy="1078992"/>
          </a:xfrm>
          <a:prstGeom prst="roundRect">
            <a:avLst>
              <a:gd name="adj" fmla="val 6780"/>
            </a:avLst>
          </a:prstGeom>
          <a:solidFill>
            <a:srgbClr val="FFFFFF"/>
          </a:solidFill>
          <a:ln w="12700">
            <a:solidFill>
              <a:srgbClr val="E2E8F0"/>
            </a:solidFill>
            <a:prstDash val="solid"/>
          </a:ln>
          <a:effectLst>
            <a:outerShdw blurRad="88900" dist="38100" dir="5400000" algn="bl" rotWithShape="0">
              <a:srgbClr val="000000">
                <a:alpha val="14000"/>
              </a:srgbClr>
            </a:outerShdw>
          </a:effectLst>
        </p:spPr>
      </p:sp>
      <p:sp>
        <p:nvSpPr>
          <p:cNvPr id="17" name="Shape 12"/>
          <p:cNvSpPr/>
          <p:nvPr/>
        </p:nvSpPr>
        <p:spPr>
          <a:xfrm>
            <a:off x="749808" y="4251960"/>
            <a:ext cx="530352" cy="530352"/>
          </a:xfrm>
          <a:prstGeom prst="ellipse">
            <a:avLst/>
          </a:prstGeom>
          <a:solidFill>
            <a:srgbClr val="0E1726"/>
          </a:solidFill>
          <a:ln/>
        </p:spPr>
      </p:sp>
      <p:pic>
        <p:nvPicPr>
          <p:cNvPr id="18" name="Image 3" descr="preencoded.png"/>
          <p:cNvPicPr>
            <a:picLocks noChangeAspect="1"/>
          </p:cNvPicPr>
          <p:nvPr/>
        </p:nvPicPr>
        <p:blipFill>
          <a:blip r:embed="rId5"/>
          <a:stretch>
            <a:fillRect/>
          </a:stretch>
        </p:blipFill>
        <p:spPr>
          <a:xfrm>
            <a:off x="877824" y="4379976"/>
            <a:ext cx="274320" cy="274320"/>
          </a:xfrm>
          <a:prstGeom prst="rect">
            <a:avLst/>
          </a:prstGeom>
        </p:spPr>
      </p:pic>
      <p:sp>
        <p:nvSpPr>
          <p:cNvPr id="19" name="Text 13"/>
          <p:cNvSpPr/>
          <p:nvPr/>
        </p:nvSpPr>
        <p:spPr>
          <a:xfrm>
            <a:off x="1435608" y="4105656"/>
            <a:ext cx="4709160" cy="310896"/>
          </a:xfrm>
          <a:prstGeom prst="rect">
            <a:avLst/>
          </a:prstGeom>
          <a:noFill/>
          <a:ln/>
        </p:spPr>
        <p:txBody>
          <a:bodyPr wrap="square" rtlCol="0" anchor="ctr"/>
          <a:lstStyle/>
          <a:p>
            <a:pPr marL="0" indent="0">
              <a:buNone/>
            </a:pPr>
            <a:r>
              <a:rPr lang="en-US" sz="1500" b="1" dirty="0">
                <a:solidFill>
                  <a:srgbClr val="0E7490"/>
                </a:solidFill>
                <a:latin typeface="Cambria" pitchFamily="34" charset="0"/>
                <a:ea typeface="Cambria" pitchFamily="34" charset="-122"/>
                <a:cs typeface="Cambria" pitchFamily="34" charset="-120"/>
              </a:rPr>
              <a:t>Alert rendering</a:t>
            </a:r>
            <a:endParaRPr lang="en-US" sz="1500" dirty="0"/>
          </a:p>
        </p:txBody>
      </p:sp>
      <p:sp>
        <p:nvSpPr>
          <p:cNvPr id="20" name="Text 14"/>
          <p:cNvSpPr/>
          <p:nvPr/>
        </p:nvSpPr>
        <p:spPr>
          <a:xfrm>
            <a:off x="1435608" y="4398264"/>
            <a:ext cx="4663440" cy="603504"/>
          </a:xfrm>
          <a:prstGeom prst="rect">
            <a:avLst/>
          </a:prstGeom>
          <a:noFill/>
          <a:ln/>
        </p:spPr>
        <p:txBody>
          <a:bodyPr wrap="square" rtlCol="0" anchor="t"/>
          <a:lstStyle/>
          <a:p>
            <a:pPr marL="0" indent="0">
              <a:buNone/>
            </a:pPr>
            <a:r>
              <a:rPr lang="en-US" sz="1250" dirty="0">
                <a:solidFill>
                  <a:srgbClr val="1E293B"/>
                </a:solidFill>
                <a:latin typeface="Calibri" pitchFamily="34" charset="0"/>
                <a:ea typeface="Calibri" pitchFamily="34" charset="-122"/>
                <a:cs typeface="Calibri" pitchFamily="34" charset="-120"/>
              </a:rPr>
              <a:t>Each flow row becomes plain-English text: protocol, packets/sec, packet counts, TCP flags, TTL, inter-arrival time.</a:t>
            </a:r>
            <a:endParaRPr lang="en-US" sz="1250" dirty="0"/>
          </a:p>
        </p:txBody>
      </p:sp>
      <p:sp>
        <p:nvSpPr>
          <p:cNvPr id="21" name="Shape 15"/>
          <p:cNvSpPr/>
          <p:nvPr/>
        </p:nvSpPr>
        <p:spPr>
          <a:xfrm>
            <a:off x="566928" y="5166360"/>
            <a:ext cx="5715000" cy="1078992"/>
          </a:xfrm>
          <a:prstGeom prst="roundRect">
            <a:avLst>
              <a:gd name="adj" fmla="val 6780"/>
            </a:avLst>
          </a:prstGeom>
          <a:solidFill>
            <a:srgbClr val="FFFFFF"/>
          </a:solidFill>
          <a:ln w="12700">
            <a:solidFill>
              <a:srgbClr val="E2E8F0"/>
            </a:solidFill>
            <a:prstDash val="solid"/>
          </a:ln>
          <a:effectLst>
            <a:outerShdw blurRad="88900" dist="38100" dir="5400000" algn="bl" rotWithShape="0">
              <a:srgbClr val="000000">
                <a:alpha val="14000"/>
              </a:srgbClr>
            </a:outerShdw>
          </a:effectLst>
        </p:spPr>
      </p:sp>
      <p:sp>
        <p:nvSpPr>
          <p:cNvPr id="22" name="Shape 16"/>
          <p:cNvSpPr/>
          <p:nvPr/>
        </p:nvSpPr>
        <p:spPr>
          <a:xfrm>
            <a:off x="749808" y="5440680"/>
            <a:ext cx="530352" cy="530352"/>
          </a:xfrm>
          <a:prstGeom prst="ellipse">
            <a:avLst/>
          </a:prstGeom>
          <a:solidFill>
            <a:srgbClr val="0E1726"/>
          </a:solidFill>
          <a:ln/>
        </p:spPr>
      </p:sp>
      <p:pic>
        <p:nvPicPr>
          <p:cNvPr id="23" name="Image 4" descr="preencoded.png"/>
          <p:cNvPicPr>
            <a:picLocks noChangeAspect="1"/>
          </p:cNvPicPr>
          <p:nvPr/>
        </p:nvPicPr>
        <p:blipFill>
          <a:blip r:embed="rId6"/>
          <a:stretch>
            <a:fillRect/>
          </a:stretch>
        </p:blipFill>
        <p:spPr>
          <a:xfrm>
            <a:off x="877824" y="5568696"/>
            <a:ext cx="274320" cy="274320"/>
          </a:xfrm>
          <a:prstGeom prst="rect">
            <a:avLst/>
          </a:prstGeom>
        </p:spPr>
      </p:pic>
      <p:sp>
        <p:nvSpPr>
          <p:cNvPr id="24" name="Text 17"/>
          <p:cNvSpPr/>
          <p:nvPr/>
        </p:nvSpPr>
        <p:spPr>
          <a:xfrm>
            <a:off x="1435608" y="5294376"/>
            <a:ext cx="4709160" cy="310896"/>
          </a:xfrm>
          <a:prstGeom prst="rect">
            <a:avLst/>
          </a:prstGeom>
          <a:noFill/>
          <a:ln/>
        </p:spPr>
        <p:txBody>
          <a:bodyPr wrap="square" rtlCol="0" anchor="ctr"/>
          <a:lstStyle/>
          <a:p>
            <a:pPr marL="0" indent="0">
              <a:buNone/>
            </a:pPr>
            <a:r>
              <a:rPr lang="en-US" sz="1500" b="1" dirty="0">
                <a:solidFill>
                  <a:srgbClr val="0E7490"/>
                </a:solidFill>
                <a:latin typeface="Cambria" pitchFamily="34" charset="0"/>
                <a:ea typeface="Cambria" pitchFamily="34" charset="-122"/>
                <a:cs typeface="Cambria" pitchFamily="34" charset="-120"/>
              </a:rPr>
              <a:t>Governed tables</a:t>
            </a:r>
            <a:endParaRPr lang="en-US" sz="1500" dirty="0"/>
          </a:p>
        </p:txBody>
      </p:sp>
      <p:sp>
        <p:nvSpPr>
          <p:cNvPr id="25" name="Text 18"/>
          <p:cNvSpPr/>
          <p:nvPr/>
        </p:nvSpPr>
        <p:spPr>
          <a:xfrm>
            <a:off x="1435608" y="5586984"/>
            <a:ext cx="4663440" cy="603504"/>
          </a:xfrm>
          <a:prstGeom prst="rect">
            <a:avLst/>
          </a:prstGeom>
          <a:noFill/>
          <a:ln/>
        </p:spPr>
        <p:txBody>
          <a:bodyPr wrap="square" rtlCol="0" anchor="t"/>
          <a:lstStyle/>
          <a:p>
            <a:pPr marL="0" indent="0">
              <a:buNone/>
            </a:pPr>
            <a:r>
              <a:rPr lang="en-US" sz="1250" dirty="0">
                <a:solidFill>
                  <a:srgbClr val="1E293B"/>
                </a:solidFill>
                <a:latin typeface="Calibri" pitchFamily="34" charset="0"/>
                <a:ea typeface="Calibri" pitchFamily="34" charset="-122"/>
                <a:cs typeface="Calibri" pitchFamily="34" charset="-120"/>
              </a:rPr>
              <a:t>Saved to Unity Catalog: cic_alerts_sample, mitre_reference, cic_label_family_map.</a:t>
            </a:r>
            <a:endParaRPr lang="en-US" sz="1250" dirty="0"/>
          </a:p>
        </p:txBody>
      </p:sp>
      <p:sp>
        <p:nvSpPr>
          <p:cNvPr id="26" name="Shape 19"/>
          <p:cNvSpPr/>
          <p:nvPr/>
        </p:nvSpPr>
        <p:spPr>
          <a:xfrm>
            <a:off x="6629400" y="1600200"/>
            <a:ext cx="4983480" cy="4114800"/>
          </a:xfrm>
          <a:prstGeom prst="roundRect">
            <a:avLst>
              <a:gd name="adj" fmla="val 1778"/>
            </a:avLst>
          </a:prstGeom>
          <a:solidFill>
            <a:srgbClr val="0E1726"/>
          </a:solidFill>
          <a:ln w="12700">
            <a:solidFill>
              <a:srgbClr val="E2E8F0"/>
            </a:solidFill>
            <a:prstDash val="solid"/>
          </a:ln>
          <a:effectLst>
            <a:outerShdw blurRad="88900" dist="38100" dir="5400000" algn="bl" rotWithShape="0">
              <a:srgbClr val="000000">
                <a:alpha val="14000"/>
              </a:srgbClr>
            </a:outerShdw>
          </a:effectLst>
        </p:spPr>
      </p:sp>
      <p:sp>
        <p:nvSpPr>
          <p:cNvPr id="27" name="Text 20"/>
          <p:cNvSpPr/>
          <p:nvPr/>
        </p:nvSpPr>
        <p:spPr>
          <a:xfrm>
            <a:off x="6903720" y="1828800"/>
            <a:ext cx="4480560" cy="365760"/>
          </a:xfrm>
          <a:prstGeom prst="rect">
            <a:avLst/>
          </a:prstGeom>
          <a:noFill/>
          <a:ln/>
        </p:spPr>
        <p:txBody>
          <a:bodyPr wrap="square" rtlCol="0" anchor="ctr"/>
          <a:lstStyle/>
          <a:p>
            <a:pPr marL="0" indent="0">
              <a:buNone/>
            </a:pPr>
            <a:r>
              <a:rPr lang="en-US" sz="1400" b="1" kern="0" spc="200" dirty="0">
                <a:solidFill>
                  <a:srgbClr val="06B6D4"/>
                </a:solidFill>
                <a:latin typeface="Calibri" pitchFamily="34" charset="0"/>
                <a:ea typeface="Calibri" pitchFamily="34" charset="-122"/>
                <a:cs typeface="Calibri" pitchFamily="34" charset="-120"/>
              </a:rPr>
              <a:t>Key design choice</a:t>
            </a:r>
            <a:endParaRPr lang="en-US" sz="1400" dirty="0"/>
          </a:p>
        </p:txBody>
      </p:sp>
      <p:sp>
        <p:nvSpPr>
          <p:cNvPr id="28" name="Text 21"/>
          <p:cNvSpPr/>
          <p:nvPr/>
        </p:nvSpPr>
        <p:spPr>
          <a:xfrm>
            <a:off x="6903720" y="2240280"/>
            <a:ext cx="4480560" cy="640080"/>
          </a:xfrm>
          <a:prstGeom prst="rect">
            <a:avLst/>
          </a:prstGeom>
          <a:noFill/>
          <a:ln/>
        </p:spPr>
        <p:txBody>
          <a:bodyPr wrap="square"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The agent never sees the label.</a:t>
            </a:r>
            <a:endParaRPr lang="en-US" sz="2200" dirty="0"/>
          </a:p>
        </p:txBody>
      </p:sp>
      <p:sp>
        <p:nvSpPr>
          <p:cNvPr id="29" name="Text 22"/>
          <p:cNvSpPr/>
          <p:nvPr/>
        </p:nvSpPr>
        <p:spPr>
          <a:xfrm>
            <a:off x="6903720" y="2971800"/>
            <a:ext cx="4526280" cy="2606040"/>
          </a:xfrm>
          <a:prstGeom prst="rect">
            <a:avLst/>
          </a:prstGeom>
          <a:noFill/>
          <a:ln/>
        </p:spPr>
        <p:txBody>
          <a:bodyPr wrap="square" rtlCol="0" anchor="t"/>
          <a:lstStyle/>
          <a:p>
            <a:pPr marL="0" indent="0">
              <a:lnSpc>
                <a:spcPct val="110000"/>
              </a:lnSpc>
              <a:buNone/>
            </a:pPr>
            <a:r>
              <a:rPr lang="en-US" sz="1300" dirty="0">
                <a:solidFill>
                  <a:srgbClr val="CBE7F2"/>
                </a:solidFill>
                <a:latin typeface="Calibri" pitchFamily="34" charset="0"/>
                <a:ea typeface="Calibri" pitchFamily="34" charset="-122"/>
                <a:cs typeface="Calibri" pitchFamily="34" charset="-120"/>
              </a:rPr>
              <a:t>The true attack family is held out of the alert text and used only for evaluation.</a:t>
            </a:r>
            <a:endParaRPr lang="en-US" sz="1300" dirty="0"/>
          </a:p>
          <a:p>
            <a:pPr marL="0" indent="0">
              <a:lnSpc>
                <a:spcPct val="110000"/>
              </a:lnSpc>
              <a:buNone/>
            </a:pPr>
            <a:endParaRPr lang="en-US" sz="1300" dirty="0"/>
          </a:p>
          <a:p>
            <a:pPr marL="0" indent="0">
              <a:lnSpc>
                <a:spcPct val="110000"/>
              </a:lnSpc>
              <a:buNone/>
            </a:pPr>
            <a:r>
              <a:rPr lang="en-US" sz="1300" b="1" dirty="0">
                <a:solidFill>
                  <a:srgbClr val="06B6D4"/>
                </a:solidFill>
                <a:latin typeface="Calibri" pitchFamily="34" charset="0"/>
                <a:ea typeface="Calibri" pitchFamily="34" charset="-122"/>
                <a:cs typeface="Calibri" pitchFamily="34" charset="-120"/>
              </a:rPr>
              <a:t>Example alert:</a:t>
            </a:r>
            <a:endParaRPr lang="en-US" sz="1300" dirty="0"/>
          </a:p>
          <a:p>
            <a:pPr marL="0" indent="0">
              <a:lnSpc>
                <a:spcPct val="110000"/>
              </a:lnSpc>
              <a:buNone/>
            </a:pPr>
            <a:r>
              <a:rPr lang="en-US" sz="1300" i="1" dirty="0">
                <a:solidFill>
                  <a:srgbClr val="E2E8F0"/>
                </a:solidFill>
                <a:latin typeface="Calibri" pitchFamily="34" charset="0"/>
                <a:ea typeface="Calibri" pitchFamily="34" charset="-122"/>
                <a:cs typeface="Calibri" pitchFamily="34" charset="-120"/>
              </a:rPr>
              <a:t>“ICMP-dominant traffic, 16,529 packets/sec, uniform packet sizes, no TCP flags, inter-arrival time 0.00006s.”</a:t>
            </a:r>
            <a:endParaRPr lang="en-US" sz="1300" dirty="0"/>
          </a:p>
        </p:txBody>
      </p:sp>
      <p:sp>
        <p:nvSpPr>
          <p:cNvPr id="30" name="Text 23"/>
          <p:cNvSpPr/>
          <p:nvPr/>
        </p:nvSpPr>
        <p:spPr>
          <a:xfrm>
            <a:off x="11365992" y="6400800"/>
            <a:ext cx="457200" cy="274320"/>
          </a:xfrm>
          <a:prstGeom prst="rect">
            <a:avLst/>
          </a:prstGeom>
          <a:noFill/>
          <a:ln/>
        </p:spPr>
        <p:txBody>
          <a:bodyPr wrap="square"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5</a:t>
            </a:r>
            <a:endParaRPr lang="en-US" sz="1000" dirty="0"/>
          </a:p>
        </p:txBody>
      </p:sp>
      <p:sp>
        <p:nvSpPr>
          <p:cNvPr id="31" name="Text 24"/>
          <p:cNvSpPr/>
          <p:nvPr/>
        </p:nvSpPr>
        <p:spPr>
          <a:xfrm>
            <a:off x="566928" y="6400800"/>
            <a:ext cx="3657600" cy="274320"/>
          </a:xfrm>
          <a:prstGeom prst="rect">
            <a:avLst/>
          </a:prstGeom>
          <a:noFill/>
          <a:ln/>
        </p:spPr>
        <p:txBody>
          <a:bodyPr wrap="square" rtlCol="0" anchor="ctr"/>
          <a:lstStyle/>
          <a:p>
            <a:pPr marL="0" indent="0" algn="l">
              <a:buNone/>
            </a:pPr>
            <a:r>
              <a:rPr lang="en-US" sz="1000" dirty="0">
                <a:solidFill>
                  <a:srgbClr val="64748B"/>
                </a:solidFill>
                <a:latin typeface="Calibri" pitchFamily="34" charset="0"/>
                <a:ea typeface="Calibri" pitchFamily="34" charset="-122"/>
                <a:cs typeface="Calibri" pitchFamily="34" charset="-120"/>
              </a:rPr>
              <a:t>SentinelMesh</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57200"/>
            <a:ext cx="566928" cy="566928"/>
          </a:xfrm>
          <a:prstGeom prst="ellipse">
            <a:avLst/>
          </a:prstGeom>
          <a:solidFill>
            <a:srgbClr val="0E1726"/>
          </a:solidFill>
          <a:ln/>
        </p:spPr>
      </p:sp>
      <p:pic>
        <p:nvPicPr>
          <p:cNvPr id="3" name="Image 0" descr="preencoded.png"/>
          <p:cNvPicPr>
            <a:picLocks noChangeAspect="1"/>
          </p:cNvPicPr>
          <p:nvPr/>
        </p:nvPicPr>
        <p:blipFill>
          <a:blip r:embed="rId3"/>
          <a:stretch>
            <a:fillRect/>
          </a:stretch>
        </p:blipFill>
        <p:spPr>
          <a:xfrm>
            <a:off x="704088" y="594360"/>
            <a:ext cx="292608" cy="292608"/>
          </a:xfrm>
          <a:prstGeom prst="rect">
            <a:avLst/>
          </a:prstGeom>
        </p:spPr>
      </p:pic>
      <p:sp>
        <p:nvSpPr>
          <p:cNvPr id="4" name="Text 1"/>
          <p:cNvSpPr/>
          <p:nvPr/>
        </p:nvSpPr>
        <p:spPr>
          <a:xfrm>
            <a:off x="1298448" y="457200"/>
            <a:ext cx="9144000" cy="274320"/>
          </a:xfrm>
          <a:prstGeom prst="rect">
            <a:avLst/>
          </a:prstGeom>
          <a:noFill/>
          <a:ln/>
        </p:spPr>
        <p:txBody>
          <a:bodyPr wrap="square" rtlCol="0" anchor="ctr"/>
          <a:lstStyle/>
          <a:p>
            <a:pPr marL="0" indent="0">
              <a:buNone/>
            </a:pPr>
            <a:r>
              <a:rPr lang="en-US" sz="1200" b="1" kern="0" spc="300" dirty="0">
                <a:solidFill>
                  <a:srgbClr val="0E7490"/>
                </a:solidFill>
                <a:latin typeface="Calibri" pitchFamily="34" charset="0"/>
                <a:ea typeface="Calibri" pitchFamily="34" charset="-122"/>
                <a:cs typeface="Calibri" pitchFamily="34" charset="-120"/>
              </a:rPr>
              <a:t>LAYER 2 — THE AGENT</a:t>
            </a:r>
            <a:endParaRPr lang="en-US" sz="1200" dirty="0"/>
          </a:p>
        </p:txBody>
      </p:sp>
      <p:sp>
        <p:nvSpPr>
          <p:cNvPr id="5" name="Text 2"/>
          <p:cNvSpPr/>
          <p:nvPr/>
        </p:nvSpPr>
        <p:spPr>
          <a:xfrm>
            <a:off x="1298448" y="694944"/>
            <a:ext cx="10341864" cy="502920"/>
          </a:xfrm>
          <a:prstGeom prst="rect">
            <a:avLst/>
          </a:prstGeom>
          <a:noFill/>
          <a:ln/>
        </p:spPr>
        <p:txBody>
          <a:bodyPr wrap="square" rtlCol="0" anchor="ctr"/>
          <a:lstStyle/>
          <a:p>
            <a:pPr marL="0" indent="0">
              <a:buNone/>
            </a:pPr>
            <a:r>
              <a:rPr lang="en-US" sz="2800" b="1" dirty="0">
                <a:solidFill>
                  <a:srgbClr val="1E293B"/>
                </a:solidFill>
                <a:latin typeface="Cambria" pitchFamily="34" charset="0"/>
                <a:ea typeface="Cambria" pitchFamily="34" charset="-122"/>
                <a:cs typeface="Cambria" pitchFamily="34" charset="-120"/>
              </a:rPr>
              <a:t>LLM + system prompt + tool-calling loop</a:t>
            </a:r>
            <a:endParaRPr lang="en-US" sz="2800" dirty="0"/>
          </a:p>
        </p:txBody>
      </p:sp>
      <p:sp>
        <p:nvSpPr>
          <p:cNvPr id="6" name="Shape 3"/>
          <p:cNvSpPr/>
          <p:nvPr/>
        </p:nvSpPr>
        <p:spPr>
          <a:xfrm>
            <a:off x="566928" y="1600200"/>
            <a:ext cx="5669280" cy="4069080"/>
          </a:xfrm>
          <a:prstGeom prst="roundRect">
            <a:avLst>
              <a:gd name="adj" fmla="val 1798"/>
            </a:avLst>
          </a:prstGeom>
          <a:solidFill>
            <a:srgbClr val="FFFFFF"/>
          </a:solidFill>
          <a:ln w="12700">
            <a:solidFill>
              <a:srgbClr val="E2E8F0"/>
            </a:solidFill>
            <a:prstDash val="solid"/>
          </a:ln>
          <a:effectLst>
            <a:outerShdw blurRad="88900" dist="38100" dir="5400000" algn="bl" rotWithShape="0">
              <a:srgbClr val="000000">
                <a:alpha val="14000"/>
              </a:srgbClr>
            </a:outerShdw>
          </a:effectLst>
        </p:spPr>
      </p:sp>
      <p:sp>
        <p:nvSpPr>
          <p:cNvPr id="7" name="Text 4"/>
          <p:cNvSpPr/>
          <p:nvPr/>
        </p:nvSpPr>
        <p:spPr>
          <a:xfrm>
            <a:off x="841248" y="1783080"/>
            <a:ext cx="5029200" cy="365760"/>
          </a:xfrm>
          <a:prstGeom prst="rect">
            <a:avLst/>
          </a:prstGeom>
          <a:noFill/>
          <a:ln/>
        </p:spPr>
        <p:txBody>
          <a:bodyPr wrap="square" rtlCol="0" anchor="ctr"/>
          <a:lstStyle/>
          <a:p>
            <a:pPr marL="0" indent="0">
              <a:buNone/>
            </a:pPr>
            <a:r>
              <a:rPr lang="en-US" sz="1600" b="1" dirty="0">
                <a:solidFill>
                  <a:srgbClr val="0E7490"/>
                </a:solidFill>
                <a:latin typeface="Cambria" pitchFamily="34" charset="0"/>
                <a:ea typeface="Cambria" pitchFamily="34" charset="-122"/>
                <a:cs typeface="Cambria" pitchFamily="34" charset="-120"/>
              </a:rPr>
              <a:t>Agent workflow</a:t>
            </a:r>
            <a:endParaRPr lang="en-US" sz="1600" dirty="0"/>
          </a:p>
        </p:txBody>
      </p:sp>
      <p:sp>
        <p:nvSpPr>
          <p:cNvPr id="8" name="Text 5"/>
          <p:cNvSpPr/>
          <p:nvPr/>
        </p:nvSpPr>
        <p:spPr>
          <a:xfrm>
            <a:off x="841248" y="2240280"/>
            <a:ext cx="5120640" cy="3200400"/>
          </a:xfrm>
          <a:prstGeom prst="rect">
            <a:avLst/>
          </a:prstGeom>
          <a:noFill/>
          <a:ln/>
        </p:spPr>
        <p:txBody>
          <a:bodyPr wrap="square" rtlCol="0" anchor="ctr"/>
          <a:lstStyle/>
          <a:p>
            <a:pPr marL="0" indent="0">
              <a:spcAft>
                <a:spcPts val="1200"/>
              </a:spcAft>
              <a:buNone/>
            </a:pPr>
            <a:r>
              <a:rPr lang="en-US" sz="1450" dirty="0">
                <a:solidFill>
                  <a:srgbClr val="1E293B"/>
                </a:solidFill>
                <a:latin typeface="Calibri" pitchFamily="34" charset="0"/>
                <a:ea typeface="Calibri" pitchFamily="34" charset="-122"/>
                <a:cs typeface="Calibri" pitchFamily="34" charset="-120"/>
              </a:rPr>
              <a:t>1.  Read the alert and choose the most likely attack family (10 options).</a:t>
            </a:r>
            <a:endParaRPr lang="en-US" sz="1450" dirty="0"/>
          </a:p>
          <a:p>
            <a:pPr marL="0" indent="0">
              <a:spcAft>
                <a:spcPts val="1200"/>
              </a:spcAft>
              <a:buNone/>
            </a:pPr>
            <a:r>
              <a:rPr lang="en-US" sz="1450" dirty="0">
                <a:solidFill>
                  <a:srgbClr val="1E293B"/>
                </a:solidFill>
                <a:latin typeface="Calibri" pitchFamily="34" charset="0"/>
                <a:ea typeface="Calibri" pitchFamily="34" charset="-122"/>
                <a:cs typeface="Calibri" pitchFamily="34" charset="-120"/>
              </a:rPr>
              <a:t>2.  Call lookup_mitre_context for ATT&amp;CK grounding.</a:t>
            </a:r>
            <a:endParaRPr lang="en-US" sz="1450" dirty="0"/>
          </a:p>
          <a:p>
            <a:pPr marL="0" indent="0">
              <a:spcAft>
                <a:spcPts val="1200"/>
              </a:spcAft>
              <a:buNone/>
            </a:pPr>
            <a:r>
              <a:rPr lang="en-US" sz="1450" dirty="0">
                <a:solidFill>
                  <a:srgbClr val="1E293B"/>
                </a:solidFill>
                <a:latin typeface="Calibri" pitchFamily="34" charset="0"/>
                <a:ea typeface="Calibri" pitchFamily="34" charset="-122"/>
                <a:cs typeface="Calibri" pitchFamily="34" charset="-120"/>
              </a:rPr>
              <a:t>3.  Call score_severity with family + packet rate.</a:t>
            </a:r>
            <a:endParaRPr lang="en-US" sz="1450" dirty="0"/>
          </a:p>
          <a:p>
            <a:pPr marL="0" indent="0">
              <a:spcAft>
                <a:spcPts val="1200"/>
              </a:spcAft>
              <a:buNone/>
            </a:pPr>
            <a:r>
              <a:rPr lang="en-US" sz="1450" dirty="0">
                <a:solidFill>
                  <a:srgbClr val="1E293B"/>
                </a:solidFill>
                <a:latin typeface="Calibri" pitchFamily="34" charset="0"/>
                <a:ea typeface="Calibri" pitchFamily="34" charset="-122"/>
                <a:cs typeface="Calibri" pitchFamily="34" charset="-120"/>
              </a:rPr>
              <a:t>4.  Call recommend_action for an urgency tier + response.</a:t>
            </a:r>
            <a:endParaRPr lang="en-US" sz="1450" dirty="0"/>
          </a:p>
          <a:p>
            <a:pPr marL="0" indent="0">
              <a:spcAft>
                <a:spcPts val="1200"/>
              </a:spcAft>
              <a:buNone/>
            </a:pPr>
            <a:r>
              <a:rPr lang="en-US" sz="1450" dirty="0">
                <a:solidFill>
                  <a:srgbClr val="1E293B"/>
                </a:solidFill>
                <a:latin typeface="Calibri" pitchFamily="34" charset="0"/>
                <a:ea typeface="Calibri" pitchFamily="34" charset="-122"/>
                <a:cs typeface="Calibri" pitchFamily="34" charset="-120"/>
              </a:rPr>
              <a:t>5.  Return a triage summary — awaiting analyst approval.</a:t>
            </a:r>
            <a:endParaRPr lang="en-US" sz="1450" dirty="0"/>
          </a:p>
        </p:txBody>
      </p:sp>
      <p:sp>
        <p:nvSpPr>
          <p:cNvPr id="9" name="Shape 6"/>
          <p:cNvSpPr/>
          <p:nvPr/>
        </p:nvSpPr>
        <p:spPr>
          <a:xfrm>
            <a:off x="6629400" y="1600200"/>
            <a:ext cx="4983480" cy="4069080"/>
          </a:xfrm>
          <a:prstGeom prst="roundRect">
            <a:avLst>
              <a:gd name="adj" fmla="val 1798"/>
            </a:avLst>
          </a:prstGeom>
          <a:solidFill>
            <a:srgbClr val="F4F7FB"/>
          </a:solidFill>
          <a:ln w="12700">
            <a:solidFill>
              <a:srgbClr val="E2E8F0"/>
            </a:solidFill>
            <a:prstDash val="solid"/>
          </a:ln>
          <a:effectLst>
            <a:outerShdw blurRad="88900" dist="38100" dir="5400000" algn="bl" rotWithShape="0">
              <a:srgbClr val="000000">
                <a:alpha val="14000"/>
              </a:srgbClr>
            </a:outerShdw>
          </a:effectLst>
        </p:spPr>
      </p:sp>
      <p:sp>
        <p:nvSpPr>
          <p:cNvPr id="10" name="Text 7"/>
          <p:cNvSpPr/>
          <p:nvPr/>
        </p:nvSpPr>
        <p:spPr>
          <a:xfrm>
            <a:off x="6903720" y="1783080"/>
            <a:ext cx="4480560" cy="365760"/>
          </a:xfrm>
          <a:prstGeom prst="rect">
            <a:avLst/>
          </a:prstGeom>
          <a:noFill/>
          <a:ln/>
        </p:spPr>
        <p:txBody>
          <a:bodyPr wrap="square" rtlCol="0" anchor="ctr"/>
          <a:lstStyle/>
          <a:p>
            <a:pPr marL="0" indent="0">
              <a:buNone/>
            </a:pPr>
            <a:r>
              <a:rPr lang="en-US" sz="1600" b="1" dirty="0">
                <a:solidFill>
                  <a:srgbClr val="0E7490"/>
                </a:solidFill>
                <a:latin typeface="Cambria" pitchFamily="34" charset="0"/>
                <a:ea typeface="Cambria" pitchFamily="34" charset="-122"/>
                <a:cs typeface="Cambria" pitchFamily="34" charset="-120"/>
              </a:rPr>
              <a:t>Built-in guardrails</a:t>
            </a:r>
            <a:endParaRPr lang="en-US" sz="1600" dirty="0"/>
          </a:p>
        </p:txBody>
      </p:sp>
      <p:pic>
        <p:nvPicPr>
          <p:cNvPr id="11" name="Image 1" descr="preencoded.png"/>
          <p:cNvPicPr>
            <a:picLocks noChangeAspect="1"/>
          </p:cNvPicPr>
          <p:nvPr/>
        </p:nvPicPr>
        <p:blipFill>
          <a:blip r:embed="rId4"/>
          <a:stretch>
            <a:fillRect/>
          </a:stretch>
        </p:blipFill>
        <p:spPr>
          <a:xfrm>
            <a:off x="6903720" y="2267712"/>
            <a:ext cx="237744" cy="237744"/>
          </a:xfrm>
          <a:prstGeom prst="rect">
            <a:avLst/>
          </a:prstGeom>
        </p:spPr>
      </p:pic>
      <p:sp>
        <p:nvSpPr>
          <p:cNvPr id="12" name="Text 8"/>
          <p:cNvSpPr/>
          <p:nvPr/>
        </p:nvSpPr>
        <p:spPr>
          <a:xfrm>
            <a:off x="7223760" y="2203704"/>
            <a:ext cx="4206240" cy="274320"/>
          </a:xfrm>
          <a:prstGeom prst="rect">
            <a:avLst/>
          </a:prstGeom>
          <a:noFill/>
          <a:ln/>
        </p:spPr>
        <p:txBody>
          <a:bodyPr wrap="square" rtlCol="0" anchor="ctr"/>
          <a:lstStyle/>
          <a:p>
            <a:pPr marL="0" indent="0">
              <a:buNone/>
            </a:pPr>
            <a:r>
              <a:rPr lang="en-US" sz="1350" b="1" dirty="0">
                <a:solidFill>
                  <a:srgbClr val="1E293B"/>
                </a:solidFill>
                <a:latin typeface="Calibri" pitchFamily="34" charset="0"/>
                <a:ea typeface="Calibri" pitchFamily="34" charset="-122"/>
                <a:cs typeface="Calibri" pitchFamily="34" charset="-120"/>
              </a:rPr>
              <a:t>10 valid families only</a:t>
            </a:r>
            <a:endParaRPr lang="en-US" sz="1350" dirty="0"/>
          </a:p>
        </p:txBody>
      </p:sp>
      <p:sp>
        <p:nvSpPr>
          <p:cNvPr id="13" name="Text 9"/>
          <p:cNvSpPr/>
          <p:nvPr/>
        </p:nvSpPr>
        <p:spPr>
          <a:xfrm>
            <a:off x="7223760" y="2478024"/>
            <a:ext cx="4206240" cy="502920"/>
          </a:xfrm>
          <a:prstGeom prst="rect">
            <a:avLst/>
          </a:prstGeom>
          <a:noFill/>
          <a:ln/>
        </p:spPr>
        <p:txBody>
          <a:bodyPr wrap="square" rtlCol="0" anchor="t"/>
          <a:lstStyle/>
          <a:p>
            <a:pPr marL="0" indent="0">
              <a:buNone/>
            </a:pPr>
            <a:r>
              <a:rPr lang="en-US" sz="1150" dirty="0">
                <a:solidFill>
                  <a:srgbClr val="64748B"/>
                </a:solidFill>
                <a:latin typeface="Calibri" pitchFamily="34" charset="0"/>
                <a:ea typeface="Calibri" pitchFamily="34" charset="-122"/>
                <a:cs typeface="Calibri" pitchFamily="34" charset="-120"/>
              </a:rPr>
              <a:t>DDOS_FLOOD, DOS_FLOOD, MIRAI, RECON, VULNERABILITYSCAN, SPOOFING, BRUTEFORCE, WEB_ATTACK, MALWARE, BENIGN.</a:t>
            </a:r>
            <a:endParaRPr lang="en-US" sz="1150" dirty="0"/>
          </a:p>
        </p:txBody>
      </p:sp>
      <p:pic>
        <p:nvPicPr>
          <p:cNvPr id="14" name="Image 2" descr="preencoded.png"/>
          <p:cNvPicPr>
            <a:picLocks noChangeAspect="1"/>
          </p:cNvPicPr>
          <p:nvPr/>
        </p:nvPicPr>
        <p:blipFill>
          <a:blip r:embed="rId4"/>
          <a:stretch>
            <a:fillRect/>
          </a:stretch>
        </p:blipFill>
        <p:spPr>
          <a:xfrm>
            <a:off x="6903720" y="3108960"/>
            <a:ext cx="237744" cy="237744"/>
          </a:xfrm>
          <a:prstGeom prst="rect">
            <a:avLst/>
          </a:prstGeom>
        </p:spPr>
      </p:pic>
      <p:sp>
        <p:nvSpPr>
          <p:cNvPr id="15" name="Text 10"/>
          <p:cNvSpPr/>
          <p:nvPr/>
        </p:nvSpPr>
        <p:spPr>
          <a:xfrm>
            <a:off x="7223760" y="3044952"/>
            <a:ext cx="4206240" cy="274320"/>
          </a:xfrm>
          <a:prstGeom prst="rect">
            <a:avLst/>
          </a:prstGeom>
          <a:noFill/>
          <a:ln/>
        </p:spPr>
        <p:txBody>
          <a:bodyPr wrap="square" rtlCol="0" anchor="ctr"/>
          <a:lstStyle/>
          <a:p>
            <a:pPr marL="0" indent="0">
              <a:buNone/>
            </a:pPr>
            <a:r>
              <a:rPr lang="en-US" sz="1350" b="1" dirty="0">
                <a:solidFill>
                  <a:srgbClr val="1E293B"/>
                </a:solidFill>
                <a:latin typeface="Calibri" pitchFamily="34" charset="0"/>
                <a:ea typeface="Calibri" pitchFamily="34" charset="-122"/>
                <a:cs typeface="Calibri" pitchFamily="34" charset="-120"/>
              </a:rPr>
              <a:t>Out-of-scope rejection</a:t>
            </a:r>
            <a:endParaRPr lang="en-US" sz="1350" dirty="0"/>
          </a:p>
        </p:txBody>
      </p:sp>
      <p:sp>
        <p:nvSpPr>
          <p:cNvPr id="16" name="Text 11"/>
          <p:cNvSpPr/>
          <p:nvPr/>
        </p:nvSpPr>
        <p:spPr>
          <a:xfrm>
            <a:off x="7223760" y="3319272"/>
            <a:ext cx="4206240" cy="502920"/>
          </a:xfrm>
          <a:prstGeom prst="rect">
            <a:avLst/>
          </a:prstGeom>
          <a:noFill/>
          <a:ln/>
        </p:spPr>
        <p:txBody>
          <a:bodyPr wrap="square" rtlCol="0" anchor="t"/>
          <a:lstStyle/>
          <a:p>
            <a:pPr marL="0" indent="0">
              <a:buNone/>
            </a:pPr>
            <a:r>
              <a:rPr lang="en-US" sz="1150" dirty="0">
                <a:solidFill>
                  <a:srgbClr val="64748B"/>
                </a:solidFill>
                <a:latin typeface="Calibri" pitchFamily="34" charset="0"/>
                <a:ea typeface="Calibri" pitchFamily="34" charset="-122"/>
                <a:cs typeface="Calibri" pitchFamily="34" charset="-120"/>
              </a:rPr>
              <a:t>Declines anything that isn't a security alert; calls no tools.</a:t>
            </a:r>
            <a:endParaRPr lang="en-US" sz="1150" dirty="0"/>
          </a:p>
        </p:txBody>
      </p:sp>
      <p:pic>
        <p:nvPicPr>
          <p:cNvPr id="17" name="Image 3" descr="preencoded.png"/>
          <p:cNvPicPr>
            <a:picLocks noChangeAspect="1"/>
          </p:cNvPicPr>
          <p:nvPr/>
        </p:nvPicPr>
        <p:blipFill>
          <a:blip r:embed="rId4"/>
          <a:stretch>
            <a:fillRect/>
          </a:stretch>
        </p:blipFill>
        <p:spPr>
          <a:xfrm>
            <a:off x="6903720" y="3950208"/>
            <a:ext cx="237744" cy="237744"/>
          </a:xfrm>
          <a:prstGeom prst="rect">
            <a:avLst/>
          </a:prstGeom>
        </p:spPr>
      </p:pic>
      <p:sp>
        <p:nvSpPr>
          <p:cNvPr id="18" name="Text 12"/>
          <p:cNvSpPr/>
          <p:nvPr/>
        </p:nvSpPr>
        <p:spPr>
          <a:xfrm>
            <a:off x="7223760" y="3886200"/>
            <a:ext cx="4206240" cy="274320"/>
          </a:xfrm>
          <a:prstGeom prst="rect">
            <a:avLst/>
          </a:prstGeom>
          <a:noFill/>
          <a:ln/>
        </p:spPr>
        <p:txBody>
          <a:bodyPr wrap="square" rtlCol="0" anchor="ctr"/>
          <a:lstStyle/>
          <a:p>
            <a:pPr marL="0" indent="0">
              <a:buNone/>
            </a:pPr>
            <a:r>
              <a:rPr lang="en-US" sz="1350" b="1" dirty="0">
                <a:solidFill>
                  <a:srgbClr val="1E293B"/>
                </a:solidFill>
                <a:latin typeface="Calibri" pitchFamily="34" charset="0"/>
                <a:ea typeface="Calibri" pitchFamily="34" charset="-122"/>
                <a:cs typeface="Calibri" pitchFamily="34" charset="-120"/>
              </a:rPr>
              <a:t>Error handling</a:t>
            </a:r>
            <a:endParaRPr lang="en-US" sz="1350" dirty="0"/>
          </a:p>
        </p:txBody>
      </p:sp>
      <p:sp>
        <p:nvSpPr>
          <p:cNvPr id="19" name="Text 13"/>
          <p:cNvSpPr/>
          <p:nvPr/>
        </p:nvSpPr>
        <p:spPr>
          <a:xfrm>
            <a:off x="7223760" y="4160520"/>
            <a:ext cx="4206240" cy="502920"/>
          </a:xfrm>
          <a:prstGeom prst="rect">
            <a:avLst/>
          </a:prstGeom>
          <a:noFill/>
          <a:ln/>
        </p:spPr>
        <p:txBody>
          <a:bodyPr wrap="square" rtlCol="0" anchor="t"/>
          <a:lstStyle/>
          <a:p>
            <a:pPr marL="0" indent="0">
              <a:buNone/>
            </a:pPr>
            <a:r>
              <a:rPr lang="en-US" sz="1150" dirty="0">
                <a:solidFill>
                  <a:srgbClr val="64748B"/>
                </a:solidFill>
                <a:latin typeface="Calibri" pitchFamily="34" charset="0"/>
                <a:ea typeface="Calibri" pitchFamily="34" charset="-122"/>
                <a:cs typeface="Calibri" pitchFamily="34" charset="-120"/>
              </a:rPr>
              <a:t>Unknown tools and tool failures return structured errors, not crashes.</a:t>
            </a:r>
            <a:endParaRPr lang="en-US" sz="1150" dirty="0"/>
          </a:p>
        </p:txBody>
      </p:sp>
      <p:pic>
        <p:nvPicPr>
          <p:cNvPr id="20" name="Image 4" descr="preencoded.png"/>
          <p:cNvPicPr>
            <a:picLocks noChangeAspect="1"/>
          </p:cNvPicPr>
          <p:nvPr/>
        </p:nvPicPr>
        <p:blipFill>
          <a:blip r:embed="rId4"/>
          <a:stretch>
            <a:fillRect/>
          </a:stretch>
        </p:blipFill>
        <p:spPr>
          <a:xfrm>
            <a:off x="6903720" y="4791456"/>
            <a:ext cx="237744" cy="237744"/>
          </a:xfrm>
          <a:prstGeom prst="rect">
            <a:avLst/>
          </a:prstGeom>
        </p:spPr>
      </p:pic>
      <p:sp>
        <p:nvSpPr>
          <p:cNvPr id="21" name="Text 14"/>
          <p:cNvSpPr/>
          <p:nvPr/>
        </p:nvSpPr>
        <p:spPr>
          <a:xfrm>
            <a:off x="7223760" y="4727448"/>
            <a:ext cx="4206240" cy="274320"/>
          </a:xfrm>
          <a:prstGeom prst="rect">
            <a:avLst/>
          </a:prstGeom>
          <a:noFill/>
          <a:ln/>
        </p:spPr>
        <p:txBody>
          <a:bodyPr wrap="square" rtlCol="0" anchor="ctr"/>
          <a:lstStyle/>
          <a:p>
            <a:pPr marL="0" indent="0">
              <a:buNone/>
            </a:pPr>
            <a:r>
              <a:rPr lang="en-US" sz="1350" b="1" dirty="0">
                <a:solidFill>
                  <a:srgbClr val="1E293B"/>
                </a:solidFill>
                <a:latin typeface="Calibri" pitchFamily="34" charset="0"/>
                <a:ea typeface="Calibri" pitchFamily="34" charset="-122"/>
                <a:cs typeface="Calibri" pitchFamily="34" charset="-120"/>
              </a:rPr>
              <a:t>Human-approval framing</a:t>
            </a:r>
            <a:endParaRPr lang="en-US" sz="1350" dirty="0"/>
          </a:p>
        </p:txBody>
      </p:sp>
      <p:sp>
        <p:nvSpPr>
          <p:cNvPr id="22" name="Text 15"/>
          <p:cNvSpPr/>
          <p:nvPr/>
        </p:nvSpPr>
        <p:spPr>
          <a:xfrm>
            <a:off x="7223760" y="5001768"/>
            <a:ext cx="4206240" cy="502920"/>
          </a:xfrm>
          <a:prstGeom prst="rect">
            <a:avLst/>
          </a:prstGeom>
          <a:noFill/>
          <a:ln/>
        </p:spPr>
        <p:txBody>
          <a:bodyPr wrap="square" rtlCol="0" anchor="t"/>
          <a:lstStyle/>
          <a:p>
            <a:pPr marL="0" indent="0">
              <a:buNone/>
            </a:pPr>
            <a:r>
              <a:rPr lang="en-US" sz="1150" dirty="0">
                <a:solidFill>
                  <a:srgbClr val="64748B"/>
                </a:solidFill>
                <a:latin typeface="Calibri" pitchFamily="34" charset="0"/>
                <a:ea typeface="Calibri" pitchFamily="34" charset="-122"/>
                <a:cs typeface="Calibri" pitchFamily="34" charset="-120"/>
              </a:rPr>
              <a:t>Every action explicitly waits for analyst sign-off.</a:t>
            </a:r>
            <a:endParaRPr lang="en-US" sz="1150" dirty="0"/>
          </a:p>
        </p:txBody>
      </p:sp>
      <p:sp>
        <p:nvSpPr>
          <p:cNvPr id="23" name="Text 16"/>
          <p:cNvSpPr/>
          <p:nvPr/>
        </p:nvSpPr>
        <p:spPr>
          <a:xfrm>
            <a:off x="11365992" y="6400800"/>
            <a:ext cx="457200" cy="274320"/>
          </a:xfrm>
          <a:prstGeom prst="rect">
            <a:avLst/>
          </a:prstGeom>
          <a:noFill/>
          <a:ln/>
        </p:spPr>
        <p:txBody>
          <a:bodyPr wrap="square"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6</a:t>
            </a:r>
            <a:endParaRPr lang="en-US" sz="1000" dirty="0"/>
          </a:p>
        </p:txBody>
      </p:sp>
      <p:sp>
        <p:nvSpPr>
          <p:cNvPr id="24" name="Text 17"/>
          <p:cNvSpPr/>
          <p:nvPr/>
        </p:nvSpPr>
        <p:spPr>
          <a:xfrm>
            <a:off x="566928" y="6400800"/>
            <a:ext cx="3657600" cy="274320"/>
          </a:xfrm>
          <a:prstGeom prst="rect">
            <a:avLst/>
          </a:prstGeom>
          <a:noFill/>
          <a:ln/>
        </p:spPr>
        <p:txBody>
          <a:bodyPr wrap="square" rtlCol="0" anchor="ctr"/>
          <a:lstStyle/>
          <a:p>
            <a:pPr marL="0" indent="0" algn="l">
              <a:buNone/>
            </a:pPr>
            <a:r>
              <a:rPr lang="en-US" sz="1000" dirty="0">
                <a:solidFill>
                  <a:srgbClr val="64748B"/>
                </a:solidFill>
                <a:latin typeface="Calibri" pitchFamily="34" charset="0"/>
                <a:ea typeface="Calibri" pitchFamily="34" charset="-122"/>
                <a:cs typeface="Calibri" pitchFamily="34" charset="-120"/>
              </a:rPr>
              <a:t>SentinelMesh</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57200"/>
            <a:ext cx="566928" cy="566928"/>
          </a:xfrm>
          <a:prstGeom prst="ellipse">
            <a:avLst/>
          </a:prstGeom>
          <a:solidFill>
            <a:srgbClr val="0E1726"/>
          </a:solidFill>
          <a:ln/>
        </p:spPr>
      </p:sp>
      <p:pic>
        <p:nvPicPr>
          <p:cNvPr id="3" name="Image 0" descr="preencoded.png"/>
          <p:cNvPicPr>
            <a:picLocks noChangeAspect="1"/>
          </p:cNvPicPr>
          <p:nvPr/>
        </p:nvPicPr>
        <p:blipFill>
          <a:blip r:embed="rId3"/>
          <a:stretch>
            <a:fillRect/>
          </a:stretch>
        </p:blipFill>
        <p:spPr>
          <a:xfrm>
            <a:off x="704088" y="594360"/>
            <a:ext cx="292608" cy="292608"/>
          </a:xfrm>
          <a:prstGeom prst="rect">
            <a:avLst/>
          </a:prstGeom>
        </p:spPr>
      </p:pic>
      <p:sp>
        <p:nvSpPr>
          <p:cNvPr id="4" name="Text 1"/>
          <p:cNvSpPr/>
          <p:nvPr/>
        </p:nvSpPr>
        <p:spPr>
          <a:xfrm>
            <a:off x="1298448" y="457200"/>
            <a:ext cx="9144000" cy="274320"/>
          </a:xfrm>
          <a:prstGeom prst="rect">
            <a:avLst/>
          </a:prstGeom>
          <a:noFill/>
          <a:ln/>
        </p:spPr>
        <p:txBody>
          <a:bodyPr wrap="square" rtlCol="0" anchor="ctr"/>
          <a:lstStyle/>
          <a:p>
            <a:pPr marL="0" indent="0">
              <a:buNone/>
            </a:pPr>
            <a:r>
              <a:rPr lang="en-US" sz="1200" b="1" kern="0" spc="300" dirty="0">
                <a:solidFill>
                  <a:srgbClr val="0E7490"/>
                </a:solidFill>
                <a:latin typeface="Calibri" pitchFamily="34" charset="0"/>
                <a:ea typeface="Calibri" pitchFamily="34" charset="-122"/>
                <a:cs typeface="Calibri" pitchFamily="34" charset="-120"/>
              </a:rPr>
              <a:t>LAYER 3 — TOOLS</a:t>
            </a:r>
            <a:endParaRPr lang="en-US" sz="1200" dirty="0"/>
          </a:p>
        </p:txBody>
      </p:sp>
      <p:sp>
        <p:nvSpPr>
          <p:cNvPr id="5" name="Text 2"/>
          <p:cNvSpPr/>
          <p:nvPr/>
        </p:nvSpPr>
        <p:spPr>
          <a:xfrm>
            <a:off x="1298448" y="694944"/>
            <a:ext cx="10341864" cy="502920"/>
          </a:xfrm>
          <a:prstGeom prst="rect">
            <a:avLst/>
          </a:prstGeom>
          <a:noFill/>
          <a:ln/>
        </p:spPr>
        <p:txBody>
          <a:bodyPr wrap="square" rtlCol="0" anchor="ctr"/>
          <a:lstStyle/>
          <a:p>
            <a:pPr marL="0" indent="0">
              <a:buNone/>
            </a:pPr>
            <a:r>
              <a:rPr lang="en-US" sz="2800" b="1" dirty="0">
                <a:solidFill>
                  <a:srgbClr val="1E293B"/>
                </a:solidFill>
                <a:latin typeface="Cambria" pitchFamily="34" charset="0"/>
                <a:ea typeface="Cambria" pitchFamily="34" charset="-122"/>
                <a:cs typeface="Cambria" pitchFamily="34" charset="-120"/>
              </a:rPr>
              <a:t>Three grounded tools the LLM can call</a:t>
            </a:r>
            <a:endParaRPr lang="en-US" sz="2800" dirty="0"/>
          </a:p>
        </p:txBody>
      </p:sp>
      <p:sp>
        <p:nvSpPr>
          <p:cNvPr id="6" name="Shape 3"/>
          <p:cNvSpPr/>
          <p:nvPr/>
        </p:nvSpPr>
        <p:spPr>
          <a:xfrm>
            <a:off x="566928" y="1645920"/>
            <a:ext cx="3471672" cy="3931920"/>
          </a:xfrm>
          <a:prstGeom prst="roundRect">
            <a:avLst>
              <a:gd name="adj" fmla="val 2107"/>
            </a:avLst>
          </a:prstGeom>
          <a:solidFill>
            <a:srgbClr val="FFFFFF"/>
          </a:solidFill>
          <a:ln w="12700">
            <a:solidFill>
              <a:srgbClr val="E2E8F0"/>
            </a:solidFill>
            <a:prstDash val="solid"/>
          </a:ln>
          <a:effectLst>
            <a:outerShdw blurRad="88900" dist="38100" dir="5400000" algn="bl" rotWithShape="0">
              <a:srgbClr val="000000">
                <a:alpha val="14000"/>
              </a:srgbClr>
            </a:outerShdw>
          </a:effectLst>
        </p:spPr>
      </p:sp>
      <p:sp>
        <p:nvSpPr>
          <p:cNvPr id="7" name="Shape 4"/>
          <p:cNvSpPr/>
          <p:nvPr/>
        </p:nvSpPr>
        <p:spPr>
          <a:xfrm>
            <a:off x="795528" y="1874520"/>
            <a:ext cx="658368" cy="658368"/>
          </a:xfrm>
          <a:prstGeom prst="ellipse">
            <a:avLst/>
          </a:prstGeom>
          <a:solidFill>
            <a:srgbClr val="0E1726"/>
          </a:solidFill>
          <a:ln/>
        </p:spPr>
      </p:sp>
      <p:pic>
        <p:nvPicPr>
          <p:cNvPr id="8" name="Image 1" descr="preencoded.png"/>
          <p:cNvPicPr>
            <a:picLocks noChangeAspect="1"/>
          </p:cNvPicPr>
          <p:nvPr/>
        </p:nvPicPr>
        <p:blipFill>
          <a:blip r:embed="rId4"/>
          <a:stretch>
            <a:fillRect/>
          </a:stretch>
        </p:blipFill>
        <p:spPr>
          <a:xfrm>
            <a:off x="950976" y="2029968"/>
            <a:ext cx="347472" cy="347472"/>
          </a:xfrm>
          <a:prstGeom prst="rect">
            <a:avLst/>
          </a:prstGeom>
        </p:spPr>
      </p:pic>
      <p:sp>
        <p:nvSpPr>
          <p:cNvPr id="9" name="Text 5"/>
          <p:cNvSpPr/>
          <p:nvPr/>
        </p:nvSpPr>
        <p:spPr>
          <a:xfrm>
            <a:off x="749808" y="2651760"/>
            <a:ext cx="3105912" cy="457200"/>
          </a:xfrm>
          <a:prstGeom prst="rect">
            <a:avLst/>
          </a:prstGeom>
          <a:noFill/>
          <a:ln/>
        </p:spPr>
        <p:txBody>
          <a:bodyPr wrap="square" rtlCol="0" anchor="ctr"/>
          <a:lstStyle/>
          <a:p>
            <a:pPr marL="0" indent="0">
              <a:buNone/>
            </a:pPr>
            <a:r>
              <a:rPr lang="en-US" sz="1500" b="1" dirty="0">
                <a:solidFill>
                  <a:srgbClr val="0E7490"/>
                </a:solidFill>
                <a:latin typeface="Courier New" pitchFamily="34" charset="0"/>
                <a:ea typeface="Courier New" pitchFamily="34" charset="-122"/>
                <a:cs typeface="Courier New" pitchFamily="34" charset="-120"/>
              </a:rPr>
              <a:t>lookup_mitre_context</a:t>
            </a:r>
            <a:endParaRPr lang="en-US" sz="1500" dirty="0"/>
          </a:p>
        </p:txBody>
      </p:sp>
      <p:sp>
        <p:nvSpPr>
          <p:cNvPr id="10" name="Text 6"/>
          <p:cNvSpPr/>
          <p:nvPr/>
        </p:nvSpPr>
        <p:spPr>
          <a:xfrm>
            <a:off x="795528" y="3154680"/>
            <a:ext cx="3014472" cy="1463040"/>
          </a:xfrm>
          <a:prstGeom prst="rect">
            <a:avLst/>
          </a:prstGeom>
          <a:noFill/>
          <a:ln/>
        </p:spPr>
        <p:txBody>
          <a:bodyPr wrap="square" rtlCol="0" anchor="t"/>
          <a:lstStyle/>
          <a:p>
            <a:pPr marL="0" indent="0">
              <a:buNone/>
            </a:pPr>
            <a:r>
              <a:rPr lang="en-US" sz="1250" dirty="0">
                <a:solidFill>
                  <a:srgbClr val="1E293B"/>
                </a:solidFill>
                <a:latin typeface="Calibri" pitchFamily="34" charset="0"/>
                <a:ea typeface="Calibri" pitchFamily="34" charset="-122"/>
                <a:cs typeface="Calibri" pitchFamily="34" charset="-120"/>
              </a:rPr>
              <a:t>Queries the MITRE reference table in Unity Catalog and returns the ATT&amp;CK technique, detection, and mitigation for the predicted family.</a:t>
            </a:r>
            <a:endParaRPr lang="en-US" sz="1250" dirty="0"/>
          </a:p>
        </p:txBody>
      </p:sp>
      <p:sp>
        <p:nvSpPr>
          <p:cNvPr id="11" name="Text 7"/>
          <p:cNvSpPr/>
          <p:nvPr/>
        </p:nvSpPr>
        <p:spPr>
          <a:xfrm>
            <a:off x="795528" y="4617720"/>
            <a:ext cx="3014472" cy="868680"/>
          </a:xfrm>
          <a:prstGeom prst="rect">
            <a:avLst/>
          </a:prstGeom>
          <a:noFill/>
          <a:ln/>
        </p:spPr>
        <p:txBody>
          <a:bodyPr wrap="square" rtlCol="0" anchor="t"/>
          <a:lstStyle/>
          <a:p>
            <a:pPr marL="0" indent="0">
              <a:buNone/>
            </a:pPr>
            <a:r>
              <a:rPr lang="en-US" sz="1150" b="1" dirty="0">
                <a:solidFill>
                  <a:srgbClr val="0E7490"/>
                </a:solidFill>
                <a:latin typeface="Calibri" pitchFamily="34" charset="0"/>
                <a:ea typeface="Calibri" pitchFamily="34" charset="-122"/>
                <a:cs typeface="Calibri" pitchFamily="34" charset="-120"/>
              </a:rPr>
              <a:t>Why it matters:  </a:t>
            </a:r>
            <a:r>
              <a:rPr lang="en-US" sz="1150" i="1" dirty="0">
                <a:solidFill>
                  <a:srgbClr val="64748B"/>
                </a:solidFill>
                <a:latin typeface="Calibri" pitchFamily="34" charset="0"/>
                <a:ea typeface="Calibri" pitchFamily="34" charset="-122"/>
                <a:cs typeface="Calibri" pitchFamily="34" charset="-120"/>
              </a:rPr>
              <a:t>Grounds the answer in real threat intel — not the model's memory.</a:t>
            </a:r>
            <a:endParaRPr lang="en-US" sz="1150" dirty="0"/>
          </a:p>
        </p:txBody>
      </p:sp>
      <p:sp>
        <p:nvSpPr>
          <p:cNvPr id="12" name="Shape 8"/>
          <p:cNvSpPr/>
          <p:nvPr/>
        </p:nvSpPr>
        <p:spPr>
          <a:xfrm>
            <a:off x="4358640" y="1645920"/>
            <a:ext cx="3471672" cy="3931920"/>
          </a:xfrm>
          <a:prstGeom prst="roundRect">
            <a:avLst>
              <a:gd name="adj" fmla="val 2107"/>
            </a:avLst>
          </a:prstGeom>
          <a:solidFill>
            <a:srgbClr val="FFFFFF"/>
          </a:solidFill>
          <a:ln w="12700">
            <a:solidFill>
              <a:srgbClr val="E2E8F0"/>
            </a:solidFill>
            <a:prstDash val="solid"/>
          </a:ln>
          <a:effectLst>
            <a:outerShdw blurRad="88900" dist="38100" dir="5400000" algn="bl" rotWithShape="0">
              <a:srgbClr val="000000">
                <a:alpha val="14000"/>
              </a:srgbClr>
            </a:outerShdw>
          </a:effectLst>
        </p:spPr>
      </p:sp>
      <p:sp>
        <p:nvSpPr>
          <p:cNvPr id="13" name="Shape 9"/>
          <p:cNvSpPr/>
          <p:nvPr/>
        </p:nvSpPr>
        <p:spPr>
          <a:xfrm>
            <a:off x="4587240" y="1874520"/>
            <a:ext cx="658368" cy="658368"/>
          </a:xfrm>
          <a:prstGeom prst="ellipse">
            <a:avLst/>
          </a:prstGeom>
          <a:solidFill>
            <a:srgbClr val="0E1726"/>
          </a:solidFill>
          <a:ln/>
        </p:spPr>
      </p:sp>
      <p:pic>
        <p:nvPicPr>
          <p:cNvPr id="14" name="Image 2" descr="preencoded.png"/>
          <p:cNvPicPr>
            <a:picLocks noChangeAspect="1"/>
          </p:cNvPicPr>
          <p:nvPr/>
        </p:nvPicPr>
        <p:blipFill>
          <a:blip r:embed="rId5"/>
          <a:stretch>
            <a:fillRect/>
          </a:stretch>
        </p:blipFill>
        <p:spPr>
          <a:xfrm>
            <a:off x="4742688" y="2029968"/>
            <a:ext cx="347472" cy="347472"/>
          </a:xfrm>
          <a:prstGeom prst="rect">
            <a:avLst/>
          </a:prstGeom>
        </p:spPr>
      </p:pic>
      <p:sp>
        <p:nvSpPr>
          <p:cNvPr id="15" name="Text 10"/>
          <p:cNvSpPr/>
          <p:nvPr/>
        </p:nvSpPr>
        <p:spPr>
          <a:xfrm>
            <a:off x="4541520" y="2651760"/>
            <a:ext cx="3105912" cy="457200"/>
          </a:xfrm>
          <a:prstGeom prst="rect">
            <a:avLst/>
          </a:prstGeom>
          <a:noFill/>
          <a:ln/>
        </p:spPr>
        <p:txBody>
          <a:bodyPr wrap="square" rtlCol="0" anchor="ctr"/>
          <a:lstStyle/>
          <a:p>
            <a:pPr marL="0" indent="0">
              <a:buNone/>
            </a:pPr>
            <a:r>
              <a:rPr lang="en-US" sz="1500" b="1" dirty="0">
                <a:solidFill>
                  <a:srgbClr val="0E7490"/>
                </a:solidFill>
                <a:latin typeface="Courier New" pitchFamily="34" charset="0"/>
                <a:ea typeface="Courier New" pitchFamily="34" charset="-122"/>
                <a:cs typeface="Courier New" pitchFamily="34" charset="-120"/>
              </a:rPr>
              <a:t>score_severity</a:t>
            </a:r>
            <a:endParaRPr lang="en-US" sz="1500" dirty="0"/>
          </a:p>
        </p:txBody>
      </p:sp>
      <p:sp>
        <p:nvSpPr>
          <p:cNvPr id="16" name="Text 11"/>
          <p:cNvSpPr/>
          <p:nvPr/>
        </p:nvSpPr>
        <p:spPr>
          <a:xfrm>
            <a:off x="4587240" y="3154680"/>
            <a:ext cx="3014472" cy="1463040"/>
          </a:xfrm>
          <a:prstGeom prst="rect">
            <a:avLst/>
          </a:prstGeom>
          <a:noFill/>
          <a:ln/>
        </p:spPr>
        <p:txBody>
          <a:bodyPr wrap="square" rtlCol="0" anchor="t"/>
          <a:lstStyle/>
          <a:p>
            <a:pPr marL="0" indent="0">
              <a:buNone/>
            </a:pPr>
            <a:r>
              <a:rPr lang="en-US" sz="1250" dirty="0">
                <a:solidFill>
                  <a:srgbClr val="1E293B"/>
                </a:solidFill>
                <a:latin typeface="Calibri" pitchFamily="34" charset="0"/>
                <a:ea typeface="Calibri" pitchFamily="34" charset="-122"/>
                <a:cs typeface="Calibri" pitchFamily="34" charset="-120"/>
              </a:rPr>
              <a:t>Combines a family base score with observed packet rate to produce a 1–10 severity and a rationale.</a:t>
            </a:r>
            <a:endParaRPr lang="en-US" sz="1250" dirty="0"/>
          </a:p>
        </p:txBody>
      </p:sp>
      <p:sp>
        <p:nvSpPr>
          <p:cNvPr id="17" name="Text 12"/>
          <p:cNvSpPr/>
          <p:nvPr/>
        </p:nvSpPr>
        <p:spPr>
          <a:xfrm>
            <a:off x="4587240" y="4617720"/>
            <a:ext cx="3014472" cy="868680"/>
          </a:xfrm>
          <a:prstGeom prst="rect">
            <a:avLst/>
          </a:prstGeom>
          <a:noFill/>
          <a:ln/>
        </p:spPr>
        <p:txBody>
          <a:bodyPr wrap="square" rtlCol="0" anchor="t"/>
          <a:lstStyle/>
          <a:p>
            <a:pPr marL="0" indent="0">
              <a:buNone/>
            </a:pPr>
            <a:r>
              <a:rPr lang="en-US" sz="1150" b="1" dirty="0">
                <a:solidFill>
                  <a:srgbClr val="0E7490"/>
                </a:solidFill>
                <a:latin typeface="Calibri" pitchFamily="34" charset="0"/>
                <a:ea typeface="Calibri" pitchFamily="34" charset="-122"/>
                <a:cs typeface="Calibri" pitchFamily="34" charset="-120"/>
              </a:rPr>
              <a:t>Why it matters:  </a:t>
            </a:r>
            <a:r>
              <a:rPr lang="en-US" sz="1150" i="1" dirty="0">
                <a:solidFill>
                  <a:srgbClr val="64748B"/>
                </a:solidFill>
                <a:latin typeface="Calibri" pitchFamily="34" charset="0"/>
                <a:ea typeface="Calibri" pitchFamily="34" charset="-122"/>
                <a:cs typeface="Calibri" pitchFamily="34" charset="-120"/>
              </a:rPr>
              <a:t>Turns judgment into a consistent, explainable number.</a:t>
            </a:r>
            <a:endParaRPr lang="en-US" sz="1150" dirty="0"/>
          </a:p>
        </p:txBody>
      </p:sp>
      <p:sp>
        <p:nvSpPr>
          <p:cNvPr id="18" name="Shape 13"/>
          <p:cNvSpPr/>
          <p:nvPr/>
        </p:nvSpPr>
        <p:spPr>
          <a:xfrm>
            <a:off x="8150352" y="1645920"/>
            <a:ext cx="3471672" cy="3931920"/>
          </a:xfrm>
          <a:prstGeom prst="roundRect">
            <a:avLst>
              <a:gd name="adj" fmla="val 2107"/>
            </a:avLst>
          </a:prstGeom>
          <a:solidFill>
            <a:srgbClr val="FFFFFF"/>
          </a:solidFill>
          <a:ln w="12700">
            <a:solidFill>
              <a:srgbClr val="E2E8F0"/>
            </a:solidFill>
            <a:prstDash val="solid"/>
          </a:ln>
          <a:effectLst>
            <a:outerShdw blurRad="88900" dist="38100" dir="5400000" algn="bl" rotWithShape="0">
              <a:srgbClr val="000000">
                <a:alpha val="14000"/>
              </a:srgbClr>
            </a:outerShdw>
          </a:effectLst>
        </p:spPr>
      </p:sp>
      <p:sp>
        <p:nvSpPr>
          <p:cNvPr id="19" name="Shape 14"/>
          <p:cNvSpPr/>
          <p:nvPr/>
        </p:nvSpPr>
        <p:spPr>
          <a:xfrm>
            <a:off x="8378952" y="1874520"/>
            <a:ext cx="658368" cy="658368"/>
          </a:xfrm>
          <a:prstGeom prst="ellipse">
            <a:avLst/>
          </a:prstGeom>
          <a:solidFill>
            <a:srgbClr val="0E1726"/>
          </a:solidFill>
          <a:ln/>
        </p:spPr>
      </p:sp>
      <p:pic>
        <p:nvPicPr>
          <p:cNvPr id="20" name="Image 3" descr="preencoded.png"/>
          <p:cNvPicPr>
            <a:picLocks noChangeAspect="1"/>
          </p:cNvPicPr>
          <p:nvPr/>
        </p:nvPicPr>
        <p:blipFill>
          <a:blip r:embed="rId6"/>
          <a:stretch>
            <a:fillRect/>
          </a:stretch>
        </p:blipFill>
        <p:spPr>
          <a:xfrm>
            <a:off x="8534400" y="2029968"/>
            <a:ext cx="347472" cy="347472"/>
          </a:xfrm>
          <a:prstGeom prst="rect">
            <a:avLst/>
          </a:prstGeom>
        </p:spPr>
      </p:pic>
      <p:sp>
        <p:nvSpPr>
          <p:cNvPr id="21" name="Text 15"/>
          <p:cNvSpPr/>
          <p:nvPr/>
        </p:nvSpPr>
        <p:spPr>
          <a:xfrm>
            <a:off x="8333232" y="2651760"/>
            <a:ext cx="3105912" cy="457200"/>
          </a:xfrm>
          <a:prstGeom prst="rect">
            <a:avLst/>
          </a:prstGeom>
          <a:noFill/>
          <a:ln/>
        </p:spPr>
        <p:txBody>
          <a:bodyPr wrap="square" rtlCol="0" anchor="ctr"/>
          <a:lstStyle/>
          <a:p>
            <a:pPr marL="0" indent="0">
              <a:buNone/>
            </a:pPr>
            <a:r>
              <a:rPr lang="en-US" sz="1500" b="1" dirty="0">
                <a:solidFill>
                  <a:srgbClr val="0E7490"/>
                </a:solidFill>
                <a:latin typeface="Courier New" pitchFamily="34" charset="0"/>
                <a:ea typeface="Courier New" pitchFamily="34" charset="-122"/>
                <a:cs typeface="Courier New" pitchFamily="34" charset="-120"/>
              </a:rPr>
              <a:t>recommend_action</a:t>
            </a:r>
            <a:endParaRPr lang="en-US" sz="1500" dirty="0"/>
          </a:p>
        </p:txBody>
      </p:sp>
      <p:sp>
        <p:nvSpPr>
          <p:cNvPr id="22" name="Text 16"/>
          <p:cNvSpPr/>
          <p:nvPr/>
        </p:nvSpPr>
        <p:spPr>
          <a:xfrm>
            <a:off x="8378952" y="3154680"/>
            <a:ext cx="3014472" cy="1463040"/>
          </a:xfrm>
          <a:prstGeom prst="rect">
            <a:avLst/>
          </a:prstGeom>
          <a:noFill/>
          <a:ln/>
        </p:spPr>
        <p:txBody>
          <a:bodyPr wrap="square" rtlCol="0" anchor="t"/>
          <a:lstStyle/>
          <a:p>
            <a:pPr marL="0" indent="0">
              <a:buNone/>
            </a:pPr>
            <a:r>
              <a:rPr lang="en-US" sz="1250" dirty="0">
                <a:solidFill>
                  <a:srgbClr val="1E293B"/>
                </a:solidFill>
                <a:latin typeface="Calibri" pitchFamily="34" charset="0"/>
                <a:ea typeface="Calibri" pitchFamily="34" charset="-122"/>
                <a:cs typeface="Calibri" pitchFamily="34" charset="-120"/>
              </a:rPr>
              <a:t>Maps severity to an urgency tier (CRITICAL / ELEVATED / LOW / INFO) and a concrete next step.</a:t>
            </a:r>
            <a:endParaRPr lang="en-US" sz="1250" dirty="0"/>
          </a:p>
        </p:txBody>
      </p:sp>
      <p:sp>
        <p:nvSpPr>
          <p:cNvPr id="23" name="Text 17"/>
          <p:cNvSpPr/>
          <p:nvPr/>
        </p:nvSpPr>
        <p:spPr>
          <a:xfrm>
            <a:off x="8378952" y="4617720"/>
            <a:ext cx="3014472" cy="868680"/>
          </a:xfrm>
          <a:prstGeom prst="rect">
            <a:avLst/>
          </a:prstGeom>
          <a:noFill/>
          <a:ln/>
        </p:spPr>
        <p:txBody>
          <a:bodyPr wrap="square" rtlCol="0" anchor="t"/>
          <a:lstStyle/>
          <a:p>
            <a:pPr marL="0" indent="0">
              <a:buNone/>
            </a:pPr>
            <a:r>
              <a:rPr lang="en-US" sz="1150" b="1" dirty="0">
                <a:solidFill>
                  <a:srgbClr val="0E7490"/>
                </a:solidFill>
                <a:latin typeface="Calibri" pitchFamily="34" charset="0"/>
                <a:ea typeface="Calibri" pitchFamily="34" charset="-122"/>
                <a:cs typeface="Calibri" pitchFamily="34" charset="-120"/>
              </a:rPr>
              <a:t>Why it matters:  </a:t>
            </a:r>
            <a:r>
              <a:rPr lang="en-US" sz="1150" i="1" dirty="0">
                <a:solidFill>
                  <a:srgbClr val="64748B"/>
                </a:solidFill>
                <a:latin typeface="Calibri" pitchFamily="34" charset="0"/>
                <a:ea typeface="Calibri" pitchFamily="34" charset="-122"/>
                <a:cs typeface="Calibri" pitchFamily="34" charset="-120"/>
              </a:rPr>
              <a:t>Gives the analyst a ready-to-approve recommendation.</a:t>
            </a:r>
            <a:endParaRPr lang="en-US" sz="1150" dirty="0"/>
          </a:p>
        </p:txBody>
      </p:sp>
      <p:sp>
        <p:nvSpPr>
          <p:cNvPr id="24" name="Text 18"/>
          <p:cNvSpPr/>
          <p:nvPr/>
        </p:nvSpPr>
        <p:spPr>
          <a:xfrm>
            <a:off x="11365992" y="6400800"/>
            <a:ext cx="457200" cy="274320"/>
          </a:xfrm>
          <a:prstGeom prst="rect">
            <a:avLst/>
          </a:prstGeom>
          <a:noFill/>
          <a:ln/>
        </p:spPr>
        <p:txBody>
          <a:bodyPr wrap="square"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7</a:t>
            </a:r>
            <a:endParaRPr lang="en-US" sz="1000" dirty="0"/>
          </a:p>
        </p:txBody>
      </p:sp>
      <p:sp>
        <p:nvSpPr>
          <p:cNvPr id="25" name="Text 19"/>
          <p:cNvSpPr/>
          <p:nvPr/>
        </p:nvSpPr>
        <p:spPr>
          <a:xfrm>
            <a:off x="566928" y="6400800"/>
            <a:ext cx="3657600" cy="274320"/>
          </a:xfrm>
          <a:prstGeom prst="rect">
            <a:avLst/>
          </a:prstGeom>
          <a:noFill/>
          <a:ln/>
        </p:spPr>
        <p:txBody>
          <a:bodyPr wrap="square" rtlCol="0" anchor="ctr"/>
          <a:lstStyle/>
          <a:p>
            <a:pPr marL="0" indent="0" algn="l">
              <a:buNone/>
            </a:pPr>
            <a:r>
              <a:rPr lang="en-US" sz="1000" dirty="0">
                <a:solidFill>
                  <a:srgbClr val="64748B"/>
                </a:solidFill>
                <a:latin typeface="Calibri" pitchFamily="34" charset="0"/>
                <a:ea typeface="Calibri" pitchFamily="34" charset="-122"/>
                <a:cs typeface="Calibri" pitchFamily="34" charset="-120"/>
              </a:rPr>
              <a:t>SentinelMesh</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57200"/>
            <a:ext cx="566928" cy="566928"/>
          </a:xfrm>
          <a:prstGeom prst="ellipse">
            <a:avLst/>
          </a:prstGeom>
          <a:solidFill>
            <a:srgbClr val="0E1726"/>
          </a:solidFill>
          <a:ln/>
        </p:spPr>
      </p:sp>
      <p:pic>
        <p:nvPicPr>
          <p:cNvPr id="3" name="Image 0" descr="preencoded.png"/>
          <p:cNvPicPr>
            <a:picLocks noChangeAspect="1"/>
          </p:cNvPicPr>
          <p:nvPr/>
        </p:nvPicPr>
        <p:blipFill>
          <a:blip r:embed="rId3"/>
          <a:stretch>
            <a:fillRect/>
          </a:stretch>
        </p:blipFill>
        <p:spPr>
          <a:xfrm>
            <a:off x="704088" y="594360"/>
            <a:ext cx="292608" cy="292608"/>
          </a:xfrm>
          <a:prstGeom prst="rect">
            <a:avLst/>
          </a:prstGeom>
        </p:spPr>
      </p:pic>
      <p:sp>
        <p:nvSpPr>
          <p:cNvPr id="4" name="Text 1"/>
          <p:cNvSpPr/>
          <p:nvPr/>
        </p:nvSpPr>
        <p:spPr>
          <a:xfrm>
            <a:off x="1298448" y="457200"/>
            <a:ext cx="9144000" cy="274320"/>
          </a:xfrm>
          <a:prstGeom prst="rect">
            <a:avLst/>
          </a:prstGeom>
          <a:noFill/>
          <a:ln/>
        </p:spPr>
        <p:txBody>
          <a:bodyPr wrap="square" rtlCol="0" anchor="ctr"/>
          <a:lstStyle/>
          <a:p>
            <a:pPr marL="0" indent="0">
              <a:buNone/>
            </a:pPr>
            <a:r>
              <a:rPr lang="en-US" sz="1200" b="1" kern="0" spc="300" dirty="0">
                <a:solidFill>
                  <a:srgbClr val="0E7490"/>
                </a:solidFill>
                <a:latin typeface="Calibri" pitchFamily="34" charset="0"/>
                <a:ea typeface="Calibri" pitchFamily="34" charset="-122"/>
                <a:cs typeface="Calibri" pitchFamily="34" charset="-120"/>
              </a:rPr>
              <a:t>LAYER 4 — OBSERVABILITY</a:t>
            </a:r>
            <a:endParaRPr lang="en-US" sz="1200" dirty="0"/>
          </a:p>
        </p:txBody>
      </p:sp>
      <p:sp>
        <p:nvSpPr>
          <p:cNvPr id="5" name="Text 2"/>
          <p:cNvSpPr/>
          <p:nvPr/>
        </p:nvSpPr>
        <p:spPr>
          <a:xfrm>
            <a:off x="1298448" y="694944"/>
            <a:ext cx="10341864" cy="502920"/>
          </a:xfrm>
          <a:prstGeom prst="rect">
            <a:avLst/>
          </a:prstGeom>
          <a:noFill/>
          <a:ln/>
        </p:spPr>
        <p:txBody>
          <a:bodyPr wrap="square" rtlCol="0" anchor="ctr"/>
          <a:lstStyle/>
          <a:p>
            <a:pPr marL="0" indent="0">
              <a:buNone/>
            </a:pPr>
            <a:r>
              <a:rPr lang="en-US" sz="2800" b="1" dirty="0">
                <a:solidFill>
                  <a:srgbClr val="1E293B"/>
                </a:solidFill>
                <a:latin typeface="Cambria" pitchFamily="34" charset="0"/>
                <a:ea typeface="Cambria" pitchFamily="34" charset="-122"/>
                <a:cs typeface="Cambria" pitchFamily="34" charset="-120"/>
              </a:rPr>
              <a:t>Five MLflow traces</a:t>
            </a:r>
            <a:endParaRPr lang="en-US" sz="2800" dirty="0"/>
          </a:p>
        </p:txBody>
      </p:sp>
      <p:sp>
        <p:nvSpPr>
          <p:cNvPr id="6" name="Text 3"/>
          <p:cNvSpPr/>
          <p:nvPr/>
        </p:nvSpPr>
        <p:spPr>
          <a:xfrm>
            <a:off x="566928" y="1508760"/>
            <a:ext cx="11055096" cy="548640"/>
          </a:xfrm>
          <a:prstGeom prst="rect">
            <a:avLst/>
          </a:prstGeom>
          <a:noFill/>
          <a:ln/>
        </p:spPr>
        <p:txBody>
          <a:bodyPr wrap="square" rtlCol="0" anchor="ctr"/>
          <a:lstStyle/>
          <a:p>
            <a:pPr marL="0" indent="0">
              <a:buNone/>
            </a:pPr>
            <a:r>
              <a:rPr lang="en-US" sz="1500" dirty="0">
                <a:solidFill>
                  <a:srgbClr val="1E293B"/>
                </a:solidFill>
                <a:latin typeface="Calibri" pitchFamily="34" charset="0"/>
                <a:ea typeface="Calibri" pitchFamily="34" charset="-122"/>
                <a:cs typeface="Calibri" pitchFamily="34" charset="-120"/>
              </a:rPr>
              <a:t>MLflow autolog captures every LLM call and tool call. Each triage becomes a viewable trace, giving full visibility into the agent's reasoning and tool sequence.</a:t>
            </a:r>
            <a:endParaRPr lang="en-US" sz="1500" dirty="0"/>
          </a:p>
        </p:txBody>
      </p:sp>
      <p:sp>
        <p:nvSpPr>
          <p:cNvPr id="7" name="Shape 4"/>
          <p:cNvSpPr/>
          <p:nvPr/>
        </p:nvSpPr>
        <p:spPr>
          <a:xfrm>
            <a:off x="566928" y="2240280"/>
            <a:ext cx="11055096" cy="676656"/>
          </a:xfrm>
          <a:prstGeom prst="roundRect">
            <a:avLst>
              <a:gd name="adj" fmla="val 10811"/>
            </a:avLst>
          </a:prstGeom>
          <a:solidFill>
            <a:srgbClr val="FFFFFF"/>
          </a:solidFill>
          <a:ln w="12700">
            <a:solidFill>
              <a:srgbClr val="E2E8F0"/>
            </a:solidFill>
            <a:prstDash val="solid"/>
          </a:ln>
          <a:effectLst>
            <a:outerShdw blurRad="88900" dist="38100" dir="5400000" algn="bl" rotWithShape="0">
              <a:srgbClr val="000000">
                <a:alpha val="14000"/>
              </a:srgbClr>
            </a:outerShdw>
          </a:effectLst>
        </p:spPr>
      </p:sp>
      <p:sp>
        <p:nvSpPr>
          <p:cNvPr id="8" name="Shape 5"/>
          <p:cNvSpPr/>
          <p:nvPr/>
        </p:nvSpPr>
        <p:spPr>
          <a:xfrm>
            <a:off x="749808" y="2350008"/>
            <a:ext cx="457200" cy="457200"/>
          </a:xfrm>
          <a:prstGeom prst="ellipse">
            <a:avLst/>
          </a:prstGeom>
          <a:solidFill>
            <a:srgbClr val="0E1726"/>
          </a:solidFill>
          <a:ln/>
        </p:spPr>
      </p:sp>
      <p:pic>
        <p:nvPicPr>
          <p:cNvPr id="9" name="Image 1" descr="preencoded.png"/>
          <p:cNvPicPr>
            <a:picLocks noChangeAspect="1"/>
          </p:cNvPicPr>
          <p:nvPr/>
        </p:nvPicPr>
        <p:blipFill>
          <a:blip r:embed="rId4"/>
          <a:stretch>
            <a:fillRect/>
          </a:stretch>
        </p:blipFill>
        <p:spPr>
          <a:xfrm>
            <a:off x="859536" y="2459736"/>
            <a:ext cx="237744" cy="237744"/>
          </a:xfrm>
          <a:prstGeom prst="rect">
            <a:avLst/>
          </a:prstGeom>
        </p:spPr>
      </p:pic>
      <p:sp>
        <p:nvSpPr>
          <p:cNvPr id="10" name="Text 6"/>
          <p:cNvSpPr/>
          <p:nvPr/>
        </p:nvSpPr>
        <p:spPr>
          <a:xfrm>
            <a:off x="1344168" y="2240280"/>
            <a:ext cx="1463040" cy="676656"/>
          </a:xfrm>
          <a:prstGeom prst="rect">
            <a:avLst/>
          </a:prstGeom>
          <a:noFill/>
          <a:ln/>
        </p:spPr>
        <p:txBody>
          <a:bodyPr wrap="square" rtlCol="0" anchor="ctr"/>
          <a:lstStyle/>
          <a:p>
            <a:pPr marL="0" indent="0">
              <a:buNone/>
            </a:pPr>
            <a:r>
              <a:rPr lang="en-US" sz="1500" b="1" dirty="0">
                <a:solidFill>
                  <a:srgbClr val="1E293B"/>
                </a:solidFill>
                <a:latin typeface="Cambria" pitchFamily="34" charset="0"/>
                <a:ea typeface="Cambria" pitchFamily="34" charset="-122"/>
                <a:cs typeface="Cambria" pitchFamily="34" charset="-120"/>
              </a:rPr>
              <a:t>Trace 1</a:t>
            </a:r>
            <a:endParaRPr lang="en-US" sz="1500" dirty="0"/>
          </a:p>
        </p:txBody>
      </p:sp>
      <p:sp>
        <p:nvSpPr>
          <p:cNvPr id="11" name="Text 7"/>
          <p:cNvSpPr/>
          <p:nvPr/>
        </p:nvSpPr>
        <p:spPr>
          <a:xfrm>
            <a:off x="2852928" y="2240280"/>
            <a:ext cx="5669280" cy="676656"/>
          </a:xfrm>
          <a:prstGeom prst="rect">
            <a:avLst/>
          </a:prstGeom>
          <a:noFill/>
          <a:ln/>
        </p:spPr>
        <p:txBody>
          <a:bodyPr wrap="square" rtlCol="0" anchor="ctr"/>
          <a:lstStyle/>
          <a:p>
            <a:pPr marL="0" indent="0">
              <a:buNone/>
            </a:pPr>
            <a:r>
              <a:rPr lang="en-US" sz="1350" dirty="0">
                <a:solidFill>
                  <a:srgbClr val="1E293B"/>
                </a:solidFill>
                <a:latin typeface="Calibri" pitchFamily="34" charset="0"/>
                <a:ea typeface="Calibri" pitchFamily="34" charset="-122"/>
                <a:cs typeface="Calibri" pitchFamily="34" charset="-120"/>
              </a:rPr>
              <a:t>Normal triage — DDoS ICMP flood</a:t>
            </a:r>
            <a:endParaRPr lang="en-US" sz="1350" dirty="0"/>
          </a:p>
        </p:txBody>
      </p:sp>
      <p:sp>
        <p:nvSpPr>
          <p:cNvPr id="12" name="Shape 8"/>
          <p:cNvSpPr/>
          <p:nvPr/>
        </p:nvSpPr>
        <p:spPr>
          <a:xfrm>
            <a:off x="8375904" y="2404872"/>
            <a:ext cx="3063240" cy="347472"/>
          </a:xfrm>
          <a:prstGeom prst="roundRect">
            <a:avLst>
              <a:gd name="adj" fmla="val 13158"/>
            </a:avLst>
          </a:prstGeom>
          <a:solidFill>
            <a:srgbClr val="10B981"/>
          </a:solidFill>
          <a:ln/>
        </p:spPr>
      </p:sp>
      <p:sp>
        <p:nvSpPr>
          <p:cNvPr id="13" name="Text 9"/>
          <p:cNvSpPr/>
          <p:nvPr/>
        </p:nvSpPr>
        <p:spPr>
          <a:xfrm>
            <a:off x="8375904" y="2404872"/>
            <a:ext cx="3063240" cy="347472"/>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Correct: DDOS_FLOOD</a:t>
            </a:r>
            <a:endParaRPr lang="en-US" sz="1150" dirty="0"/>
          </a:p>
        </p:txBody>
      </p:sp>
      <p:sp>
        <p:nvSpPr>
          <p:cNvPr id="14" name="Shape 10"/>
          <p:cNvSpPr/>
          <p:nvPr/>
        </p:nvSpPr>
        <p:spPr>
          <a:xfrm>
            <a:off x="566928" y="3026664"/>
            <a:ext cx="11055096" cy="676656"/>
          </a:xfrm>
          <a:prstGeom prst="roundRect">
            <a:avLst>
              <a:gd name="adj" fmla="val 10811"/>
            </a:avLst>
          </a:prstGeom>
          <a:solidFill>
            <a:srgbClr val="FFFFFF"/>
          </a:solidFill>
          <a:ln w="12700">
            <a:solidFill>
              <a:srgbClr val="E2E8F0"/>
            </a:solidFill>
            <a:prstDash val="solid"/>
          </a:ln>
          <a:effectLst>
            <a:outerShdw blurRad="88900" dist="38100" dir="5400000" algn="bl" rotWithShape="0">
              <a:srgbClr val="000000">
                <a:alpha val="14000"/>
              </a:srgbClr>
            </a:outerShdw>
          </a:effectLst>
        </p:spPr>
      </p:sp>
      <p:sp>
        <p:nvSpPr>
          <p:cNvPr id="15" name="Shape 11"/>
          <p:cNvSpPr/>
          <p:nvPr/>
        </p:nvSpPr>
        <p:spPr>
          <a:xfrm>
            <a:off x="749808" y="3136392"/>
            <a:ext cx="457200" cy="457200"/>
          </a:xfrm>
          <a:prstGeom prst="ellipse">
            <a:avLst/>
          </a:prstGeom>
          <a:solidFill>
            <a:srgbClr val="0E1726"/>
          </a:solidFill>
          <a:ln/>
        </p:spPr>
      </p:sp>
      <p:pic>
        <p:nvPicPr>
          <p:cNvPr id="16" name="Image 2" descr="preencoded.png"/>
          <p:cNvPicPr>
            <a:picLocks noChangeAspect="1"/>
          </p:cNvPicPr>
          <p:nvPr/>
        </p:nvPicPr>
        <p:blipFill>
          <a:blip r:embed="rId5"/>
          <a:stretch>
            <a:fillRect/>
          </a:stretch>
        </p:blipFill>
        <p:spPr>
          <a:xfrm>
            <a:off x="859536" y="3246120"/>
            <a:ext cx="237744" cy="237744"/>
          </a:xfrm>
          <a:prstGeom prst="rect">
            <a:avLst/>
          </a:prstGeom>
        </p:spPr>
      </p:pic>
      <p:sp>
        <p:nvSpPr>
          <p:cNvPr id="17" name="Text 12"/>
          <p:cNvSpPr/>
          <p:nvPr/>
        </p:nvSpPr>
        <p:spPr>
          <a:xfrm>
            <a:off x="1344168" y="3026664"/>
            <a:ext cx="1463040" cy="676656"/>
          </a:xfrm>
          <a:prstGeom prst="rect">
            <a:avLst/>
          </a:prstGeom>
          <a:noFill/>
          <a:ln/>
        </p:spPr>
        <p:txBody>
          <a:bodyPr wrap="square" rtlCol="0" anchor="ctr"/>
          <a:lstStyle/>
          <a:p>
            <a:pPr marL="0" indent="0">
              <a:buNone/>
            </a:pPr>
            <a:r>
              <a:rPr lang="en-US" sz="1500" b="1" dirty="0">
                <a:solidFill>
                  <a:srgbClr val="1E293B"/>
                </a:solidFill>
                <a:latin typeface="Cambria" pitchFamily="34" charset="0"/>
                <a:ea typeface="Cambria" pitchFamily="34" charset="-122"/>
                <a:cs typeface="Cambria" pitchFamily="34" charset="-120"/>
              </a:rPr>
              <a:t>Trace 2</a:t>
            </a:r>
            <a:endParaRPr lang="en-US" sz="1500" dirty="0"/>
          </a:p>
        </p:txBody>
      </p:sp>
      <p:sp>
        <p:nvSpPr>
          <p:cNvPr id="18" name="Text 13"/>
          <p:cNvSpPr/>
          <p:nvPr/>
        </p:nvSpPr>
        <p:spPr>
          <a:xfrm>
            <a:off x="2852928" y="3026664"/>
            <a:ext cx="5669280" cy="676656"/>
          </a:xfrm>
          <a:prstGeom prst="rect">
            <a:avLst/>
          </a:prstGeom>
          <a:noFill/>
          <a:ln/>
        </p:spPr>
        <p:txBody>
          <a:bodyPr wrap="square" rtlCol="0" anchor="ctr"/>
          <a:lstStyle/>
          <a:p>
            <a:pPr marL="0" indent="0">
              <a:buNone/>
            </a:pPr>
            <a:r>
              <a:rPr lang="en-US" sz="1350" dirty="0">
                <a:solidFill>
                  <a:srgbClr val="1E293B"/>
                </a:solidFill>
                <a:latin typeface="Calibri" pitchFamily="34" charset="0"/>
                <a:ea typeface="Calibri" pitchFamily="34" charset="-122"/>
                <a:cs typeface="Calibri" pitchFamily="34" charset="-120"/>
              </a:rPr>
              <a:t>Normal triage — recon port-scan</a:t>
            </a:r>
            <a:endParaRPr lang="en-US" sz="1350" dirty="0"/>
          </a:p>
        </p:txBody>
      </p:sp>
      <p:sp>
        <p:nvSpPr>
          <p:cNvPr id="19" name="Shape 14"/>
          <p:cNvSpPr/>
          <p:nvPr/>
        </p:nvSpPr>
        <p:spPr>
          <a:xfrm>
            <a:off x="8375904" y="3191256"/>
            <a:ext cx="3063240" cy="347472"/>
          </a:xfrm>
          <a:prstGeom prst="roundRect">
            <a:avLst>
              <a:gd name="adj" fmla="val 13158"/>
            </a:avLst>
          </a:prstGeom>
          <a:solidFill>
            <a:srgbClr val="F59E0B"/>
          </a:solidFill>
          <a:ln/>
        </p:spPr>
      </p:sp>
      <p:sp>
        <p:nvSpPr>
          <p:cNvPr id="20" name="Text 15"/>
          <p:cNvSpPr/>
          <p:nvPr/>
        </p:nvSpPr>
        <p:spPr>
          <a:xfrm>
            <a:off x="8375904" y="3191256"/>
            <a:ext cx="3063240" cy="347472"/>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Miss: predicted BENIGN</a:t>
            </a:r>
            <a:endParaRPr lang="en-US" sz="1150" dirty="0"/>
          </a:p>
        </p:txBody>
      </p:sp>
      <p:sp>
        <p:nvSpPr>
          <p:cNvPr id="21" name="Shape 16"/>
          <p:cNvSpPr/>
          <p:nvPr/>
        </p:nvSpPr>
        <p:spPr>
          <a:xfrm>
            <a:off x="566928" y="3813048"/>
            <a:ext cx="11055096" cy="676656"/>
          </a:xfrm>
          <a:prstGeom prst="roundRect">
            <a:avLst>
              <a:gd name="adj" fmla="val 10811"/>
            </a:avLst>
          </a:prstGeom>
          <a:solidFill>
            <a:srgbClr val="FFFFFF"/>
          </a:solidFill>
          <a:ln w="12700">
            <a:solidFill>
              <a:srgbClr val="E2E8F0"/>
            </a:solidFill>
            <a:prstDash val="solid"/>
          </a:ln>
          <a:effectLst>
            <a:outerShdw blurRad="88900" dist="38100" dir="5400000" algn="bl" rotWithShape="0">
              <a:srgbClr val="000000">
                <a:alpha val="14000"/>
              </a:srgbClr>
            </a:outerShdw>
          </a:effectLst>
        </p:spPr>
      </p:sp>
      <p:sp>
        <p:nvSpPr>
          <p:cNvPr id="22" name="Shape 17"/>
          <p:cNvSpPr/>
          <p:nvPr/>
        </p:nvSpPr>
        <p:spPr>
          <a:xfrm>
            <a:off x="749808" y="3922776"/>
            <a:ext cx="457200" cy="457200"/>
          </a:xfrm>
          <a:prstGeom prst="ellipse">
            <a:avLst/>
          </a:prstGeom>
          <a:solidFill>
            <a:srgbClr val="0E1726"/>
          </a:solidFill>
          <a:ln/>
        </p:spPr>
      </p:sp>
      <p:pic>
        <p:nvPicPr>
          <p:cNvPr id="23" name="Image 3" descr="preencoded.png"/>
          <p:cNvPicPr>
            <a:picLocks noChangeAspect="1"/>
          </p:cNvPicPr>
          <p:nvPr/>
        </p:nvPicPr>
        <p:blipFill>
          <a:blip r:embed="rId6"/>
          <a:stretch>
            <a:fillRect/>
          </a:stretch>
        </p:blipFill>
        <p:spPr>
          <a:xfrm>
            <a:off x="859536" y="4032504"/>
            <a:ext cx="237744" cy="237744"/>
          </a:xfrm>
          <a:prstGeom prst="rect">
            <a:avLst/>
          </a:prstGeom>
        </p:spPr>
      </p:pic>
      <p:sp>
        <p:nvSpPr>
          <p:cNvPr id="24" name="Text 18"/>
          <p:cNvSpPr/>
          <p:nvPr/>
        </p:nvSpPr>
        <p:spPr>
          <a:xfrm>
            <a:off x="1344168" y="3813048"/>
            <a:ext cx="1463040" cy="676656"/>
          </a:xfrm>
          <a:prstGeom prst="rect">
            <a:avLst/>
          </a:prstGeom>
          <a:noFill/>
          <a:ln/>
        </p:spPr>
        <p:txBody>
          <a:bodyPr wrap="square" rtlCol="0" anchor="ctr"/>
          <a:lstStyle/>
          <a:p>
            <a:pPr marL="0" indent="0">
              <a:buNone/>
            </a:pPr>
            <a:r>
              <a:rPr lang="en-US" sz="1500" b="1" dirty="0">
                <a:solidFill>
                  <a:srgbClr val="1E293B"/>
                </a:solidFill>
                <a:latin typeface="Cambria" pitchFamily="34" charset="0"/>
                <a:ea typeface="Cambria" pitchFamily="34" charset="-122"/>
                <a:cs typeface="Cambria" pitchFamily="34" charset="-120"/>
              </a:rPr>
              <a:t>Trace 3</a:t>
            </a:r>
            <a:endParaRPr lang="en-US" sz="1500" dirty="0"/>
          </a:p>
        </p:txBody>
      </p:sp>
      <p:sp>
        <p:nvSpPr>
          <p:cNvPr id="25" name="Text 19"/>
          <p:cNvSpPr/>
          <p:nvPr/>
        </p:nvSpPr>
        <p:spPr>
          <a:xfrm>
            <a:off x="2852928" y="3813048"/>
            <a:ext cx="5669280" cy="676656"/>
          </a:xfrm>
          <a:prstGeom prst="rect">
            <a:avLst/>
          </a:prstGeom>
          <a:noFill/>
          <a:ln/>
        </p:spPr>
        <p:txBody>
          <a:bodyPr wrap="square" rtlCol="0" anchor="ctr"/>
          <a:lstStyle/>
          <a:p>
            <a:pPr marL="0" indent="0">
              <a:buNone/>
            </a:pPr>
            <a:r>
              <a:rPr lang="en-US" sz="1350" dirty="0">
                <a:solidFill>
                  <a:srgbClr val="1E293B"/>
                </a:solidFill>
                <a:latin typeface="Calibri" pitchFamily="34" charset="0"/>
                <a:ea typeface="Calibri" pitchFamily="34" charset="-122"/>
                <a:cs typeface="Calibri" pitchFamily="34" charset="-120"/>
              </a:rPr>
              <a:t>Two-model comparison on one alert</a:t>
            </a:r>
            <a:endParaRPr lang="en-US" sz="1350" dirty="0"/>
          </a:p>
        </p:txBody>
      </p:sp>
      <p:sp>
        <p:nvSpPr>
          <p:cNvPr id="26" name="Shape 20"/>
          <p:cNvSpPr/>
          <p:nvPr/>
        </p:nvSpPr>
        <p:spPr>
          <a:xfrm>
            <a:off x="8375904" y="3977640"/>
            <a:ext cx="3063240" cy="347472"/>
          </a:xfrm>
          <a:prstGeom prst="roundRect">
            <a:avLst>
              <a:gd name="adj" fmla="val 13158"/>
            </a:avLst>
          </a:prstGeom>
          <a:solidFill>
            <a:srgbClr val="0E7490"/>
          </a:solidFill>
          <a:ln/>
        </p:spPr>
      </p:sp>
      <p:sp>
        <p:nvSpPr>
          <p:cNvPr id="27" name="Text 21"/>
          <p:cNvSpPr/>
          <p:nvPr/>
        </p:nvSpPr>
        <p:spPr>
          <a:xfrm>
            <a:off x="8375904" y="3977640"/>
            <a:ext cx="3063240" cy="347472"/>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gpt-oss-120b vs 20b</a:t>
            </a:r>
            <a:endParaRPr lang="en-US" sz="1150" dirty="0"/>
          </a:p>
        </p:txBody>
      </p:sp>
      <p:sp>
        <p:nvSpPr>
          <p:cNvPr id="28" name="Shape 22"/>
          <p:cNvSpPr/>
          <p:nvPr/>
        </p:nvSpPr>
        <p:spPr>
          <a:xfrm>
            <a:off x="566928" y="4599432"/>
            <a:ext cx="11055096" cy="676656"/>
          </a:xfrm>
          <a:prstGeom prst="roundRect">
            <a:avLst>
              <a:gd name="adj" fmla="val 10811"/>
            </a:avLst>
          </a:prstGeom>
          <a:solidFill>
            <a:srgbClr val="FFFFFF"/>
          </a:solidFill>
          <a:ln w="12700">
            <a:solidFill>
              <a:srgbClr val="E2E8F0"/>
            </a:solidFill>
            <a:prstDash val="solid"/>
          </a:ln>
          <a:effectLst>
            <a:outerShdw blurRad="88900" dist="38100" dir="5400000" algn="bl" rotWithShape="0">
              <a:srgbClr val="000000">
                <a:alpha val="14000"/>
              </a:srgbClr>
            </a:outerShdw>
          </a:effectLst>
        </p:spPr>
      </p:sp>
      <p:sp>
        <p:nvSpPr>
          <p:cNvPr id="29" name="Shape 23"/>
          <p:cNvSpPr/>
          <p:nvPr/>
        </p:nvSpPr>
        <p:spPr>
          <a:xfrm>
            <a:off x="749808" y="4709160"/>
            <a:ext cx="457200" cy="457200"/>
          </a:xfrm>
          <a:prstGeom prst="ellipse">
            <a:avLst/>
          </a:prstGeom>
          <a:solidFill>
            <a:srgbClr val="0E1726"/>
          </a:solidFill>
          <a:ln/>
        </p:spPr>
      </p:sp>
      <p:pic>
        <p:nvPicPr>
          <p:cNvPr id="30" name="Image 4" descr="preencoded.png"/>
          <p:cNvPicPr>
            <a:picLocks noChangeAspect="1"/>
          </p:cNvPicPr>
          <p:nvPr/>
        </p:nvPicPr>
        <p:blipFill>
          <a:blip r:embed="rId7"/>
          <a:stretch>
            <a:fillRect/>
          </a:stretch>
        </p:blipFill>
        <p:spPr>
          <a:xfrm>
            <a:off x="859536" y="4818888"/>
            <a:ext cx="237744" cy="237744"/>
          </a:xfrm>
          <a:prstGeom prst="rect">
            <a:avLst/>
          </a:prstGeom>
        </p:spPr>
      </p:pic>
      <p:sp>
        <p:nvSpPr>
          <p:cNvPr id="31" name="Text 24"/>
          <p:cNvSpPr/>
          <p:nvPr/>
        </p:nvSpPr>
        <p:spPr>
          <a:xfrm>
            <a:off x="1344168" y="4599432"/>
            <a:ext cx="1463040" cy="676656"/>
          </a:xfrm>
          <a:prstGeom prst="rect">
            <a:avLst/>
          </a:prstGeom>
          <a:noFill/>
          <a:ln/>
        </p:spPr>
        <p:txBody>
          <a:bodyPr wrap="square" rtlCol="0" anchor="ctr"/>
          <a:lstStyle/>
          <a:p>
            <a:pPr marL="0" indent="0">
              <a:buNone/>
            </a:pPr>
            <a:r>
              <a:rPr lang="en-US" sz="1500" b="1" dirty="0">
                <a:solidFill>
                  <a:srgbClr val="1E293B"/>
                </a:solidFill>
                <a:latin typeface="Cambria" pitchFamily="34" charset="0"/>
                <a:ea typeface="Cambria" pitchFamily="34" charset="-122"/>
                <a:cs typeface="Cambria" pitchFamily="34" charset="-120"/>
              </a:rPr>
              <a:t>Trace 4</a:t>
            </a:r>
            <a:endParaRPr lang="en-US" sz="1500" dirty="0"/>
          </a:p>
        </p:txBody>
      </p:sp>
      <p:sp>
        <p:nvSpPr>
          <p:cNvPr id="32" name="Text 25"/>
          <p:cNvSpPr/>
          <p:nvPr/>
        </p:nvSpPr>
        <p:spPr>
          <a:xfrm>
            <a:off x="2852928" y="4599432"/>
            <a:ext cx="5669280" cy="676656"/>
          </a:xfrm>
          <a:prstGeom prst="rect">
            <a:avLst/>
          </a:prstGeom>
          <a:noFill/>
          <a:ln/>
        </p:spPr>
        <p:txBody>
          <a:bodyPr wrap="square" rtlCol="0" anchor="ctr"/>
          <a:lstStyle/>
          <a:p>
            <a:pPr marL="0" indent="0">
              <a:buNone/>
            </a:pPr>
            <a:r>
              <a:rPr lang="en-US" sz="1350" dirty="0">
                <a:solidFill>
                  <a:srgbClr val="1E293B"/>
                </a:solidFill>
                <a:latin typeface="Calibri" pitchFamily="34" charset="0"/>
                <a:ea typeface="Calibri" pitchFamily="34" charset="-122"/>
                <a:cs typeface="Calibri" pitchFamily="34" charset="-120"/>
              </a:rPr>
              <a:t>Graceful rejection — recipe question</a:t>
            </a:r>
            <a:endParaRPr lang="en-US" sz="1350" dirty="0"/>
          </a:p>
        </p:txBody>
      </p:sp>
      <p:sp>
        <p:nvSpPr>
          <p:cNvPr id="33" name="Shape 26"/>
          <p:cNvSpPr/>
          <p:nvPr/>
        </p:nvSpPr>
        <p:spPr>
          <a:xfrm>
            <a:off x="8375904" y="4764024"/>
            <a:ext cx="3063240" cy="347472"/>
          </a:xfrm>
          <a:prstGeom prst="roundRect">
            <a:avLst>
              <a:gd name="adj" fmla="val 13158"/>
            </a:avLst>
          </a:prstGeom>
          <a:solidFill>
            <a:srgbClr val="06B6D4"/>
          </a:solidFill>
          <a:ln/>
        </p:spPr>
      </p:sp>
      <p:sp>
        <p:nvSpPr>
          <p:cNvPr id="34" name="Text 27"/>
          <p:cNvSpPr/>
          <p:nvPr/>
        </p:nvSpPr>
        <p:spPr>
          <a:xfrm>
            <a:off x="8375904" y="4764024"/>
            <a:ext cx="3063240" cy="347472"/>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Declined, no tools</a:t>
            </a:r>
            <a:endParaRPr lang="en-US" sz="1150" dirty="0"/>
          </a:p>
        </p:txBody>
      </p:sp>
      <p:sp>
        <p:nvSpPr>
          <p:cNvPr id="35" name="Shape 28"/>
          <p:cNvSpPr/>
          <p:nvPr/>
        </p:nvSpPr>
        <p:spPr>
          <a:xfrm>
            <a:off x="566928" y="5385816"/>
            <a:ext cx="11055096" cy="676656"/>
          </a:xfrm>
          <a:prstGeom prst="roundRect">
            <a:avLst>
              <a:gd name="adj" fmla="val 10811"/>
            </a:avLst>
          </a:prstGeom>
          <a:solidFill>
            <a:srgbClr val="FFFFFF"/>
          </a:solidFill>
          <a:ln w="12700">
            <a:solidFill>
              <a:srgbClr val="E2E8F0"/>
            </a:solidFill>
            <a:prstDash val="solid"/>
          </a:ln>
          <a:effectLst>
            <a:outerShdw blurRad="88900" dist="38100" dir="5400000" algn="bl" rotWithShape="0">
              <a:srgbClr val="000000">
                <a:alpha val="14000"/>
              </a:srgbClr>
            </a:outerShdw>
          </a:effectLst>
        </p:spPr>
      </p:sp>
      <p:sp>
        <p:nvSpPr>
          <p:cNvPr id="36" name="Shape 29"/>
          <p:cNvSpPr/>
          <p:nvPr/>
        </p:nvSpPr>
        <p:spPr>
          <a:xfrm>
            <a:off x="749808" y="5495544"/>
            <a:ext cx="457200" cy="457200"/>
          </a:xfrm>
          <a:prstGeom prst="ellipse">
            <a:avLst/>
          </a:prstGeom>
          <a:solidFill>
            <a:srgbClr val="0E1726"/>
          </a:solidFill>
          <a:ln/>
        </p:spPr>
      </p:sp>
      <p:pic>
        <p:nvPicPr>
          <p:cNvPr id="37" name="Image 5" descr="preencoded.png"/>
          <p:cNvPicPr>
            <a:picLocks noChangeAspect="1"/>
          </p:cNvPicPr>
          <p:nvPr/>
        </p:nvPicPr>
        <p:blipFill>
          <a:blip r:embed="rId7"/>
          <a:stretch>
            <a:fillRect/>
          </a:stretch>
        </p:blipFill>
        <p:spPr>
          <a:xfrm>
            <a:off x="859536" y="5605272"/>
            <a:ext cx="237744" cy="237744"/>
          </a:xfrm>
          <a:prstGeom prst="rect">
            <a:avLst/>
          </a:prstGeom>
        </p:spPr>
      </p:pic>
      <p:sp>
        <p:nvSpPr>
          <p:cNvPr id="38" name="Text 30"/>
          <p:cNvSpPr/>
          <p:nvPr/>
        </p:nvSpPr>
        <p:spPr>
          <a:xfrm>
            <a:off x="1344168" y="5385816"/>
            <a:ext cx="1463040" cy="676656"/>
          </a:xfrm>
          <a:prstGeom prst="rect">
            <a:avLst/>
          </a:prstGeom>
          <a:noFill/>
          <a:ln/>
        </p:spPr>
        <p:txBody>
          <a:bodyPr wrap="square" rtlCol="0" anchor="ctr"/>
          <a:lstStyle/>
          <a:p>
            <a:pPr marL="0" indent="0">
              <a:buNone/>
            </a:pPr>
            <a:r>
              <a:rPr lang="en-US" sz="1500" b="1" dirty="0">
                <a:solidFill>
                  <a:srgbClr val="1E293B"/>
                </a:solidFill>
                <a:latin typeface="Cambria" pitchFamily="34" charset="0"/>
                <a:ea typeface="Cambria" pitchFamily="34" charset="-122"/>
                <a:cs typeface="Cambria" pitchFamily="34" charset="-120"/>
              </a:rPr>
              <a:t>Trace 5</a:t>
            </a:r>
            <a:endParaRPr lang="en-US" sz="1500" dirty="0"/>
          </a:p>
        </p:txBody>
      </p:sp>
      <p:sp>
        <p:nvSpPr>
          <p:cNvPr id="39" name="Text 31"/>
          <p:cNvSpPr/>
          <p:nvPr/>
        </p:nvSpPr>
        <p:spPr>
          <a:xfrm>
            <a:off x="2852928" y="5385816"/>
            <a:ext cx="5669280" cy="676656"/>
          </a:xfrm>
          <a:prstGeom prst="rect">
            <a:avLst/>
          </a:prstGeom>
          <a:noFill/>
          <a:ln/>
        </p:spPr>
        <p:txBody>
          <a:bodyPr wrap="square" rtlCol="0" anchor="ctr"/>
          <a:lstStyle/>
          <a:p>
            <a:pPr marL="0" indent="0">
              <a:buNone/>
            </a:pPr>
            <a:r>
              <a:rPr lang="en-US" sz="1350" dirty="0">
                <a:solidFill>
                  <a:srgbClr val="1E293B"/>
                </a:solidFill>
                <a:latin typeface="Calibri" pitchFamily="34" charset="0"/>
                <a:ea typeface="Calibri" pitchFamily="34" charset="-122"/>
                <a:cs typeface="Calibri" pitchFamily="34" charset="-120"/>
              </a:rPr>
              <a:t>Graceful rejection — coding request</a:t>
            </a:r>
            <a:endParaRPr lang="en-US" sz="1350" dirty="0"/>
          </a:p>
        </p:txBody>
      </p:sp>
      <p:sp>
        <p:nvSpPr>
          <p:cNvPr id="40" name="Shape 32"/>
          <p:cNvSpPr/>
          <p:nvPr/>
        </p:nvSpPr>
        <p:spPr>
          <a:xfrm>
            <a:off x="8375904" y="5550408"/>
            <a:ext cx="3063240" cy="347472"/>
          </a:xfrm>
          <a:prstGeom prst="roundRect">
            <a:avLst>
              <a:gd name="adj" fmla="val 13158"/>
            </a:avLst>
          </a:prstGeom>
          <a:solidFill>
            <a:srgbClr val="06B6D4"/>
          </a:solidFill>
          <a:ln/>
        </p:spPr>
      </p:sp>
      <p:sp>
        <p:nvSpPr>
          <p:cNvPr id="41" name="Text 33"/>
          <p:cNvSpPr/>
          <p:nvPr/>
        </p:nvSpPr>
        <p:spPr>
          <a:xfrm>
            <a:off x="8375904" y="5550408"/>
            <a:ext cx="3063240" cy="347472"/>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Declined, no tools</a:t>
            </a:r>
            <a:endParaRPr lang="en-US" sz="1150" dirty="0"/>
          </a:p>
        </p:txBody>
      </p:sp>
      <p:sp>
        <p:nvSpPr>
          <p:cNvPr id="42" name="Text 34"/>
          <p:cNvSpPr/>
          <p:nvPr/>
        </p:nvSpPr>
        <p:spPr>
          <a:xfrm>
            <a:off x="11365992" y="6400800"/>
            <a:ext cx="457200" cy="274320"/>
          </a:xfrm>
          <a:prstGeom prst="rect">
            <a:avLst/>
          </a:prstGeom>
          <a:noFill/>
          <a:ln/>
        </p:spPr>
        <p:txBody>
          <a:bodyPr wrap="square"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8</a:t>
            </a:r>
            <a:endParaRPr lang="en-US" sz="1000" dirty="0"/>
          </a:p>
        </p:txBody>
      </p:sp>
      <p:sp>
        <p:nvSpPr>
          <p:cNvPr id="43" name="Text 35"/>
          <p:cNvSpPr/>
          <p:nvPr/>
        </p:nvSpPr>
        <p:spPr>
          <a:xfrm>
            <a:off x="566928" y="6400800"/>
            <a:ext cx="3657600" cy="274320"/>
          </a:xfrm>
          <a:prstGeom prst="rect">
            <a:avLst/>
          </a:prstGeom>
          <a:noFill/>
          <a:ln/>
        </p:spPr>
        <p:txBody>
          <a:bodyPr wrap="square" rtlCol="0" anchor="ctr"/>
          <a:lstStyle/>
          <a:p>
            <a:pPr marL="0" indent="0" algn="l">
              <a:buNone/>
            </a:pPr>
            <a:r>
              <a:rPr lang="en-US" sz="1000" dirty="0">
                <a:solidFill>
                  <a:srgbClr val="64748B"/>
                </a:solidFill>
                <a:latin typeface="Calibri" pitchFamily="34" charset="0"/>
                <a:ea typeface="Calibri" pitchFamily="34" charset="-122"/>
                <a:cs typeface="Calibri" pitchFamily="34" charset="-120"/>
              </a:rPr>
              <a:t>SentinelMesh</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57200"/>
            <a:ext cx="566928" cy="566928"/>
          </a:xfrm>
          <a:prstGeom prst="ellipse">
            <a:avLst/>
          </a:prstGeom>
          <a:solidFill>
            <a:srgbClr val="0E1726"/>
          </a:solidFill>
          <a:ln/>
        </p:spPr>
      </p:sp>
      <p:pic>
        <p:nvPicPr>
          <p:cNvPr id="3" name="Image 0" descr="preencoded.png"/>
          <p:cNvPicPr>
            <a:picLocks noChangeAspect="1"/>
          </p:cNvPicPr>
          <p:nvPr/>
        </p:nvPicPr>
        <p:blipFill>
          <a:blip r:embed="rId3"/>
          <a:stretch>
            <a:fillRect/>
          </a:stretch>
        </p:blipFill>
        <p:spPr>
          <a:xfrm>
            <a:off x="704088" y="594360"/>
            <a:ext cx="292608" cy="292608"/>
          </a:xfrm>
          <a:prstGeom prst="rect">
            <a:avLst/>
          </a:prstGeom>
        </p:spPr>
      </p:pic>
      <p:sp>
        <p:nvSpPr>
          <p:cNvPr id="4" name="Text 1"/>
          <p:cNvSpPr/>
          <p:nvPr/>
        </p:nvSpPr>
        <p:spPr>
          <a:xfrm>
            <a:off x="1298448" y="457200"/>
            <a:ext cx="9144000" cy="274320"/>
          </a:xfrm>
          <a:prstGeom prst="rect">
            <a:avLst/>
          </a:prstGeom>
          <a:noFill/>
          <a:ln/>
        </p:spPr>
        <p:txBody>
          <a:bodyPr wrap="square" rtlCol="0" anchor="ctr"/>
          <a:lstStyle/>
          <a:p>
            <a:pPr marL="0" indent="0">
              <a:buNone/>
            </a:pPr>
            <a:r>
              <a:rPr lang="en-US" sz="1200" b="1" kern="0" spc="300" dirty="0">
                <a:solidFill>
                  <a:srgbClr val="0E7490"/>
                </a:solidFill>
                <a:latin typeface="Calibri" pitchFamily="34" charset="0"/>
                <a:ea typeface="Calibri" pitchFamily="34" charset="-122"/>
                <a:cs typeface="Calibri" pitchFamily="34" charset="-120"/>
              </a:rPr>
              <a:t>TRACES 1 &amp; 2</a:t>
            </a:r>
            <a:endParaRPr lang="en-US" sz="1200" dirty="0"/>
          </a:p>
        </p:txBody>
      </p:sp>
      <p:sp>
        <p:nvSpPr>
          <p:cNvPr id="5" name="Text 2"/>
          <p:cNvSpPr/>
          <p:nvPr/>
        </p:nvSpPr>
        <p:spPr>
          <a:xfrm>
            <a:off x="1298448" y="694944"/>
            <a:ext cx="10341864" cy="502920"/>
          </a:xfrm>
          <a:prstGeom prst="rect">
            <a:avLst/>
          </a:prstGeom>
          <a:noFill/>
          <a:ln/>
        </p:spPr>
        <p:txBody>
          <a:bodyPr wrap="square" rtlCol="0" anchor="ctr"/>
          <a:lstStyle/>
          <a:p>
            <a:pPr marL="0" indent="0">
              <a:buNone/>
            </a:pPr>
            <a:r>
              <a:rPr lang="en-US" sz="2800" b="1" dirty="0">
                <a:solidFill>
                  <a:srgbClr val="1E293B"/>
                </a:solidFill>
                <a:latin typeface="Cambria" pitchFamily="34" charset="0"/>
                <a:ea typeface="Cambria" pitchFamily="34" charset="-122"/>
                <a:cs typeface="Cambria" pitchFamily="34" charset="-120"/>
              </a:rPr>
              <a:t>Normal triage — a hit and an honest miss</a:t>
            </a:r>
            <a:endParaRPr lang="en-US" sz="2800" dirty="0"/>
          </a:p>
        </p:txBody>
      </p:sp>
      <p:sp>
        <p:nvSpPr>
          <p:cNvPr id="6" name="Shape 3"/>
          <p:cNvSpPr/>
          <p:nvPr/>
        </p:nvSpPr>
        <p:spPr>
          <a:xfrm>
            <a:off x="566928" y="1645920"/>
            <a:ext cx="5486400" cy="3931920"/>
          </a:xfrm>
          <a:prstGeom prst="roundRect">
            <a:avLst>
              <a:gd name="adj" fmla="val 1860"/>
            </a:avLst>
          </a:prstGeom>
          <a:solidFill>
            <a:srgbClr val="FFFFFF"/>
          </a:solidFill>
          <a:ln w="12700">
            <a:solidFill>
              <a:srgbClr val="E2E8F0"/>
            </a:solidFill>
            <a:prstDash val="solid"/>
          </a:ln>
          <a:effectLst>
            <a:outerShdw blurRad="88900" dist="38100" dir="5400000" algn="bl" rotWithShape="0">
              <a:srgbClr val="000000">
                <a:alpha val="14000"/>
              </a:srgbClr>
            </a:outerShdw>
          </a:effectLst>
        </p:spPr>
      </p:sp>
      <p:sp>
        <p:nvSpPr>
          <p:cNvPr id="7" name="Shape 4"/>
          <p:cNvSpPr/>
          <p:nvPr/>
        </p:nvSpPr>
        <p:spPr>
          <a:xfrm>
            <a:off x="566928" y="1645920"/>
            <a:ext cx="5486400" cy="548640"/>
          </a:xfrm>
          <a:prstGeom prst="roundRect">
            <a:avLst>
              <a:gd name="adj" fmla="val 13333"/>
            </a:avLst>
          </a:prstGeom>
          <a:solidFill>
            <a:srgbClr val="10B981"/>
          </a:solidFill>
          <a:ln/>
        </p:spPr>
      </p:sp>
      <p:sp>
        <p:nvSpPr>
          <p:cNvPr id="8" name="Text 5"/>
          <p:cNvSpPr/>
          <p:nvPr/>
        </p:nvSpPr>
        <p:spPr>
          <a:xfrm>
            <a:off x="795528" y="1645920"/>
            <a:ext cx="5029200" cy="54864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TRACE 1  ·  DDoS ICMP flood</a:t>
            </a:r>
            <a:endParaRPr lang="en-US" sz="1500" dirty="0"/>
          </a:p>
        </p:txBody>
      </p:sp>
      <p:sp>
        <p:nvSpPr>
          <p:cNvPr id="9" name="Text 6"/>
          <p:cNvSpPr/>
          <p:nvPr/>
        </p:nvSpPr>
        <p:spPr>
          <a:xfrm>
            <a:off x="795528" y="2377440"/>
            <a:ext cx="5029200" cy="3108960"/>
          </a:xfrm>
          <a:prstGeom prst="rect">
            <a:avLst/>
          </a:prstGeom>
          <a:noFill/>
          <a:ln/>
        </p:spPr>
        <p:txBody>
          <a:bodyPr wrap="square" rtlCol="0" anchor="t"/>
          <a:lstStyle/>
          <a:p>
            <a:pPr marL="0" indent="0">
              <a:lnSpc>
                <a:spcPct val="108000"/>
              </a:lnSpc>
              <a:buNone/>
            </a:pPr>
            <a:r>
              <a:rPr lang="en-US" sz="1350" b="1" dirty="0">
                <a:solidFill>
                  <a:srgbClr val="0E7490"/>
                </a:solidFill>
                <a:latin typeface="Calibri" pitchFamily="34" charset="0"/>
                <a:ea typeface="Calibri" pitchFamily="34" charset="-122"/>
                <a:cs typeface="Calibri" pitchFamily="34" charset="-120"/>
              </a:rPr>
              <a:t>Alert: </a:t>
            </a:r>
            <a:r>
              <a:rPr lang="en-US" sz="1350" dirty="0">
                <a:solidFill>
                  <a:srgbClr val="1E293B"/>
                </a:solidFill>
                <a:latin typeface="Calibri" pitchFamily="34" charset="0"/>
                <a:ea typeface="Calibri" pitchFamily="34" charset="-122"/>
                <a:cs typeface="Calibri" pitchFamily="34" charset="-120"/>
              </a:rPr>
              <a:t>ICMP-dominant, 16,529 pps, uniform sizes, no TCP flags.</a:t>
            </a:r>
            <a:endParaRPr lang="en-US" sz="1350" dirty="0"/>
          </a:p>
          <a:p>
            <a:pPr marL="0" indent="0">
              <a:lnSpc>
                <a:spcPct val="108000"/>
              </a:lnSpc>
              <a:buNone/>
            </a:pPr>
            <a:endParaRPr lang="en-US" sz="1350" dirty="0"/>
          </a:p>
          <a:p>
            <a:pPr marL="0" indent="0">
              <a:lnSpc>
                <a:spcPct val="108000"/>
              </a:lnSpc>
              <a:buNone/>
            </a:pPr>
            <a:r>
              <a:rPr lang="en-US" sz="1350" b="1" dirty="0">
                <a:solidFill>
                  <a:srgbClr val="0E7490"/>
                </a:solidFill>
                <a:latin typeface="Calibri" pitchFamily="34" charset="0"/>
                <a:ea typeface="Calibri" pitchFamily="34" charset="-122"/>
                <a:cs typeface="Calibri" pitchFamily="34" charset="-120"/>
              </a:rPr>
              <a:t>Predicted: </a:t>
            </a:r>
            <a:r>
              <a:rPr lang="en-US" sz="1350" dirty="0">
                <a:solidFill>
                  <a:srgbClr val="1E293B"/>
                </a:solidFill>
                <a:latin typeface="Calibri" pitchFamily="34" charset="0"/>
                <a:ea typeface="Calibri" pitchFamily="34" charset="-122"/>
                <a:cs typeface="Calibri" pitchFamily="34" charset="-120"/>
              </a:rPr>
              <a:t>DDOS_FLOOD  (T1498 Network DoS)</a:t>
            </a:r>
            <a:endParaRPr lang="en-US" sz="1350" dirty="0"/>
          </a:p>
          <a:p>
            <a:pPr marL="0" indent="0">
              <a:lnSpc>
                <a:spcPct val="108000"/>
              </a:lnSpc>
              <a:buNone/>
            </a:pPr>
            <a:r>
              <a:rPr lang="en-US" sz="1350" b="1" dirty="0">
                <a:solidFill>
                  <a:srgbClr val="0E7490"/>
                </a:solidFill>
                <a:latin typeface="Calibri" pitchFamily="34" charset="0"/>
                <a:ea typeface="Calibri" pitchFamily="34" charset="-122"/>
                <a:cs typeface="Calibri" pitchFamily="34" charset="-120"/>
              </a:rPr>
              <a:t>Severity: </a:t>
            </a:r>
            <a:r>
              <a:rPr lang="en-US" sz="1350" dirty="0">
                <a:solidFill>
                  <a:srgbClr val="1E293B"/>
                </a:solidFill>
                <a:latin typeface="Calibri" pitchFamily="34" charset="0"/>
                <a:ea typeface="Calibri" pitchFamily="34" charset="-122"/>
                <a:cs typeface="Calibri" pitchFamily="34" charset="-120"/>
              </a:rPr>
              <a:t>10/10 CRITICAL — immediate containment.</a:t>
            </a:r>
            <a:endParaRPr lang="en-US" sz="1350" dirty="0"/>
          </a:p>
          <a:p>
            <a:pPr marL="0" indent="0">
              <a:lnSpc>
                <a:spcPct val="108000"/>
              </a:lnSpc>
              <a:buNone/>
            </a:pPr>
            <a:endParaRPr lang="en-US" sz="1350" dirty="0"/>
          </a:p>
          <a:p>
            <a:pPr marL="0" indent="0">
              <a:lnSpc>
                <a:spcPct val="108000"/>
              </a:lnSpc>
              <a:buNone/>
            </a:pPr>
            <a:r>
              <a:rPr lang="en-US" sz="1350" b="1" dirty="0">
                <a:solidFill>
                  <a:srgbClr val="10B981"/>
                </a:solidFill>
                <a:latin typeface="Calibri" pitchFamily="34" charset="0"/>
                <a:ea typeface="Calibri" pitchFamily="34" charset="-122"/>
                <a:cs typeface="Calibri" pitchFamily="34" charset="-120"/>
              </a:rPr>
              <a:t>True label: DDOS-ICMP_FLOOD  ✓ exact match</a:t>
            </a:r>
            <a:endParaRPr lang="en-US" sz="1350" dirty="0"/>
          </a:p>
        </p:txBody>
      </p:sp>
      <p:sp>
        <p:nvSpPr>
          <p:cNvPr id="10" name="Shape 7"/>
          <p:cNvSpPr/>
          <p:nvPr/>
        </p:nvSpPr>
        <p:spPr>
          <a:xfrm>
            <a:off x="6400800" y="1645920"/>
            <a:ext cx="5212080" cy="3931920"/>
          </a:xfrm>
          <a:prstGeom prst="roundRect">
            <a:avLst>
              <a:gd name="adj" fmla="val 1860"/>
            </a:avLst>
          </a:prstGeom>
          <a:solidFill>
            <a:srgbClr val="FFFFFF"/>
          </a:solidFill>
          <a:ln w="12700">
            <a:solidFill>
              <a:srgbClr val="E2E8F0"/>
            </a:solidFill>
            <a:prstDash val="solid"/>
          </a:ln>
          <a:effectLst>
            <a:outerShdw blurRad="88900" dist="38100" dir="5400000" algn="bl" rotWithShape="0">
              <a:srgbClr val="000000">
                <a:alpha val="14000"/>
              </a:srgbClr>
            </a:outerShdw>
          </a:effectLst>
        </p:spPr>
      </p:sp>
      <p:sp>
        <p:nvSpPr>
          <p:cNvPr id="11" name="Shape 8"/>
          <p:cNvSpPr/>
          <p:nvPr/>
        </p:nvSpPr>
        <p:spPr>
          <a:xfrm>
            <a:off x="6400800" y="1645920"/>
            <a:ext cx="5212080" cy="548640"/>
          </a:xfrm>
          <a:prstGeom prst="roundRect">
            <a:avLst>
              <a:gd name="adj" fmla="val 13333"/>
            </a:avLst>
          </a:prstGeom>
          <a:solidFill>
            <a:srgbClr val="F59E0B"/>
          </a:solidFill>
          <a:ln/>
        </p:spPr>
      </p:sp>
      <p:sp>
        <p:nvSpPr>
          <p:cNvPr id="12" name="Text 9"/>
          <p:cNvSpPr/>
          <p:nvPr/>
        </p:nvSpPr>
        <p:spPr>
          <a:xfrm>
            <a:off x="6629400" y="1645920"/>
            <a:ext cx="4846320" cy="54864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TRACE 2  ·  Recon port-scan</a:t>
            </a:r>
            <a:endParaRPr lang="en-US" sz="1500" dirty="0"/>
          </a:p>
        </p:txBody>
      </p:sp>
      <p:sp>
        <p:nvSpPr>
          <p:cNvPr id="13" name="Text 10"/>
          <p:cNvSpPr/>
          <p:nvPr/>
        </p:nvSpPr>
        <p:spPr>
          <a:xfrm>
            <a:off x="6629400" y="2377440"/>
            <a:ext cx="4846320" cy="3108960"/>
          </a:xfrm>
          <a:prstGeom prst="rect">
            <a:avLst/>
          </a:prstGeom>
          <a:noFill/>
          <a:ln/>
        </p:spPr>
        <p:txBody>
          <a:bodyPr wrap="square" rtlCol="0" anchor="t"/>
          <a:lstStyle/>
          <a:p>
            <a:pPr marL="0" indent="0">
              <a:lnSpc>
                <a:spcPct val="108000"/>
              </a:lnSpc>
              <a:buNone/>
            </a:pPr>
            <a:r>
              <a:rPr lang="en-US" sz="1350" b="1" dirty="0">
                <a:solidFill>
                  <a:srgbClr val="0E7490"/>
                </a:solidFill>
                <a:latin typeface="Calibri" pitchFamily="34" charset="0"/>
                <a:ea typeface="Calibri" pitchFamily="34" charset="-122"/>
                <a:cs typeface="Calibri" pitchFamily="34" charset="-120"/>
              </a:rPr>
              <a:t>Alert: </a:t>
            </a:r>
            <a:r>
              <a:rPr lang="en-US" sz="1350" dirty="0">
                <a:solidFill>
                  <a:srgbClr val="1E293B"/>
                </a:solidFill>
                <a:latin typeface="Calibri" pitchFamily="34" charset="0"/>
                <a:ea typeface="Calibri" pitchFamily="34" charset="-122"/>
                <a:cs typeface="Calibri" pitchFamily="34" charset="-120"/>
              </a:rPr>
              <a:t>Low-rate TCP, few packets, scattered probes.</a:t>
            </a:r>
            <a:endParaRPr lang="en-US" sz="1350" dirty="0"/>
          </a:p>
          <a:p>
            <a:pPr marL="0" indent="0">
              <a:lnSpc>
                <a:spcPct val="108000"/>
              </a:lnSpc>
              <a:buNone/>
            </a:pPr>
            <a:endParaRPr lang="en-US" sz="1350" dirty="0"/>
          </a:p>
          <a:p>
            <a:pPr marL="0" indent="0">
              <a:lnSpc>
                <a:spcPct val="108000"/>
              </a:lnSpc>
              <a:buNone/>
            </a:pPr>
            <a:r>
              <a:rPr lang="en-US" sz="1350" b="1" dirty="0">
                <a:solidFill>
                  <a:srgbClr val="0E7490"/>
                </a:solidFill>
                <a:latin typeface="Calibri" pitchFamily="34" charset="0"/>
                <a:ea typeface="Calibri" pitchFamily="34" charset="-122"/>
                <a:cs typeface="Calibri" pitchFamily="34" charset="-120"/>
              </a:rPr>
              <a:t>Predicted: </a:t>
            </a:r>
            <a:r>
              <a:rPr lang="en-US" sz="1350" dirty="0">
                <a:solidFill>
                  <a:srgbClr val="1E293B"/>
                </a:solidFill>
                <a:latin typeface="Calibri" pitchFamily="34" charset="0"/>
                <a:ea typeface="Calibri" pitchFamily="34" charset="-122"/>
                <a:cs typeface="Calibri" pitchFamily="34" charset="-120"/>
              </a:rPr>
              <a:t>BENIGN  (under-reacted)</a:t>
            </a:r>
            <a:endParaRPr lang="en-US" sz="1350" dirty="0"/>
          </a:p>
          <a:p>
            <a:pPr marL="0" indent="0">
              <a:lnSpc>
                <a:spcPct val="108000"/>
              </a:lnSpc>
              <a:buNone/>
            </a:pPr>
            <a:r>
              <a:rPr lang="en-US" sz="1350" b="1" dirty="0">
                <a:solidFill>
                  <a:srgbClr val="F59E0B"/>
                </a:solidFill>
                <a:latin typeface="Calibri" pitchFamily="34" charset="0"/>
                <a:ea typeface="Calibri" pitchFamily="34" charset="-122"/>
                <a:cs typeface="Calibri" pitchFamily="34" charset="-120"/>
              </a:rPr>
              <a:t>True label: RECON-PORTSCAN  ✗ miss</a:t>
            </a:r>
            <a:endParaRPr lang="en-US" sz="1350" dirty="0"/>
          </a:p>
          <a:p>
            <a:pPr marL="0" indent="0">
              <a:lnSpc>
                <a:spcPct val="108000"/>
              </a:lnSpc>
              <a:buNone/>
            </a:pPr>
            <a:endParaRPr lang="en-US" sz="1350" dirty="0"/>
          </a:p>
          <a:p>
            <a:pPr marL="0" indent="0">
              <a:lnSpc>
                <a:spcPct val="108000"/>
              </a:lnSpc>
              <a:buNone/>
            </a:pPr>
            <a:r>
              <a:rPr lang="en-US" sz="1350" b="1" dirty="0">
                <a:solidFill>
                  <a:srgbClr val="0E7490"/>
                </a:solidFill>
                <a:latin typeface="Calibri" pitchFamily="34" charset="0"/>
                <a:ea typeface="Calibri" pitchFamily="34" charset="-122"/>
                <a:cs typeface="Calibri" pitchFamily="34" charset="-120"/>
              </a:rPr>
              <a:t>Why: </a:t>
            </a:r>
            <a:r>
              <a:rPr lang="en-US" sz="1350" i="1" dirty="0">
                <a:solidFill>
                  <a:srgbClr val="64748B"/>
                </a:solidFill>
                <a:latin typeface="Calibri" pitchFamily="34" charset="0"/>
                <a:ea typeface="Calibri" pitchFamily="34" charset="-122"/>
                <a:cs typeface="Calibri" pitchFamily="34" charset="-120"/>
              </a:rPr>
              <a:t>low-and-slow recon looks like normal quiet traffic in flow statistics alone — a real limitation we report honestly.</a:t>
            </a:r>
            <a:endParaRPr lang="en-US" sz="1350" dirty="0"/>
          </a:p>
        </p:txBody>
      </p:sp>
      <p:sp>
        <p:nvSpPr>
          <p:cNvPr id="14" name="Text 11"/>
          <p:cNvSpPr/>
          <p:nvPr/>
        </p:nvSpPr>
        <p:spPr>
          <a:xfrm>
            <a:off x="11365992" y="6400800"/>
            <a:ext cx="457200" cy="274320"/>
          </a:xfrm>
          <a:prstGeom prst="rect">
            <a:avLst/>
          </a:prstGeom>
          <a:noFill/>
          <a:ln/>
        </p:spPr>
        <p:txBody>
          <a:bodyPr wrap="square"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9</a:t>
            </a:r>
            <a:endParaRPr lang="en-US" sz="1000" dirty="0"/>
          </a:p>
        </p:txBody>
      </p:sp>
      <p:sp>
        <p:nvSpPr>
          <p:cNvPr id="15" name="Text 12"/>
          <p:cNvSpPr/>
          <p:nvPr/>
        </p:nvSpPr>
        <p:spPr>
          <a:xfrm>
            <a:off x="566928" y="6400800"/>
            <a:ext cx="3657600" cy="274320"/>
          </a:xfrm>
          <a:prstGeom prst="rect">
            <a:avLst/>
          </a:prstGeom>
          <a:noFill/>
          <a:ln/>
        </p:spPr>
        <p:txBody>
          <a:bodyPr wrap="square" rtlCol="0" anchor="ctr"/>
          <a:lstStyle/>
          <a:p>
            <a:pPr marL="0" indent="0" algn="l">
              <a:buNone/>
            </a:pPr>
            <a:r>
              <a:rPr lang="en-US" sz="1000" dirty="0">
                <a:solidFill>
                  <a:srgbClr val="64748B"/>
                </a:solidFill>
                <a:latin typeface="Calibri" pitchFamily="34" charset="0"/>
                <a:ea typeface="Calibri" pitchFamily="34" charset="-122"/>
                <a:cs typeface="Calibri" pitchFamily="34" charset="-120"/>
              </a:rPr>
              <a:t>SentinelMesh</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57200"/>
            <a:ext cx="566928" cy="566928"/>
          </a:xfrm>
          <a:prstGeom prst="ellipse">
            <a:avLst/>
          </a:prstGeom>
          <a:solidFill>
            <a:srgbClr val="0E1726"/>
          </a:solidFill>
          <a:ln/>
        </p:spPr>
      </p:sp>
      <p:pic>
        <p:nvPicPr>
          <p:cNvPr id="3" name="Image 0" descr="preencoded.png"/>
          <p:cNvPicPr>
            <a:picLocks noChangeAspect="1"/>
          </p:cNvPicPr>
          <p:nvPr/>
        </p:nvPicPr>
        <p:blipFill>
          <a:blip r:embed="rId3"/>
          <a:stretch>
            <a:fillRect/>
          </a:stretch>
        </p:blipFill>
        <p:spPr>
          <a:xfrm>
            <a:off x="704088" y="594360"/>
            <a:ext cx="292608" cy="292608"/>
          </a:xfrm>
          <a:prstGeom prst="rect">
            <a:avLst/>
          </a:prstGeom>
        </p:spPr>
      </p:pic>
      <p:sp>
        <p:nvSpPr>
          <p:cNvPr id="4" name="Text 1"/>
          <p:cNvSpPr/>
          <p:nvPr/>
        </p:nvSpPr>
        <p:spPr>
          <a:xfrm>
            <a:off x="1298448" y="457200"/>
            <a:ext cx="9144000" cy="274320"/>
          </a:xfrm>
          <a:prstGeom prst="rect">
            <a:avLst/>
          </a:prstGeom>
          <a:noFill/>
          <a:ln/>
        </p:spPr>
        <p:txBody>
          <a:bodyPr wrap="square" rtlCol="0" anchor="ctr"/>
          <a:lstStyle/>
          <a:p>
            <a:pPr marL="0" indent="0">
              <a:buNone/>
            </a:pPr>
            <a:r>
              <a:rPr lang="en-US" sz="1200" b="1" kern="0" spc="300" dirty="0">
                <a:solidFill>
                  <a:srgbClr val="0E7490"/>
                </a:solidFill>
                <a:latin typeface="Calibri" pitchFamily="34" charset="0"/>
                <a:ea typeface="Calibri" pitchFamily="34" charset="-122"/>
                <a:cs typeface="Calibri" pitchFamily="34" charset="-120"/>
              </a:rPr>
              <a:t>TRACE 3</a:t>
            </a:r>
            <a:endParaRPr lang="en-US" sz="1200" dirty="0"/>
          </a:p>
        </p:txBody>
      </p:sp>
      <p:sp>
        <p:nvSpPr>
          <p:cNvPr id="5" name="Text 2"/>
          <p:cNvSpPr/>
          <p:nvPr/>
        </p:nvSpPr>
        <p:spPr>
          <a:xfrm>
            <a:off x="1298448" y="694944"/>
            <a:ext cx="10341864" cy="502920"/>
          </a:xfrm>
          <a:prstGeom prst="rect">
            <a:avLst/>
          </a:prstGeom>
          <a:noFill/>
          <a:ln/>
        </p:spPr>
        <p:txBody>
          <a:bodyPr wrap="square" rtlCol="0" anchor="ctr"/>
          <a:lstStyle/>
          <a:p>
            <a:pPr marL="0" indent="0">
              <a:buNone/>
            </a:pPr>
            <a:r>
              <a:rPr lang="en-US" sz="2800" b="1" dirty="0">
                <a:solidFill>
                  <a:srgbClr val="1E293B"/>
                </a:solidFill>
                <a:latin typeface="Cambria" pitchFamily="34" charset="0"/>
                <a:ea typeface="Cambria" pitchFamily="34" charset="-122"/>
                <a:cs typeface="Cambria" pitchFamily="34" charset="-120"/>
              </a:rPr>
              <a:t>Two-model comparison on one alert</a:t>
            </a:r>
            <a:endParaRPr lang="en-US" sz="2800" dirty="0"/>
          </a:p>
        </p:txBody>
      </p:sp>
      <p:sp>
        <p:nvSpPr>
          <p:cNvPr id="6" name="Text 3"/>
          <p:cNvSpPr/>
          <p:nvPr/>
        </p:nvSpPr>
        <p:spPr>
          <a:xfrm>
            <a:off x="566928" y="1508760"/>
            <a:ext cx="11055096" cy="411480"/>
          </a:xfrm>
          <a:prstGeom prst="rect">
            <a:avLst/>
          </a:prstGeom>
          <a:noFill/>
          <a:ln/>
        </p:spPr>
        <p:txBody>
          <a:bodyPr wrap="square" rtlCol="0" anchor="ctr"/>
          <a:lstStyle/>
          <a:p>
            <a:pPr marL="0" indent="0">
              <a:buNone/>
            </a:pPr>
            <a:r>
              <a:rPr lang="en-US" sz="1450" dirty="0">
                <a:solidFill>
                  <a:srgbClr val="1E293B"/>
                </a:solidFill>
                <a:latin typeface="Calibri" pitchFamily="34" charset="0"/>
                <a:ea typeface="Calibri" pitchFamily="34" charset="-122"/>
                <a:cs typeface="Calibri" pitchFamily="34" charset="-120"/>
              </a:rPr>
              <a:t>Same ICMP-flood alert, two models, identical tools. This is the rubric's required two-LLM trace.</a:t>
            </a:r>
            <a:endParaRPr lang="en-US" sz="1450" dirty="0"/>
          </a:p>
        </p:txBody>
      </p:sp>
      <p:sp>
        <p:nvSpPr>
          <p:cNvPr id="7" name="Shape 4"/>
          <p:cNvSpPr/>
          <p:nvPr/>
        </p:nvSpPr>
        <p:spPr>
          <a:xfrm>
            <a:off x="566928" y="2057400"/>
            <a:ext cx="5394960" cy="2286000"/>
          </a:xfrm>
          <a:prstGeom prst="roundRect">
            <a:avLst>
              <a:gd name="adj" fmla="val 3200"/>
            </a:avLst>
          </a:prstGeom>
          <a:solidFill>
            <a:srgbClr val="FFFFFF"/>
          </a:solidFill>
          <a:ln w="12700">
            <a:solidFill>
              <a:srgbClr val="E2E8F0"/>
            </a:solidFill>
            <a:prstDash val="solid"/>
          </a:ln>
          <a:effectLst>
            <a:outerShdw blurRad="88900" dist="38100" dir="5400000" algn="bl" rotWithShape="0">
              <a:srgbClr val="000000">
                <a:alpha val="14000"/>
              </a:srgbClr>
            </a:outerShdw>
          </a:effectLst>
        </p:spPr>
      </p:sp>
      <p:sp>
        <p:nvSpPr>
          <p:cNvPr id="8" name="Text 5"/>
          <p:cNvSpPr/>
          <p:nvPr/>
        </p:nvSpPr>
        <p:spPr>
          <a:xfrm>
            <a:off x="795528" y="2194560"/>
            <a:ext cx="4937760" cy="365760"/>
          </a:xfrm>
          <a:prstGeom prst="rect">
            <a:avLst/>
          </a:prstGeom>
          <a:noFill/>
          <a:ln/>
        </p:spPr>
        <p:txBody>
          <a:bodyPr wrap="square" rtlCol="0" anchor="ctr"/>
          <a:lstStyle/>
          <a:p>
            <a:pPr marL="0" indent="0">
              <a:buNone/>
            </a:pPr>
            <a:r>
              <a:rPr lang="en-US" sz="1600" b="1" dirty="0">
                <a:solidFill>
                  <a:srgbClr val="0E7490"/>
                </a:solidFill>
                <a:latin typeface="Cambria" pitchFamily="34" charset="0"/>
                <a:ea typeface="Cambria" pitchFamily="34" charset="-122"/>
                <a:cs typeface="Cambria" pitchFamily="34" charset="-120"/>
              </a:rPr>
              <a:t>gpt-oss-120b  (larger)</a:t>
            </a:r>
            <a:endParaRPr lang="en-US" sz="1600" dirty="0"/>
          </a:p>
        </p:txBody>
      </p:sp>
      <p:sp>
        <p:nvSpPr>
          <p:cNvPr id="9" name="Text 6"/>
          <p:cNvSpPr/>
          <p:nvPr/>
        </p:nvSpPr>
        <p:spPr>
          <a:xfrm>
            <a:off x="795528" y="2606040"/>
            <a:ext cx="4937760" cy="1554480"/>
          </a:xfrm>
          <a:prstGeom prst="rect">
            <a:avLst/>
          </a:prstGeom>
          <a:noFill/>
          <a:ln/>
        </p:spPr>
        <p:txBody>
          <a:bodyPr wrap="square" rtlCol="0" anchor="t"/>
          <a:lstStyle/>
          <a:p>
            <a:pPr marL="0" indent="0">
              <a:lnSpc>
                <a:spcPct val="115000"/>
              </a:lnSpc>
              <a:buNone/>
            </a:pPr>
            <a:r>
              <a:rPr lang="en-US" sz="1400" dirty="0">
                <a:solidFill>
                  <a:srgbClr val="1E293B"/>
                </a:solidFill>
                <a:latin typeface="Calibri" pitchFamily="34" charset="0"/>
                <a:ea typeface="Calibri" pitchFamily="34" charset="-122"/>
                <a:cs typeface="Calibri" pitchFamily="34" charset="-120"/>
              </a:rPr>
              <a:t>Predicted:  DDOS_FLOOD  (T1498)</a:t>
            </a:r>
            <a:endParaRPr lang="en-US" sz="1400" dirty="0"/>
          </a:p>
          <a:p>
            <a:pPr marL="0" indent="0">
              <a:lnSpc>
                <a:spcPct val="115000"/>
              </a:lnSpc>
              <a:buNone/>
            </a:pPr>
            <a:r>
              <a:rPr lang="en-US" sz="1400" dirty="0">
                <a:solidFill>
                  <a:srgbClr val="1E293B"/>
                </a:solidFill>
                <a:latin typeface="Calibri" pitchFamily="34" charset="0"/>
                <a:ea typeface="Calibri" pitchFamily="34" charset="-122"/>
                <a:cs typeface="Calibri" pitchFamily="34" charset="-120"/>
              </a:rPr>
              <a:t>Severity:  10/10 CRITICAL</a:t>
            </a:r>
            <a:endParaRPr lang="en-US" sz="1400" dirty="0"/>
          </a:p>
          <a:p>
            <a:pPr marL="0" indent="0">
              <a:lnSpc>
                <a:spcPct val="115000"/>
              </a:lnSpc>
              <a:buNone/>
            </a:pPr>
            <a:r>
              <a:rPr lang="en-US" sz="1400" b="1" dirty="0">
                <a:solidFill>
                  <a:srgbClr val="10B981"/>
                </a:solidFill>
                <a:latin typeface="Calibri" pitchFamily="34" charset="0"/>
                <a:ea typeface="Calibri" pitchFamily="34" charset="-122"/>
                <a:cs typeface="Calibri" pitchFamily="34" charset="-120"/>
              </a:rPr>
              <a:t>✓ exact family correct</a:t>
            </a:r>
            <a:endParaRPr lang="en-US" sz="1400" dirty="0"/>
          </a:p>
        </p:txBody>
      </p:sp>
      <p:sp>
        <p:nvSpPr>
          <p:cNvPr id="10" name="Shape 7"/>
          <p:cNvSpPr/>
          <p:nvPr/>
        </p:nvSpPr>
        <p:spPr>
          <a:xfrm>
            <a:off x="6400800" y="2057400"/>
            <a:ext cx="5212080" cy="2286000"/>
          </a:xfrm>
          <a:prstGeom prst="roundRect">
            <a:avLst>
              <a:gd name="adj" fmla="val 3200"/>
            </a:avLst>
          </a:prstGeom>
          <a:solidFill>
            <a:srgbClr val="FFFFFF"/>
          </a:solidFill>
          <a:ln w="12700">
            <a:solidFill>
              <a:srgbClr val="E2E8F0"/>
            </a:solidFill>
            <a:prstDash val="solid"/>
          </a:ln>
          <a:effectLst>
            <a:outerShdw blurRad="88900" dist="38100" dir="5400000" algn="bl" rotWithShape="0">
              <a:srgbClr val="000000">
                <a:alpha val="14000"/>
              </a:srgbClr>
            </a:outerShdw>
          </a:effectLst>
        </p:spPr>
      </p:sp>
      <p:sp>
        <p:nvSpPr>
          <p:cNvPr id="11" name="Text 8"/>
          <p:cNvSpPr/>
          <p:nvPr/>
        </p:nvSpPr>
        <p:spPr>
          <a:xfrm>
            <a:off x="6629400" y="2194560"/>
            <a:ext cx="4754880" cy="365760"/>
          </a:xfrm>
          <a:prstGeom prst="rect">
            <a:avLst/>
          </a:prstGeom>
          <a:noFill/>
          <a:ln/>
        </p:spPr>
        <p:txBody>
          <a:bodyPr wrap="square" rtlCol="0" anchor="ctr"/>
          <a:lstStyle/>
          <a:p>
            <a:pPr marL="0" indent="0">
              <a:buNone/>
            </a:pPr>
            <a:r>
              <a:rPr lang="en-US" sz="1600" b="1" dirty="0">
                <a:solidFill>
                  <a:srgbClr val="0E7490"/>
                </a:solidFill>
                <a:latin typeface="Cambria" pitchFamily="34" charset="0"/>
                <a:ea typeface="Cambria" pitchFamily="34" charset="-122"/>
                <a:cs typeface="Cambria" pitchFamily="34" charset="-120"/>
              </a:rPr>
              <a:t>gpt-oss-20b  (smaller)</a:t>
            </a:r>
            <a:endParaRPr lang="en-US" sz="1600" dirty="0"/>
          </a:p>
        </p:txBody>
      </p:sp>
      <p:sp>
        <p:nvSpPr>
          <p:cNvPr id="12" name="Text 9"/>
          <p:cNvSpPr/>
          <p:nvPr/>
        </p:nvSpPr>
        <p:spPr>
          <a:xfrm>
            <a:off x="6629400" y="2606040"/>
            <a:ext cx="4754880" cy="1554480"/>
          </a:xfrm>
          <a:prstGeom prst="rect">
            <a:avLst/>
          </a:prstGeom>
          <a:noFill/>
          <a:ln/>
        </p:spPr>
        <p:txBody>
          <a:bodyPr wrap="square" rtlCol="0" anchor="t"/>
          <a:lstStyle/>
          <a:p>
            <a:pPr marL="0" indent="0">
              <a:lnSpc>
                <a:spcPct val="115000"/>
              </a:lnSpc>
              <a:buNone/>
            </a:pPr>
            <a:r>
              <a:rPr lang="en-US" sz="1400" dirty="0">
                <a:solidFill>
                  <a:srgbClr val="1E293B"/>
                </a:solidFill>
                <a:latin typeface="Calibri" pitchFamily="34" charset="0"/>
                <a:ea typeface="Calibri" pitchFamily="34" charset="-122"/>
                <a:cs typeface="Calibri" pitchFamily="34" charset="-120"/>
              </a:rPr>
              <a:t>Predicted:  DOS_FLOOD  (T1499)</a:t>
            </a:r>
            <a:endParaRPr lang="en-US" sz="1400" dirty="0"/>
          </a:p>
          <a:p>
            <a:pPr marL="0" indent="0">
              <a:lnSpc>
                <a:spcPct val="115000"/>
              </a:lnSpc>
              <a:buNone/>
            </a:pPr>
            <a:r>
              <a:rPr lang="en-US" sz="1400" dirty="0">
                <a:solidFill>
                  <a:srgbClr val="1E293B"/>
                </a:solidFill>
                <a:latin typeface="Calibri" pitchFamily="34" charset="0"/>
                <a:ea typeface="Calibri" pitchFamily="34" charset="-122"/>
                <a:cs typeface="Calibri" pitchFamily="34" charset="-120"/>
              </a:rPr>
              <a:t>Severity:  9/10 — completed full tool loop</a:t>
            </a:r>
            <a:endParaRPr lang="en-US" sz="1400" dirty="0"/>
          </a:p>
          <a:p>
            <a:pPr marL="0" indent="0">
              <a:lnSpc>
                <a:spcPct val="115000"/>
              </a:lnSpc>
              <a:buNone/>
            </a:pPr>
            <a:r>
              <a:rPr lang="en-US" sz="1400" b="1" dirty="0">
                <a:solidFill>
                  <a:srgbClr val="F59E0B"/>
                </a:solidFill>
                <a:latin typeface="Calibri" pitchFamily="34" charset="0"/>
                <a:ea typeface="Calibri" pitchFamily="34" charset="-122"/>
                <a:cs typeface="Calibri" pitchFamily="34" charset="-120"/>
              </a:rPr>
              <a:t>≈ right group (flood), wrong exact family</a:t>
            </a:r>
            <a:endParaRPr lang="en-US" sz="1400" dirty="0"/>
          </a:p>
        </p:txBody>
      </p:sp>
      <p:sp>
        <p:nvSpPr>
          <p:cNvPr id="13" name="Shape 10"/>
          <p:cNvSpPr/>
          <p:nvPr/>
        </p:nvSpPr>
        <p:spPr>
          <a:xfrm>
            <a:off x="566928" y="4572000"/>
            <a:ext cx="11055096" cy="1097280"/>
          </a:xfrm>
          <a:prstGeom prst="roundRect">
            <a:avLst>
              <a:gd name="adj" fmla="val 6667"/>
            </a:avLst>
          </a:prstGeom>
          <a:solidFill>
            <a:srgbClr val="0E1726"/>
          </a:solidFill>
          <a:ln w="12700">
            <a:solidFill>
              <a:srgbClr val="E2E8F0"/>
            </a:solidFill>
            <a:prstDash val="solid"/>
          </a:ln>
          <a:effectLst>
            <a:outerShdw blurRad="88900" dist="38100" dir="5400000" algn="bl" rotWithShape="0">
              <a:srgbClr val="000000">
                <a:alpha val="14000"/>
              </a:srgbClr>
            </a:outerShdw>
          </a:effectLst>
        </p:spPr>
      </p:sp>
      <p:pic>
        <p:nvPicPr>
          <p:cNvPr id="14" name="Image 1" descr="preencoded.png"/>
          <p:cNvPicPr>
            <a:picLocks noChangeAspect="1"/>
          </p:cNvPicPr>
          <p:nvPr/>
        </p:nvPicPr>
        <p:blipFill>
          <a:blip r:embed="rId4"/>
          <a:stretch>
            <a:fillRect/>
          </a:stretch>
        </p:blipFill>
        <p:spPr>
          <a:xfrm>
            <a:off x="795528" y="4846320"/>
            <a:ext cx="457200" cy="457200"/>
          </a:xfrm>
          <a:prstGeom prst="rect">
            <a:avLst/>
          </a:prstGeom>
        </p:spPr>
      </p:pic>
      <p:sp>
        <p:nvSpPr>
          <p:cNvPr id="15" name="Text 11"/>
          <p:cNvSpPr/>
          <p:nvPr/>
        </p:nvSpPr>
        <p:spPr>
          <a:xfrm>
            <a:off x="1435608" y="4663440"/>
            <a:ext cx="9957816" cy="914400"/>
          </a:xfrm>
          <a:prstGeom prst="rect">
            <a:avLst/>
          </a:prstGeom>
          <a:noFill/>
          <a:ln/>
        </p:spPr>
        <p:txBody>
          <a:bodyPr wrap="square" rtlCol="0" anchor="ctr"/>
          <a:lstStyle/>
          <a:p>
            <a:pPr marL="0" indent="0">
              <a:lnSpc>
                <a:spcPct val="105000"/>
              </a:lnSpc>
              <a:buNone/>
            </a:pPr>
            <a:r>
              <a:rPr lang="en-US" sz="1350" b="1" dirty="0">
                <a:solidFill>
                  <a:srgbClr val="06B6D4"/>
                </a:solidFill>
                <a:latin typeface="Calibri" pitchFamily="34" charset="0"/>
                <a:ea typeface="Calibri" pitchFamily="34" charset="-122"/>
                <a:cs typeface="Calibri" pitchFamily="34" charset="-120"/>
              </a:rPr>
              <a:t>Finding:  </a:t>
            </a:r>
            <a:r>
              <a:rPr lang="en-US" sz="1350" dirty="0">
                <a:solidFill>
                  <a:srgbClr val="E2E8F0"/>
                </a:solidFill>
                <a:latin typeface="Calibri" pitchFamily="34" charset="0"/>
                <a:ea typeface="Calibri" pitchFamily="34" charset="-122"/>
                <a:cs typeface="Calibri" pitchFamily="34" charset="-120"/>
              </a:rPr>
              <a:t>the larger model identified the exact family; the smaller model reached the correct broad threat group but mislabeled DDoS vs DoS. The lower-cost model is directionally useful yet less precise — the basis for the ROI discussion.</a:t>
            </a:r>
            <a:endParaRPr lang="en-US" sz="1350" dirty="0"/>
          </a:p>
        </p:txBody>
      </p:sp>
      <p:sp>
        <p:nvSpPr>
          <p:cNvPr id="16" name="Text 12"/>
          <p:cNvSpPr/>
          <p:nvPr/>
        </p:nvSpPr>
        <p:spPr>
          <a:xfrm>
            <a:off x="11365992" y="6400800"/>
            <a:ext cx="457200" cy="274320"/>
          </a:xfrm>
          <a:prstGeom prst="rect">
            <a:avLst/>
          </a:prstGeom>
          <a:noFill/>
          <a:ln/>
        </p:spPr>
        <p:txBody>
          <a:bodyPr wrap="square"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10</a:t>
            </a:r>
            <a:endParaRPr lang="en-US" sz="1000" dirty="0"/>
          </a:p>
        </p:txBody>
      </p:sp>
      <p:sp>
        <p:nvSpPr>
          <p:cNvPr id="17" name="Text 13"/>
          <p:cNvSpPr/>
          <p:nvPr/>
        </p:nvSpPr>
        <p:spPr>
          <a:xfrm>
            <a:off x="566928" y="6400800"/>
            <a:ext cx="3657600" cy="274320"/>
          </a:xfrm>
          <a:prstGeom prst="rect">
            <a:avLst/>
          </a:prstGeom>
          <a:noFill/>
          <a:ln/>
        </p:spPr>
        <p:txBody>
          <a:bodyPr wrap="square" rtlCol="0" anchor="ctr"/>
          <a:lstStyle/>
          <a:p>
            <a:pPr marL="0" indent="0" algn="l">
              <a:buNone/>
            </a:pPr>
            <a:r>
              <a:rPr lang="en-US" sz="1000" dirty="0">
                <a:solidFill>
                  <a:srgbClr val="64748B"/>
                </a:solidFill>
                <a:latin typeface="Calibri" pitchFamily="34" charset="0"/>
                <a:ea typeface="Calibri" pitchFamily="34" charset="-122"/>
                <a:cs typeface="Calibri" pitchFamily="34" charset="-120"/>
              </a:rPr>
              <a:t>SentinelMesh</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57200"/>
            <a:ext cx="566928" cy="566928"/>
          </a:xfrm>
          <a:prstGeom prst="ellipse">
            <a:avLst/>
          </a:prstGeom>
          <a:solidFill>
            <a:srgbClr val="0E1726"/>
          </a:solidFill>
          <a:ln/>
        </p:spPr>
      </p:sp>
      <p:pic>
        <p:nvPicPr>
          <p:cNvPr id="3" name="Image 0" descr="preencoded.png"/>
          <p:cNvPicPr>
            <a:picLocks noChangeAspect="1"/>
          </p:cNvPicPr>
          <p:nvPr/>
        </p:nvPicPr>
        <p:blipFill>
          <a:blip r:embed="rId3"/>
          <a:stretch>
            <a:fillRect/>
          </a:stretch>
        </p:blipFill>
        <p:spPr>
          <a:xfrm>
            <a:off x="704088" y="594360"/>
            <a:ext cx="292608" cy="292608"/>
          </a:xfrm>
          <a:prstGeom prst="rect">
            <a:avLst/>
          </a:prstGeom>
        </p:spPr>
      </p:pic>
      <p:sp>
        <p:nvSpPr>
          <p:cNvPr id="4" name="Text 1"/>
          <p:cNvSpPr/>
          <p:nvPr/>
        </p:nvSpPr>
        <p:spPr>
          <a:xfrm>
            <a:off x="1298448" y="457200"/>
            <a:ext cx="9144000" cy="274320"/>
          </a:xfrm>
          <a:prstGeom prst="rect">
            <a:avLst/>
          </a:prstGeom>
          <a:noFill/>
          <a:ln/>
        </p:spPr>
        <p:txBody>
          <a:bodyPr wrap="square" rtlCol="0" anchor="ctr"/>
          <a:lstStyle/>
          <a:p>
            <a:pPr marL="0" indent="0">
              <a:buNone/>
            </a:pPr>
            <a:r>
              <a:rPr lang="en-US" sz="1200" b="1" kern="0" spc="300" dirty="0">
                <a:solidFill>
                  <a:srgbClr val="0E7490"/>
                </a:solidFill>
                <a:latin typeface="Calibri" pitchFamily="34" charset="0"/>
                <a:ea typeface="Calibri" pitchFamily="34" charset="-122"/>
                <a:cs typeface="Calibri" pitchFamily="34" charset="-120"/>
              </a:rPr>
              <a:t>TRACES 4 &amp; 5</a:t>
            </a:r>
            <a:endParaRPr lang="en-US" sz="1200" dirty="0"/>
          </a:p>
        </p:txBody>
      </p:sp>
      <p:sp>
        <p:nvSpPr>
          <p:cNvPr id="5" name="Text 2"/>
          <p:cNvSpPr/>
          <p:nvPr/>
        </p:nvSpPr>
        <p:spPr>
          <a:xfrm>
            <a:off x="1298448" y="694944"/>
            <a:ext cx="10341864" cy="502920"/>
          </a:xfrm>
          <a:prstGeom prst="rect">
            <a:avLst/>
          </a:prstGeom>
          <a:noFill/>
          <a:ln/>
        </p:spPr>
        <p:txBody>
          <a:bodyPr wrap="square" rtlCol="0" anchor="ctr"/>
          <a:lstStyle/>
          <a:p>
            <a:pPr marL="0" indent="0">
              <a:buNone/>
            </a:pPr>
            <a:r>
              <a:rPr lang="en-US" sz="2800" b="1" dirty="0">
                <a:solidFill>
                  <a:srgbClr val="1E293B"/>
                </a:solidFill>
                <a:latin typeface="Cambria" pitchFamily="34" charset="0"/>
                <a:ea typeface="Cambria" pitchFamily="34" charset="-122"/>
                <a:cs typeface="Cambria" pitchFamily="34" charset="-120"/>
              </a:rPr>
              <a:t>Graceful rejection of out-of-scope input</a:t>
            </a:r>
            <a:endParaRPr lang="en-US" sz="2800" dirty="0"/>
          </a:p>
        </p:txBody>
      </p:sp>
      <p:sp>
        <p:nvSpPr>
          <p:cNvPr id="6" name="Text 3"/>
          <p:cNvSpPr/>
          <p:nvPr/>
        </p:nvSpPr>
        <p:spPr>
          <a:xfrm>
            <a:off x="566928" y="1508760"/>
            <a:ext cx="11055096" cy="411480"/>
          </a:xfrm>
          <a:prstGeom prst="rect">
            <a:avLst/>
          </a:prstGeom>
          <a:noFill/>
          <a:ln/>
        </p:spPr>
        <p:txBody>
          <a:bodyPr wrap="square" rtlCol="0" anchor="ctr"/>
          <a:lstStyle/>
          <a:p>
            <a:pPr marL="0" indent="0">
              <a:buNone/>
            </a:pPr>
            <a:r>
              <a:rPr lang="en-US" sz="1450" dirty="0">
                <a:solidFill>
                  <a:srgbClr val="1E293B"/>
                </a:solidFill>
                <a:latin typeface="Calibri" pitchFamily="34" charset="0"/>
                <a:ea typeface="Calibri" pitchFamily="34" charset="-122"/>
                <a:cs typeface="Calibri" pitchFamily="34" charset="-120"/>
              </a:rPr>
              <a:t>The agent recognizes the boundaries of its role and declines non-alerts without calling any tools.</a:t>
            </a:r>
            <a:endParaRPr lang="en-US" sz="1450" dirty="0"/>
          </a:p>
        </p:txBody>
      </p:sp>
      <p:sp>
        <p:nvSpPr>
          <p:cNvPr id="7" name="Shape 4"/>
          <p:cNvSpPr/>
          <p:nvPr/>
        </p:nvSpPr>
        <p:spPr>
          <a:xfrm>
            <a:off x="566928" y="2103120"/>
            <a:ext cx="5440680" cy="3383280"/>
          </a:xfrm>
          <a:prstGeom prst="roundRect">
            <a:avLst>
              <a:gd name="adj" fmla="val 2162"/>
            </a:avLst>
          </a:prstGeom>
          <a:solidFill>
            <a:srgbClr val="FFFFFF"/>
          </a:solidFill>
          <a:ln w="12700">
            <a:solidFill>
              <a:srgbClr val="E2E8F0"/>
            </a:solidFill>
            <a:prstDash val="solid"/>
          </a:ln>
          <a:effectLst>
            <a:outerShdw blurRad="88900" dist="38100" dir="5400000" algn="bl" rotWithShape="0">
              <a:srgbClr val="000000">
                <a:alpha val="14000"/>
              </a:srgbClr>
            </a:outerShdw>
          </a:effectLst>
        </p:spPr>
      </p:sp>
      <p:sp>
        <p:nvSpPr>
          <p:cNvPr id="8" name="Shape 5"/>
          <p:cNvSpPr/>
          <p:nvPr/>
        </p:nvSpPr>
        <p:spPr>
          <a:xfrm>
            <a:off x="795528" y="2331720"/>
            <a:ext cx="566928" cy="566928"/>
          </a:xfrm>
          <a:prstGeom prst="ellipse">
            <a:avLst/>
          </a:prstGeom>
          <a:solidFill>
            <a:srgbClr val="0E1726"/>
          </a:solidFill>
          <a:ln/>
        </p:spPr>
      </p:sp>
      <p:pic>
        <p:nvPicPr>
          <p:cNvPr id="9" name="Image 1" descr="preencoded.png"/>
          <p:cNvPicPr>
            <a:picLocks noChangeAspect="1"/>
          </p:cNvPicPr>
          <p:nvPr/>
        </p:nvPicPr>
        <p:blipFill>
          <a:blip r:embed="rId3"/>
          <a:stretch>
            <a:fillRect/>
          </a:stretch>
        </p:blipFill>
        <p:spPr>
          <a:xfrm>
            <a:off x="932688" y="2468880"/>
            <a:ext cx="292608" cy="292608"/>
          </a:xfrm>
          <a:prstGeom prst="rect">
            <a:avLst/>
          </a:prstGeom>
        </p:spPr>
      </p:pic>
      <p:sp>
        <p:nvSpPr>
          <p:cNvPr id="10" name="Text 6"/>
          <p:cNvSpPr/>
          <p:nvPr/>
        </p:nvSpPr>
        <p:spPr>
          <a:xfrm>
            <a:off x="1481328" y="2331720"/>
            <a:ext cx="4389120" cy="566928"/>
          </a:xfrm>
          <a:prstGeom prst="rect">
            <a:avLst/>
          </a:prstGeom>
          <a:noFill/>
          <a:ln/>
        </p:spPr>
        <p:txBody>
          <a:bodyPr wrap="square" rtlCol="0" anchor="ctr"/>
          <a:lstStyle/>
          <a:p>
            <a:pPr marL="0" indent="0">
              <a:buNone/>
            </a:pPr>
            <a:r>
              <a:rPr lang="en-US" sz="1450" b="1" dirty="0">
                <a:solidFill>
                  <a:srgbClr val="0E7490"/>
                </a:solidFill>
                <a:latin typeface="Cambria" pitchFamily="34" charset="0"/>
                <a:ea typeface="Cambria" pitchFamily="34" charset="-122"/>
                <a:cs typeface="Cambria" pitchFamily="34" charset="-120"/>
              </a:rPr>
              <a:t>TRACE 4 — off-topic question</a:t>
            </a:r>
            <a:endParaRPr lang="en-US" sz="1450" dirty="0"/>
          </a:p>
        </p:txBody>
      </p:sp>
      <p:sp>
        <p:nvSpPr>
          <p:cNvPr id="11" name="Text 7"/>
          <p:cNvSpPr/>
          <p:nvPr/>
        </p:nvSpPr>
        <p:spPr>
          <a:xfrm>
            <a:off x="841248" y="3063240"/>
            <a:ext cx="4892040" cy="640080"/>
          </a:xfrm>
          <a:prstGeom prst="rect">
            <a:avLst/>
          </a:prstGeom>
          <a:noFill/>
          <a:ln/>
        </p:spPr>
        <p:txBody>
          <a:bodyPr wrap="square" rtlCol="0" anchor="t"/>
          <a:lstStyle/>
          <a:p>
            <a:pPr marL="0" indent="0">
              <a:buNone/>
            </a:pPr>
            <a:r>
              <a:rPr lang="en-US" sz="1300" i="1" dirty="0">
                <a:solidFill>
                  <a:srgbClr val="64748B"/>
                </a:solidFill>
                <a:latin typeface="Calibri" pitchFamily="34" charset="0"/>
                <a:ea typeface="Calibri" pitchFamily="34" charset="-122"/>
                <a:cs typeface="Calibri" pitchFamily="34" charset="-120"/>
              </a:rPr>
              <a:t>User: “What's the best recipe for chocolate chip cookies?”</a:t>
            </a:r>
            <a:endParaRPr lang="en-US" sz="1300" dirty="0"/>
          </a:p>
        </p:txBody>
      </p:sp>
      <p:sp>
        <p:nvSpPr>
          <p:cNvPr id="12" name="Shape 8"/>
          <p:cNvSpPr/>
          <p:nvPr/>
        </p:nvSpPr>
        <p:spPr>
          <a:xfrm>
            <a:off x="841248" y="3703320"/>
            <a:ext cx="4892040" cy="1600200"/>
          </a:xfrm>
          <a:prstGeom prst="roundRect">
            <a:avLst>
              <a:gd name="adj" fmla="val 3429"/>
            </a:avLst>
          </a:prstGeom>
          <a:solidFill>
            <a:srgbClr val="F4F7FB"/>
          </a:solidFill>
          <a:ln/>
        </p:spPr>
      </p:sp>
      <p:sp>
        <p:nvSpPr>
          <p:cNvPr id="13" name="Text 9"/>
          <p:cNvSpPr/>
          <p:nvPr/>
        </p:nvSpPr>
        <p:spPr>
          <a:xfrm>
            <a:off x="978408" y="3794760"/>
            <a:ext cx="4617720" cy="1417320"/>
          </a:xfrm>
          <a:prstGeom prst="rect">
            <a:avLst/>
          </a:prstGeom>
          <a:noFill/>
          <a:ln/>
        </p:spPr>
        <p:txBody>
          <a:bodyPr wrap="square" rtlCol="0" anchor="t"/>
          <a:lstStyle/>
          <a:p>
            <a:pPr marL="0" indent="0">
              <a:lnSpc>
                <a:spcPct val="108000"/>
              </a:lnSpc>
              <a:buNone/>
            </a:pPr>
            <a:r>
              <a:rPr lang="en-US" sz="1250" b="1" dirty="0">
                <a:solidFill>
                  <a:srgbClr val="10B981"/>
                </a:solidFill>
                <a:latin typeface="Calibri" pitchFamily="34" charset="0"/>
                <a:ea typeface="Calibri" pitchFamily="34" charset="-122"/>
                <a:cs typeface="Calibri" pitchFamily="34" charset="-120"/>
              </a:rPr>
              <a:t>Agent: </a:t>
            </a:r>
            <a:r>
              <a:rPr lang="en-US" sz="1250" dirty="0">
                <a:solidFill>
                  <a:srgbClr val="1E293B"/>
                </a:solidFill>
                <a:latin typeface="Calibri" pitchFamily="34" charset="0"/>
                <a:ea typeface="Calibri" pitchFamily="34" charset="-122"/>
                <a:cs typeface="Calibri" pitchFamily="34" charset="-120"/>
              </a:rPr>
              <a:t>“I'm sorry, but I can only help with triaging network security alerts. If you have a network-flow alert you'd like analyzed, feel free to share it.”</a:t>
            </a:r>
            <a:endParaRPr lang="en-US" sz="1250" dirty="0"/>
          </a:p>
        </p:txBody>
      </p:sp>
      <p:sp>
        <p:nvSpPr>
          <p:cNvPr id="14" name="Shape 10"/>
          <p:cNvSpPr/>
          <p:nvPr/>
        </p:nvSpPr>
        <p:spPr>
          <a:xfrm>
            <a:off x="6419088" y="2103120"/>
            <a:ext cx="5440680" cy="3383280"/>
          </a:xfrm>
          <a:prstGeom prst="roundRect">
            <a:avLst>
              <a:gd name="adj" fmla="val 2162"/>
            </a:avLst>
          </a:prstGeom>
          <a:solidFill>
            <a:srgbClr val="FFFFFF"/>
          </a:solidFill>
          <a:ln w="12700">
            <a:solidFill>
              <a:srgbClr val="E2E8F0"/>
            </a:solidFill>
            <a:prstDash val="solid"/>
          </a:ln>
          <a:effectLst>
            <a:outerShdw blurRad="88900" dist="38100" dir="5400000" algn="bl" rotWithShape="0">
              <a:srgbClr val="000000">
                <a:alpha val="14000"/>
              </a:srgbClr>
            </a:outerShdw>
          </a:effectLst>
        </p:spPr>
      </p:sp>
      <p:sp>
        <p:nvSpPr>
          <p:cNvPr id="15" name="Shape 11"/>
          <p:cNvSpPr/>
          <p:nvPr/>
        </p:nvSpPr>
        <p:spPr>
          <a:xfrm>
            <a:off x="6647688" y="2331720"/>
            <a:ext cx="566928" cy="566928"/>
          </a:xfrm>
          <a:prstGeom prst="ellipse">
            <a:avLst/>
          </a:prstGeom>
          <a:solidFill>
            <a:srgbClr val="0E1726"/>
          </a:solidFill>
          <a:ln/>
        </p:spPr>
      </p:sp>
      <p:pic>
        <p:nvPicPr>
          <p:cNvPr id="16" name="Image 2" descr="preencoded.png"/>
          <p:cNvPicPr>
            <a:picLocks noChangeAspect="1"/>
          </p:cNvPicPr>
          <p:nvPr/>
        </p:nvPicPr>
        <p:blipFill>
          <a:blip r:embed="rId3"/>
          <a:stretch>
            <a:fillRect/>
          </a:stretch>
        </p:blipFill>
        <p:spPr>
          <a:xfrm>
            <a:off x="6784848" y="2468880"/>
            <a:ext cx="292608" cy="292608"/>
          </a:xfrm>
          <a:prstGeom prst="rect">
            <a:avLst/>
          </a:prstGeom>
        </p:spPr>
      </p:pic>
      <p:sp>
        <p:nvSpPr>
          <p:cNvPr id="17" name="Text 12"/>
          <p:cNvSpPr/>
          <p:nvPr/>
        </p:nvSpPr>
        <p:spPr>
          <a:xfrm>
            <a:off x="7333488" y="2331720"/>
            <a:ext cx="4389120" cy="566928"/>
          </a:xfrm>
          <a:prstGeom prst="rect">
            <a:avLst/>
          </a:prstGeom>
          <a:noFill/>
          <a:ln/>
        </p:spPr>
        <p:txBody>
          <a:bodyPr wrap="square" rtlCol="0" anchor="ctr"/>
          <a:lstStyle/>
          <a:p>
            <a:pPr marL="0" indent="0">
              <a:buNone/>
            </a:pPr>
            <a:r>
              <a:rPr lang="en-US" sz="1450" b="1" dirty="0">
                <a:solidFill>
                  <a:srgbClr val="0E7490"/>
                </a:solidFill>
                <a:latin typeface="Cambria" pitchFamily="34" charset="0"/>
                <a:ea typeface="Cambria" pitchFamily="34" charset="-122"/>
                <a:cs typeface="Cambria" pitchFamily="34" charset="-120"/>
              </a:rPr>
              <a:t>TRACE 5 — unrelated coding request</a:t>
            </a:r>
            <a:endParaRPr lang="en-US" sz="1450" dirty="0"/>
          </a:p>
        </p:txBody>
      </p:sp>
      <p:sp>
        <p:nvSpPr>
          <p:cNvPr id="18" name="Text 13"/>
          <p:cNvSpPr/>
          <p:nvPr/>
        </p:nvSpPr>
        <p:spPr>
          <a:xfrm>
            <a:off x="6693408" y="3063240"/>
            <a:ext cx="4892040" cy="640080"/>
          </a:xfrm>
          <a:prstGeom prst="rect">
            <a:avLst/>
          </a:prstGeom>
          <a:noFill/>
          <a:ln/>
        </p:spPr>
        <p:txBody>
          <a:bodyPr wrap="square" rtlCol="0" anchor="t"/>
          <a:lstStyle/>
          <a:p>
            <a:pPr marL="0" indent="0">
              <a:buNone/>
            </a:pPr>
            <a:r>
              <a:rPr lang="en-US" sz="1300" i="1" dirty="0">
                <a:solidFill>
                  <a:srgbClr val="64748B"/>
                </a:solidFill>
                <a:latin typeface="Calibri" pitchFamily="34" charset="0"/>
                <a:ea typeface="Calibri" pitchFamily="34" charset="-122"/>
                <a:cs typeface="Calibri" pitchFamily="34" charset="-120"/>
              </a:rPr>
              <a:t>User: “Write me a Python function that sorts a list of numbers.”</a:t>
            </a:r>
            <a:endParaRPr lang="en-US" sz="1300" dirty="0"/>
          </a:p>
        </p:txBody>
      </p:sp>
      <p:sp>
        <p:nvSpPr>
          <p:cNvPr id="19" name="Shape 14"/>
          <p:cNvSpPr/>
          <p:nvPr/>
        </p:nvSpPr>
        <p:spPr>
          <a:xfrm>
            <a:off x="6693408" y="3703320"/>
            <a:ext cx="4892040" cy="1600200"/>
          </a:xfrm>
          <a:prstGeom prst="roundRect">
            <a:avLst>
              <a:gd name="adj" fmla="val 3429"/>
            </a:avLst>
          </a:prstGeom>
          <a:solidFill>
            <a:srgbClr val="F4F7FB"/>
          </a:solidFill>
          <a:ln/>
        </p:spPr>
      </p:sp>
      <p:sp>
        <p:nvSpPr>
          <p:cNvPr id="20" name="Text 15"/>
          <p:cNvSpPr/>
          <p:nvPr/>
        </p:nvSpPr>
        <p:spPr>
          <a:xfrm>
            <a:off x="6830568" y="3794760"/>
            <a:ext cx="4617720" cy="1417320"/>
          </a:xfrm>
          <a:prstGeom prst="rect">
            <a:avLst/>
          </a:prstGeom>
          <a:noFill/>
          <a:ln/>
        </p:spPr>
        <p:txBody>
          <a:bodyPr wrap="square" rtlCol="0" anchor="t"/>
          <a:lstStyle/>
          <a:p>
            <a:pPr marL="0" indent="0">
              <a:lnSpc>
                <a:spcPct val="108000"/>
              </a:lnSpc>
              <a:buNone/>
            </a:pPr>
            <a:r>
              <a:rPr lang="en-US" sz="1250" b="1" dirty="0">
                <a:solidFill>
                  <a:srgbClr val="10B981"/>
                </a:solidFill>
                <a:latin typeface="Calibri" pitchFamily="34" charset="0"/>
                <a:ea typeface="Calibri" pitchFamily="34" charset="-122"/>
                <a:cs typeface="Calibri" pitchFamily="34" charset="-120"/>
              </a:rPr>
              <a:t>Agent: </a:t>
            </a:r>
            <a:r>
              <a:rPr lang="en-US" sz="1250" dirty="0">
                <a:solidFill>
                  <a:srgbClr val="1E293B"/>
                </a:solidFill>
                <a:latin typeface="Calibri" pitchFamily="34" charset="0"/>
                <a:ea typeface="Calibri" pitchFamily="34" charset="-122"/>
                <a:cs typeface="Calibri" pitchFamily="34" charset="-120"/>
              </a:rPr>
              <a:t>“I'm sorry, but I can only help with triaging network security alerts. Please share the alert details and I'll provide a triage assessment.”</a:t>
            </a:r>
            <a:endParaRPr lang="en-US" sz="1250" dirty="0"/>
          </a:p>
        </p:txBody>
      </p:sp>
      <p:sp>
        <p:nvSpPr>
          <p:cNvPr id="21" name="Text 16"/>
          <p:cNvSpPr/>
          <p:nvPr/>
        </p:nvSpPr>
        <p:spPr>
          <a:xfrm>
            <a:off x="11365992" y="6400800"/>
            <a:ext cx="457200" cy="274320"/>
          </a:xfrm>
          <a:prstGeom prst="rect">
            <a:avLst/>
          </a:prstGeom>
          <a:noFill/>
          <a:ln/>
        </p:spPr>
        <p:txBody>
          <a:bodyPr wrap="square"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11</a:t>
            </a:r>
            <a:endParaRPr lang="en-US" sz="1000" dirty="0"/>
          </a:p>
        </p:txBody>
      </p:sp>
      <p:sp>
        <p:nvSpPr>
          <p:cNvPr id="22" name="Text 17"/>
          <p:cNvSpPr/>
          <p:nvPr/>
        </p:nvSpPr>
        <p:spPr>
          <a:xfrm>
            <a:off x="566928" y="6400800"/>
            <a:ext cx="3657600" cy="274320"/>
          </a:xfrm>
          <a:prstGeom prst="rect">
            <a:avLst/>
          </a:prstGeom>
          <a:noFill/>
          <a:ln/>
        </p:spPr>
        <p:txBody>
          <a:bodyPr wrap="square" rtlCol="0" anchor="ctr"/>
          <a:lstStyle/>
          <a:p>
            <a:pPr marL="0" indent="0" algn="l">
              <a:buNone/>
            </a:pPr>
            <a:r>
              <a:rPr lang="en-US" sz="1000" dirty="0">
                <a:solidFill>
                  <a:srgbClr val="64748B"/>
                </a:solidFill>
                <a:latin typeface="Calibri" pitchFamily="34" charset="0"/>
                <a:ea typeface="Calibri" pitchFamily="34" charset="-122"/>
                <a:cs typeface="Calibri" pitchFamily="34" charset="-120"/>
              </a:rPr>
              <a:t>SentinelMesh</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57200"/>
            <a:ext cx="566928" cy="566928"/>
          </a:xfrm>
          <a:prstGeom prst="ellipse">
            <a:avLst/>
          </a:prstGeom>
          <a:solidFill>
            <a:srgbClr val="0E1726"/>
          </a:solidFill>
          <a:ln/>
        </p:spPr>
      </p:sp>
      <p:pic>
        <p:nvPicPr>
          <p:cNvPr id="3" name="Image 0" descr="preencoded.png"/>
          <p:cNvPicPr>
            <a:picLocks noChangeAspect="1"/>
          </p:cNvPicPr>
          <p:nvPr/>
        </p:nvPicPr>
        <p:blipFill>
          <a:blip r:embed="rId3"/>
          <a:stretch>
            <a:fillRect/>
          </a:stretch>
        </p:blipFill>
        <p:spPr>
          <a:xfrm>
            <a:off x="704088" y="594360"/>
            <a:ext cx="292608" cy="292608"/>
          </a:xfrm>
          <a:prstGeom prst="rect">
            <a:avLst/>
          </a:prstGeom>
        </p:spPr>
      </p:pic>
      <p:sp>
        <p:nvSpPr>
          <p:cNvPr id="4" name="Text 1"/>
          <p:cNvSpPr/>
          <p:nvPr/>
        </p:nvSpPr>
        <p:spPr>
          <a:xfrm>
            <a:off x="1298448" y="457200"/>
            <a:ext cx="9144000" cy="274320"/>
          </a:xfrm>
          <a:prstGeom prst="rect">
            <a:avLst/>
          </a:prstGeom>
          <a:noFill/>
          <a:ln/>
        </p:spPr>
        <p:txBody>
          <a:bodyPr wrap="square" rtlCol="0" anchor="ctr"/>
          <a:lstStyle/>
          <a:p>
            <a:pPr marL="0" indent="0">
              <a:buNone/>
            </a:pPr>
            <a:r>
              <a:rPr lang="en-US" sz="1200" b="1" kern="0" spc="300" dirty="0">
                <a:solidFill>
                  <a:srgbClr val="0E7490"/>
                </a:solidFill>
                <a:latin typeface="Calibri" pitchFamily="34" charset="0"/>
                <a:ea typeface="Calibri" pitchFamily="34" charset="-122"/>
                <a:cs typeface="Calibri" pitchFamily="34" charset="-120"/>
              </a:rPr>
              <a:t>LAYER 5 — EVALUATION</a:t>
            </a:r>
            <a:endParaRPr lang="en-US" sz="1200" dirty="0"/>
          </a:p>
        </p:txBody>
      </p:sp>
      <p:sp>
        <p:nvSpPr>
          <p:cNvPr id="5" name="Text 2"/>
          <p:cNvSpPr/>
          <p:nvPr/>
        </p:nvSpPr>
        <p:spPr>
          <a:xfrm>
            <a:off x="1298448" y="694944"/>
            <a:ext cx="10341864" cy="502920"/>
          </a:xfrm>
          <a:prstGeom prst="rect">
            <a:avLst/>
          </a:prstGeom>
          <a:noFill/>
          <a:ln/>
        </p:spPr>
        <p:txBody>
          <a:bodyPr wrap="square" rtlCol="0" anchor="ctr"/>
          <a:lstStyle/>
          <a:p>
            <a:pPr marL="0" indent="0">
              <a:buNone/>
            </a:pPr>
            <a:r>
              <a:rPr lang="en-US" sz="2800" b="1" dirty="0">
                <a:solidFill>
                  <a:srgbClr val="1E293B"/>
                </a:solidFill>
                <a:latin typeface="Cambria" pitchFamily="34" charset="0"/>
                <a:ea typeface="Cambria" pitchFamily="34" charset="-122"/>
                <a:cs typeface="Cambria" pitchFamily="34" charset="-120"/>
              </a:rPr>
              <a:t>Three complementary methods</a:t>
            </a:r>
            <a:endParaRPr lang="en-US" sz="2800" dirty="0"/>
          </a:p>
        </p:txBody>
      </p:sp>
      <p:sp>
        <p:nvSpPr>
          <p:cNvPr id="6" name="Shape 3"/>
          <p:cNvSpPr/>
          <p:nvPr/>
        </p:nvSpPr>
        <p:spPr>
          <a:xfrm>
            <a:off x="566928" y="1691640"/>
            <a:ext cx="3471672" cy="3840480"/>
          </a:xfrm>
          <a:prstGeom prst="roundRect">
            <a:avLst>
              <a:gd name="adj" fmla="val 2107"/>
            </a:avLst>
          </a:prstGeom>
          <a:solidFill>
            <a:srgbClr val="FFFFFF"/>
          </a:solidFill>
          <a:ln w="12700">
            <a:solidFill>
              <a:srgbClr val="E2E8F0"/>
            </a:solidFill>
            <a:prstDash val="solid"/>
          </a:ln>
          <a:effectLst>
            <a:outerShdw blurRad="88900" dist="38100" dir="5400000" algn="bl" rotWithShape="0">
              <a:srgbClr val="000000">
                <a:alpha val="14000"/>
              </a:srgbClr>
            </a:outerShdw>
          </a:effectLst>
        </p:spPr>
      </p:sp>
      <p:sp>
        <p:nvSpPr>
          <p:cNvPr id="7" name="Shape 4"/>
          <p:cNvSpPr/>
          <p:nvPr/>
        </p:nvSpPr>
        <p:spPr>
          <a:xfrm>
            <a:off x="1918716" y="1920240"/>
            <a:ext cx="768096" cy="768096"/>
          </a:xfrm>
          <a:prstGeom prst="ellipse">
            <a:avLst/>
          </a:prstGeom>
          <a:solidFill>
            <a:srgbClr val="0E1726"/>
          </a:solidFill>
          <a:ln/>
        </p:spPr>
      </p:sp>
      <p:pic>
        <p:nvPicPr>
          <p:cNvPr id="8" name="Image 1" descr="preencoded.png"/>
          <p:cNvPicPr>
            <a:picLocks noChangeAspect="1"/>
          </p:cNvPicPr>
          <p:nvPr/>
        </p:nvPicPr>
        <p:blipFill>
          <a:blip r:embed="rId4"/>
          <a:stretch>
            <a:fillRect/>
          </a:stretch>
        </p:blipFill>
        <p:spPr>
          <a:xfrm>
            <a:off x="2101596" y="2121408"/>
            <a:ext cx="402336" cy="402336"/>
          </a:xfrm>
          <a:prstGeom prst="rect">
            <a:avLst/>
          </a:prstGeom>
        </p:spPr>
      </p:pic>
      <p:sp>
        <p:nvSpPr>
          <p:cNvPr id="9" name="Text 5"/>
          <p:cNvSpPr/>
          <p:nvPr/>
        </p:nvSpPr>
        <p:spPr>
          <a:xfrm>
            <a:off x="749808" y="2788920"/>
            <a:ext cx="3105912" cy="365760"/>
          </a:xfrm>
          <a:prstGeom prst="rect">
            <a:avLst/>
          </a:prstGeom>
          <a:noFill/>
          <a:ln/>
        </p:spPr>
        <p:txBody>
          <a:bodyPr wrap="square" rtlCol="0" anchor="ctr"/>
          <a:lstStyle/>
          <a:p>
            <a:pPr marL="0" indent="0" algn="ctr">
              <a:buNone/>
            </a:pPr>
            <a:r>
              <a:rPr lang="en-US" sz="1600" b="1" dirty="0">
                <a:solidFill>
                  <a:srgbClr val="1E293B"/>
                </a:solidFill>
                <a:latin typeface="Cambria" pitchFamily="34" charset="0"/>
                <a:ea typeface="Cambria" pitchFamily="34" charset="-122"/>
                <a:cs typeface="Cambria" pitchFamily="34" charset="-120"/>
              </a:rPr>
              <a:t>Manual deterministic</a:t>
            </a:r>
            <a:endParaRPr lang="en-US" sz="1600" dirty="0"/>
          </a:p>
        </p:txBody>
      </p:sp>
      <p:sp>
        <p:nvSpPr>
          <p:cNvPr id="10" name="Shape 6"/>
          <p:cNvSpPr/>
          <p:nvPr/>
        </p:nvSpPr>
        <p:spPr>
          <a:xfrm>
            <a:off x="1068324" y="3200400"/>
            <a:ext cx="2468880" cy="365760"/>
          </a:xfrm>
          <a:prstGeom prst="roundRect">
            <a:avLst>
              <a:gd name="adj" fmla="val 50000"/>
            </a:avLst>
          </a:prstGeom>
          <a:solidFill>
            <a:srgbClr val="06B6D4"/>
          </a:solidFill>
          <a:ln/>
        </p:spPr>
      </p:sp>
      <p:sp>
        <p:nvSpPr>
          <p:cNvPr id="11" name="Text 7"/>
          <p:cNvSpPr/>
          <p:nvPr/>
        </p:nvSpPr>
        <p:spPr>
          <a:xfrm>
            <a:off x="1068324" y="3200400"/>
            <a:ext cx="2468880" cy="36576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Primary, fully reproducible</a:t>
            </a:r>
            <a:endParaRPr lang="en-US" sz="1100" dirty="0"/>
          </a:p>
        </p:txBody>
      </p:sp>
      <p:sp>
        <p:nvSpPr>
          <p:cNvPr id="12" name="Text 8"/>
          <p:cNvSpPr/>
          <p:nvPr/>
        </p:nvSpPr>
        <p:spPr>
          <a:xfrm>
            <a:off x="841248" y="3703320"/>
            <a:ext cx="2923032" cy="1645920"/>
          </a:xfrm>
          <a:prstGeom prst="rect">
            <a:avLst/>
          </a:prstGeom>
          <a:noFill/>
          <a:ln/>
        </p:spPr>
        <p:txBody>
          <a:bodyPr wrap="square" rtlCol="0" anchor="t"/>
          <a:lstStyle/>
          <a:p>
            <a:pPr marL="0" indent="0" algn="ctr">
              <a:buNone/>
            </a:pPr>
            <a:r>
              <a:rPr lang="en-US" sz="1300" dirty="0">
                <a:solidFill>
                  <a:srgbClr val="1E293B"/>
                </a:solidFill>
                <a:latin typeface="Calibri" pitchFamily="34" charset="0"/>
                <a:ea typeface="Calibri" pitchFamily="34" charset="-122"/>
                <a:cs typeface="Calibri" pitchFamily="34" charset="-120"/>
              </a:rPr>
              <a:t>Regex-extracts the predicted family and compares exactly to ground truth. Reports exact + coarse accuracy.</a:t>
            </a:r>
            <a:endParaRPr lang="en-US" sz="1300" dirty="0"/>
          </a:p>
        </p:txBody>
      </p:sp>
      <p:sp>
        <p:nvSpPr>
          <p:cNvPr id="13" name="Shape 9"/>
          <p:cNvSpPr/>
          <p:nvPr/>
        </p:nvSpPr>
        <p:spPr>
          <a:xfrm>
            <a:off x="4358640" y="1691640"/>
            <a:ext cx="3471672" cy="3840480"/>
          </a:xfrm>
          <a:prstGeom prst="roundRect">
            <a:avLst>
              <a:gd name="adj" fmla="val 2107"/>
            </a:avLst>
          </a:prstGeom>
          <a:solidFill>
            <a:srgbClr val="FFFFFF"/>
          </a:solidFill>
          <a:ln w="12700">
            <a:solidFill>
              <a:srgbClr val="E2E8F0"/>
            </a:solidFill>
            <a:prstDash val="solid"/>
          </a:ln>
          <a:effectLst>
            <a:outerShdw blurRad="88900" dist="38100" dir="5400000" algn="bl" rotWithShape="0">
              <a:srgbClr val="000000">
                <a:alpha val="14000"/>
              </a:srgbClr>
            </a:outerShdw>
          </a:effectLst>
        </p:spPr>
      </p:sp>
      <p:sp>
        <p:nvSpPr>
          <p:cNvPr id="14" name="Shape 10"/>
          <p:cNvSpPr/>
          <p:nvPr/>
        </p:nvSpPr>
        <p:spPr>
          <a:xfrm>
            <a:off x="5710428" y="1920240"/>
            <a:ext cx="768096" cy="768096"/>
          </a:xfrm>
          <a:prstGeom prst="ellipse">
            <a:avLst/>
          </a:prstGeom>
          <a:solidFill>
            <a:srgbClr val="0E1726"/>
          </a:solidFill>
          <a:ln/>
        </p:spPr>
      </p:sp>
      <p:pic>
        <p:nvPicPr>
          <p:cNvPr id="15" name="Image 2" descr="preencoded.png"/>
          <p:cNvPicPr>
            <a:picLocks noChangeAspect="1"/>
          </p:cNvPicPr>
          <p:nvPr/>
        </p:nvPicPr>
        <p:blipFill>
          <a:blip r:embed="rId3"/>
          <a:stretch>
            <a:fillRect/>
          </a:stretch>
        </p:blipFill>
        <p:spPr>
          <a:xfrm>
            <a:off x="5893308" y="2121408"/>
            <a:ext cx="402336" cy="402336"/>
          </a:xfrm>
          <a:prstGeom prst="rect">
            <a:avLst/>
          </a:prstGeom>
        </p:spPr>
      </p:pic>
      <p:sp>
        <p:nvSpPr>
          <p:cNvPr id="16" name="Text 11"/>
          <p:cNvSpPr/>
          <p:nvPr/>
        </p:nvSpPr>
        <p:spPr>
          <a:xfrm>
            <a:off x="4541520" y="2788920"/>
            <a:ext cx="3105912" cy="365760"/>
          </a:xfrm>
          <a:prstGeom prst="rect">
            <a:avLst/>
          </a:prstGeom>
          <a:noFill/>
          <a:ln/>
        </p:spPr>
        <p:txBody>
          <a:bodyPr wrap="square" rtlCol="0" anchor="ctr"/>
          <a:lstStyle/>
          <a:p>
            <a:pPr marL="0" indent="0" algn="ctr">
              <a:buNone/>
            </a:pPr>
            <a:r>
              <a:rPr lang="en-US" sz="1600" b="1" dirty="0">
                <a:solidFill>
                  <a:srgbClr val="1E293B"/>
                </a:solidFill>
                <a:latin typeface="Cambria" pitchFamily="34" charset="0"/>
                <a:ea typeface="Cambria" pitchFamily="34" charset="-122"/>
                <a:cs typeface="Cambria" pitchFamily="34" charset="-120"/>
              </a:rPr>
              <a:t>LLM judge</a:t>
            </a:r>
            <a:endParaRPr lang="en-US" sz="1600" dirty="0"/>
          </a:p>
        </p:txBody>
      </p:sp>
      <p:sp>
        <p:nvSpPr>
          <p:cNvPr id="17" name="Shape 12"/>
          <p:cNvSpPr/>
          <p:nvPr/>
        </p:nvSpPr>
        <p:spPr>
          <a:xfrm>
            <a:off x="4860036" y="3200400"/>
            <a:ext cx="2468880" cy="365760"/>
          </a:xfrm>
          <a:prstGeom prst="roundRect">
            <a:avLst>
              <a:gd name="adj" fmla="val 50000"/>
            </a:avLst>
          </a:prstGeom>
          <a:solidFill>
            <a:srgbClr val="14B8A6"/>
          </a:solidFill>
          <a:ln/>
        </p:spPr>
      </p:sp>
      <p:sp>
        <p:nvSpPr>
          <p:cNvPr id="18" name="Text 13"/>
          <p:cNvSpPr/>
          <p:nvPr/>
        </p:nvSpPr>
        <p:spPr>
          <a:xfrm>
            <a:off x="4860036" y="3200400"/>
            <a:ext cx="2468880" cy="36576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Automated second opinion</a:t>
            </a:r>
            <a:endParaRPr lang="en-US" sz="1100" dirty="0"/>
          </a:p>
        </p:txBody>
      </p:sp>
      <p:sp>
        <p:nvSpPr>
          <p:cNvPr id="19" name="Text 14"/>
          <p:cNvSpPr/>
          <p:nvPr/>
        </p:nvSpPr>
        <p:spPr>
          <a:xfrm>
            <a:off x="4632960" y="3703320"/>
            <a:ext cx="2923032" cy="1645920"/>
          </a:xfrm>
          <a:prstGeom prst="rect">
            <a:avLst/>
          </a:prstGeom>
          <a:noFill/>
          <a:ln/>
        </p:spPr>
        <p:txBody>
          <a:bodyPr wrap="square" rtlCol="0" anchor="t"/>
          <a:lstStyle/>
          <a:p>
            <a:pPr marL="0" indent="0" algn="ctr">
              <a:buNone/>
            </a:pPr>
            <a:r>
              <a:rPr lang="en-US" sz="1300" dirty="0">
                <a:solidFill>
                  <a:srgbClr val="1E293B"/>
                </a:solidFill>
                <a:latin typeface="Calibri" pitchFamily="34" charset="0"/>
                <a:ea typeface="Calibri" pitchFamily="34" charset="-122"/>
                <a:cs typeface="Calibri" pitchFamily="34" charset="-120"/>
              </a:rPr>
              <a:t>Fallback Claude Sonnet judge reviews the alert, expected family, and agent output and returns pass/fail after MLflow make_judge endpoint issues.</a:t>
            </a:r>
            <a:endParaRPr lang="en-US" sz="1300" dirty="0"/>
          </a:p>
        </p:txBody>
      </p:sp>
      <p:sp>
        <p:nvSpPr>
          <p:cNvPr id="20" name="Shape 15"/>
          <p:cNvSpPr/>
          <p:nvPr/>
        </p:nvSpPr>
        <p:spPr>
          <a:xfrm>
            <a:off x="8150352" y="1691640"/>
            <a:ext cx="3471672" cy="3840480"/>
          </a:xfrm>
          <a:prstGeom prst="roundRect">
            <a:avLst>
              <a:gd name="adj" fmla="val 2107"/>
            </a:avLst>
          </a:prstGeom>
          <a:solidFill>
            <a:srgbClr val="FFFFFF"/>
          </a:solidFill>
          <a:ln w="12700">
            <a:solidFill>
              <a:srgbClr val="E2E8F0"/>
            </a:solidFill>
            <a:prstDash val="solid"/>
          </a:ln>
          <a:effectLst>
            <a:outerShdw blurRad="88900" dist="38100" dir="5400000" algn="bl" rotWithShape="0">
              <a:srgbClr val="000000">
                <a:alpha val="14000"/>
              </a:srgbClr>
            </a:outerShdw>
          </a:effectLst>
        </p:spPr>
      </p:sp>
      <p:sp>
        <p:nvSpPr>
          <p:cNvPr id="21" name="Shape 16"/>
          <p:cNvSpPr/>
          <p:nvPr/>
        </p:nvSpPr>
        <p:spPr>
          <a:xfrm>
            <a:off x="9502140" y="1920240"/>
            <a:ext cx="768096" cy="768096"/>
          </a:xfrm>
          <a:prstGeom prst="ellipse">
            <a:avLst/>
          </a:prstGeom>
          <a:solidFill>
            <a:srgbClr val="0E1726"/>
          </a:solidFill>
          <a:ln/>
        </p:spPr>
      </p:sp>
      <p:pic>
        <p:nvPicPr>
          <p:cNvPr id="22" name="Image 3" descr="preencoded.png"/>
          <p:cNvPicPr>
            <a:picLocks noChangeAspect="1"/>
          </p:cNvPicPr>
          <p:nvPr/>
        </p:nvPicPr>
        <p:blipFill>
          <a:blip r:embed="rId5"/>
          <a:stretch>
            <a:fillRect/>
          </a:stretch>
        </p:blipFill>
        <p:spPr>
          <a:xfrm>
            <a:off x="9685020" y="2121408"/>
            <a:ext cx="402336" cy="402336"/>
          </a:xfrm>
          <a:prstGeom prst="rect">
            <a:avLst/>
          </a:prstGeom>
        </p:spPr>
      </p:pic>
      <p:sp>
        <p:nvSpPr>
          <p:cNvPr id="23" name="Text 17"/>
          <p:cNvSpPr/>
          <p:nvPr/>
        </p:nvSpPr>
        <p:spPr>
          <a:xfrm>
            <a:off x="8333232" y="2788920"/>
            <a:ext cx="3105912" cy="365760"/>
          </a:xfrm>
          <a:prstGeom prst="rect">
            <a:avLst/>
          </a:prstGeom>
          <a:noFill/>
          <a:ln/>
        </p:spPr>
        <p:txBody>
          <a:bodyPr wrap="square" rtlCol="0" anchor="ctr"/>
          <a:lstStyle/>
          <a:p>
            <a:pPr marL="0" indent="0" algn="ctr">
              <a:buNone/>
            </a:pPr>
            <a:r>
              <a:rPr lang="en-US" sz="1600" b="1" dirty="0">
                <a:solidFill>
                  <a:srgbClr val="1E293B"/>
                </a:solidFill>
                <a:latin typeface="Cambria" pitchFamily="34" charset="0"/>
                <a:ea typeface="Cambria" pitchFamily="34" charset="-122"/>
                <a:cs typeface="Cambria" pitchFamily="34" charset="-120"/>
              </a:rPr>
              <a:t>Human review</a:t>
            </a:r>
            <a:endParaRPr lang="en-US" sz="1600" dirty="0"/>
          </a:p>
        </p:txBody>
      </p:sp>
      <p:sp>
        <p:nvSpPr>
          <p:cNvPr id="24" name="Shape 18"/>
          <p:cNvSpPr/>
          <p:nvPr/>
        </p:nvSpPr>
        <p:spPr>
          <a:xfrm>
            <a:off x="8651748" y="3200400"/>
            <a:ext cx="2468880" cy="365760"/>
          </a:xfrm>
          <a:prstGeom prst="roundRect">
            <a:avLst>
              <a:gd name="adj" fmla="val 50000"/>
            </a:avLst>
          </a:prstGeom>
          <a:solidFill>
            <a:srgbClr val="F59E0B"/>
          </a:solidFill>
          <a:ln/>
        </p:spPr>
      </p:sp>
      <p:sp>
        <p:nvSpPr>
          <p:cNvPr id="25" name="Text 19"/>
          <p:cNvSpPr/>
          <p:nvPr/>
        </p:nvSpPr>
        <p:spPr>
          <a:xfrm>
            <a:off x="8651748" y="3200400"/>
            <a:ext cx="2468880" cy="36576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Human-in-the-loop</a:t>
            </a:r>
            <a:endParaRPr lang="en-US" sz="1100" dirty="0"/>
          </a:p>
        </p:txBody>
      </p:sp>
      <p:sp>
        <p:nvSpPr>
          <p:cNvPr id="26" name="Text 20"/>
          <p:cNvSpPr/>
          <p:nvPr/>
        </p:nvSpPr>
        <p:spPr>
          <a:xfrm>
            <a:off x="8424672" y="3703320"/>
            <a:ext cx="2923032" cy="1645920"/>
          </a:xfrm>
          <a:prstGeom prst="rect">
            <a:avLst/>
          </a:prstGeom>
          <a:noFill/>
          <a:ln/>
        </p:spPr>
        <p:txBody>
          <a:bodyPr wrap="square" rtlCol="0" anchor="t"/>
          <a:lstStyle/>
          <a:p>
            <a:pPr marL="0" indent="0" algn="ctr">
              <a:buNone/>
            </a:pPr>
            <a:r>
              <a:rPr lang="en-US" sz="1300" dirty="0">
                <a:solidFill>
                  <a:srgbClr val="1E293B"/>
                </a:solidFill>
                <a:latin typeface="Calibri" pitchFamily="34" charset="0"/>
                <a:ea typeface="Calibri" pitchFamily="34" charset="-122"/>
                <a:cs typeface="Calibri" pitchFamily="34" charset="-120"/>
              </a:rPr>
              <a:t>An analyst reviews verdicts and traces, approves actions, and resolves judge disagreements.</a:t>
            </a:r>
            <a:endParaRPr lang="en-US" sz="1300" dirty="0"/>
          </a:p>
        </p:txBody>
      </p:sp>
      <p:sp>
        <p:nvSpPr>
          <p:cNvPr id="27" name="Text 21"/>
          <p:cNvSpPr/>
          <p:nvPr/>
        </p:nvSpPr>
        <p:spPr>
          <a:xfrm>
            <a:off x="11365992" y="6400800"/>
            <a:ext cx="457200" cy="274320"/>
          </a:xfrm>
          <a:prstGeom prst="rect">
            <a:avLst/>
          </a:prstGeom>
          <a:noFill/>
          <a:ln/>
        </p:spPr>
        <p:txBody>
          <a:bodyPr wrap="square"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12</a:t>
            </a:r>
            <a:endParaRPr lang="en-US" sz="1000" dirty="0"/>
          </a:p>
        </p:txBody>
      </p:sp>
      <p:sp>
        <p:nvSpPr>
          <p:cNvPr id="28" name="Text 22"/>
          <p:cNvSpPr/>
          <p:nvPr/>
        </p:nvSpPr>
        <p:spPr>
          <a:xfrm>
            <a:off x="566928" y="6400800"/>
            <a:ext cx="3657600" cy="274320"/>
          </a:xfrm>
          <a:prstGeom prst="rect">
            <a:avLst/>
          </a:prstGeom>
          <a:noFill/>
          <a:ln/>
        </p:spPr>
        <p:txBody>
          <a:bodyPr wrap="square" rtlCol="0" anchor="ctr"/>
          <a:lstStyle/>
          <a:p>
            <a:pPr marL="0" indent="0" algn="l">
              <a:buNone/>
            </a:pPr>
            <a:r>
              <a:rPr lang="en-US" sz="1000" dirty="0">
                <a:solidFill>
                  <a:srgbClr val="64748B"/>
                </a:solidFill>
                <a:latin typeface="Calibri" pitchFamily="34" charset="0"/>
                <a:ea typeface="Calibri" pitchFamily="34" charset="-122"/>
                <a:cs typeface="Calibri" pitchFamily="34" charset="-120"/>
              </a:rPr>
              <a:t>SentinelMesh</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57200"/>
            <a:ext cx="566928" cy="566928"/>
          </a:xfrm>
          <a:prstGeom prst="ellipse">
            <a:avLst/>
          </a:prstGeom>
          <a:solidFill>
            <a:srgbClr val="0E1726"/>
          </a:solidFill>
          <a:ln/>
        </p:spPr>
      </p:sp>
      <p:pic>
        <p:nvPicPr>
          <p:cNvPr id="3" name="Image 0" descr="preencoded.png"/>
          <p:cNvPicPr>
            <a:picLocks noChangeAspect="1"/>
          </p:cNvPicPr>
          <p:nvPr/>
        </p:nvPicPr>
        <p:blipFill>
          <a:blip r:embed="rId3"/>
          <a:stretch>
            <a:fillRect/>
          </a:stretch>
        </p:blipFill>
        <p:spPr>
          <a:xfrm>
            <a:off x="704088" y="594360"/>
            <a:ext cx="292608" cy="292608"/>
          </a:xfrm>
          <a:prstGeom prst="rect">
            <a:avLst/>
          </a:prstGeom>
        </p:spPr>
      </p:pic>
      <p:sp>
        <p:nvSpPr>
          <p:cNvPr id="4" name="Text 1"/>
          <p:cNvSpPr/>
          <p:nvPr/>
        </p:nvSpPr>
        <p:spPr>
          <a:xfrm>
            <a:off x="1298448" y="457200"/>
            <a:ext cx="9144000" cy="274320"/>
          </a:xfrm>
          <a:prstGeom prst="rect">
            <a:avLst/>
          </a:prstGeom>
          <a:noFill/>
          <a:ln/>
        </p:spPr>
        <p:txBody>
          <a:bodyPr wrap="square" rtlCol="0" anchor="ctr"/>
          <a:lstStyle/>
          <a:p>
            <a:pPr marL="0" indent="0">
              <a:buNone/>
            </a:pPr>
            <a:r>
              <a:rPr lang="en-US" sz="1200" b="1" kern="0" spc="300" dirty="0">
                <a:solidFill>
                  <a:srgbClr val="0E7490"/>
                </a:solidFill>
                <a:latin typeface="Calibri" pitchFamily="34" charset="0"/>
                <a:ea typeface="Calibri" pitchFamily="34" charset="-122"/>
                <a:cs typeface="Calibri" pitchFamily="34" charset="-120"/>
              </a:rPr>
              <a:t>EVALUATION DETAIL</a:t>
            </a:r>
            <a:endParaRPr lang="en-US" sz="1200" dirty="0"/>
          </a:p>
        </p:txBody>
      </p:sp>
      <p:sp>
        <p:nvSpPr>
          <p:cNvPr id="5" name="Text 2"/>
          <p:cNvSpPr/>
          <p:nvPr/>
        </p:nvSpPr>
        <p:spPr>
          <a:xfrm>
            <a:off x="1298448" y="694944"/>
            <a:ext cx="10341864" cy="502920"/>
          </a:xfrm>
          <a:prstGeom prst="rect">
            <a:avLst/>
          </a:prstGeom>
          <a:noFill/>
          <a:ln/>
        </p:spPr>
        <p:txBody>
          <a:bodyPr wrap="square" rtlCol="0" anchor="ctr"/>
          <a:lstStyle/>
          <a:p>
            <a:pPr marL="0" indent="0">
              <a:buNone/>
            </a:pPr>
            <a:r>
              <a:rPr lang="en-US" sz="2800" b="1" dirty="0">
                <a:solidFill>
                  <a:srgbClr val="1E293B"/>
                </a:solidFill>
                <a:latin typeface="Cambria" pitchFamily="34" charset="0"/>
                <a:ea typeface="Cambria" pitchFamily="34" charset="-122"/>
                <a:cs typeface="Cambria" pitchFamily="34" charset="-120"/>
              </a:rPr>
              <a:t>LLM-judge attempts and the fallback</a:t>
            </a:r>
            <a:endParaRPr lang="en-US" sz="2800" dirty="0"/>
          </a:p>
        </p:txBody>
      </p:sp>
      <p:sp>
        <p:nvSpPr>
          <p:cNvPr id="6" name="Text 3"/>
          <p:cNvSpPr/>
          <p:nvPr/>
        </p:nvSpPr>
        <p:spPr>
          <a:xfrm>
            <a:off x="566928" y="1463040"/>
            <a:ext cx="11055096" cy="548640"/>
          </a:xfrm>
          <a:prstGeom prst="rect">
            <a:avLst/>
          </a:prstGeom>
          <a:noFill/>
          <a:ln/>
        </p:spPr>
        <p:txBody>
          <a:bodyPr wrap="square" rtlCol="0" anchor="ctr"/>
          <a:lstStyle/>
          <a:p>
            <a:pPr marL="0" indent="0">
              <a:buNone/>
            </a:pPr>
            <a:r>
              <a:rPr lang="en-US" sz="1400" dirty="0">
                <a:solidFill>
                  <a:srgbClr val="1E293B"/>
                </a:solidFill>
                <a:latin typeface="Calibri" pitchFamily="34" charset="0"/>
                <a:ea typeface="Calibri" pitchFamily="34" charset="-122"/>
                <a:cs typeface="Calibri" pitchFamily="34" charset="-120"/>
              </a:rPr>
              <a:t>MLflow make_judge asks the judge model for a structured response. Our workspace endpoints could not support that reliably — so we documented the failures and used a robust fallback.</a:t>
            </a:r>
            <a:endParaRPr lang="en-US" sz="1400" dirty="0"/>
          </a:p>
        </p:txBody>
      </p:sp>
      <p:sp>
        <p:nvSpPr>
          <p:cNvPr id="7" name="Shape 4"/>
          <p:cNvSpPr/>
          <p:nvPr/>
        </p:nvSpPr>
        <p:spPr>
          <a:xfrm>
            <a:off x="566928" y="2148840"/>
            <a:ext cx="6766560" cy="786384"/>
          </a:xfrm>
          <a:prstGeom prst="roundRect">
            <a:avLst>
              <a:gd name="adj" fmla="val 9302"/>
            </a:avLst>
          </a:prstGeom>
          <a:solidFill>
            <a:srgbClr val="FFFFFF"/>
          </a:solidFill>
          <a:ln w="12700">
            <a:solidFill>
              <a:srgbClr val="E2E8F0"/>
            </a:solidFill>
            <a:prstDash val="solid"/>
          </a:ln>
          <a:effectLst>
            <a:outerShdw blurRad="88900" dist="38100" dir="5400000" algn="bl" rotWithShape="0">
              <a:srgbClr val="000000">
                <a:alpha val="14000"/>
              </a:srgbClr>
            </a:outerShdw>
          </a:effectLst>
        </p:spPr>
      </p:sp>
      <p:pic>
        <p:nvPicPr>
          <p:cNvPr id="8" name="Image 1" descr="preencoded.png"/>
          <p:cNvPicPr>
            <a:picLocks noChangeAspect="1"/>
          </p:cNvPicPr>
          <p:nvPr/>
        </p:nvPicPr>
        <p:blipFill>
          <a:blip r:embed="rId4"/>
          <a:stretch>
            <a:fillRect/>
          </a:stretch>
        </p:blipFill>
        <p:spPr>
          <a:xfrm>
            <a:off x="768096" y="2395728"/>
            <a:ext cx="310896" cy="310896"/>
          </a:xfrm>
          <a:prstGeom prst="rect">
            <a:avLst/>
          </a:prstGeom>
        </p:spPr>
      </p:pic>
      <p:sp>
        <p:nvSpPr>
          <p:cNvPr id="9" name="Text 5"/>
          <p:cNvSpPr/>
          <p:nvPr/>
        </p:nvSpPr>
        <p:spPr>
          <a:xfrm>
            <a:off x="1252728" y="2240280"/>
            <a:ext cx="5943600" cy="310896"/>
          </a:xfrm>
          <a:prstGeom prst="rect">
            <a:avLst/>
          </a:prstGeom>
          <a:noFill/>
          <a:ln/>
        </p:spPr>
        <p:txBody>
          <a:bodyPr wrap="square" rtlCol="0" anchor="ctr"/>
          <a:lstStyle/>
          <a:p>
            <a:pPr marL="0" indent="0">
              <a:buNone/>
            </a:pPr>
            <a:r>
              <a:rPr lang="en-US" sz="1350" b="1" dirty="0">
                <a:solidFill>
                  <a:srgbClr val="1E293B"/>
                </a:solidFill>
                <a:latin typeface="Courier New" pitchFamily="34" charset="0"/>
                <a:ea typeface="Courier New" pitchFamily="34" charset="-122"/>
                <a:cs typeface="Courier New" pitchFamily="34" charset="-120"/>
              </a:rPr>
              <a:t>databricks-gpt-oss-120b</a:t>
            </a:r>
            <a:endParaRPr lang="en-US" sz="1350" dirty="0"/>
          </a:p>
        </p:txBody>
      </p:sp>
      <p:sp>
        <p:nvSpPr>
          <p:cNvPr id="10" name="Text 6"/>
          <p:cNvSpPr/>
          <p:nvPr/>
        </p:nvSpPr>
        <p:spPr>
          <a:xfrm>
            <a:off x="1252728" y="2551176"/>
            <a:ext cx="5943600" cy="310896"/>
          </a:xfrm>
          <a:prstGeom prst="rect">
            <a:avLst/>
          </a:prstGeom>
          <a:noFill/>
          <a:ln/>
        </p:spPr>
        <p:txBody>
          <a:bodyPr wrap="square" rtlCol="0" anchor="ctr"/>
          <a:lstStyle/>
          <a:p>
            <a:pPr marL="0" indent="0">
              <a:buNone/>
            </a:pPr>
            <a:r>
              <a:rPr lang="en-US" sz="1200" dirty="0">
                <a:solidFill>
                  <a:srgbClr val="64748B"/>
                </a:solidFill>
                <a:latin typeface="Calibri" pitchFamily="34" charset="0"/>
                <a:ea typeface="Calibri" pitchFamily="34" charset="-122"/>
                <a:cs typeface="Calibri" pitchFamily="34" charset="-120"/>
              </a:rPr>
              <a:t>Hit workspace QPS limits → null / failed assessments</a:t>
            </a:r>
            <a:endParaRPr lang="en-US" sz="1200" dirty="0"/>
          </a:p>
        </p:txBody>
      </p:sp>
      <p:sp>
        <p:nvSpPr>
          <p:cNvPr id="11" name="Shape 7"/>
          <p:cNvSpPr/>
          <p:nvPr/>
        </p:nvSpPr>
        <p:spPr>
          <a:xfrm>
            <a:off x="566928" y="3044952"/>
            <a:ext cx="6766560" cy="786384"/>
          </a:xfrm>
          <a:prstGeom prst="roundRect">
            <a:avLst>
              <a:gd name="adj" fmla="val 9302"/>
            </a:avLst>
          </a:prstGeom>
          <a:solidFill>
            <a:srgbClr val="FFFFFF"/>
          </a:solidFill>
          <a:ln w="12700">
            <a:solidFill>
              <a:srgbClr val="E2E8F0"/>
            </a:solidFill>
            <a:prstDash val="solid"/>
          </a:ln>
          <a:effectLst>
            <a:outerShdw blurRad="88900" dist="38100" dir="5400000" algn="bl" rotWithShape="0">
              <a:srgbClr val="000000">
                <a:alpha val="14000"/>
              </a:srgbClr>
            </a:outerShdw>
          </a:effectLst>
        </p:spPr>
      </p:sp>
      <p:pic>
        <p:nvPicPr>
          <p:cNvPr id="12" name="Image 2" descr="preencoded.png"/>
          <p:cNvPicPr>
            <a:picLocks noChangeAspect="1"/>
          </p:cNvPicPr>
          <p:nvPr/>
        </p:nvPicPr>
        <p:blipFill>
          <a:blip r:embed="rId4"/>
          <a:stretch>
            <a:fillRect/>
          </a:stretch>
        </p:blipFill>
        <p:spPr>
          <a:xfrm>
            <a:off x="768096" y="3291840"/>
            <a:ext cx="310896" cy="310896"/>
          </a:xfrm>
          <a:prstGeom prst="rect">
            <a:avLst/>
          </a:prstGeom>
        </p:spPr>
      </p:pic>
      <p:sp>
        <p:nvSpPr>
          <p:cNvPr id="13" name="Text 8"/>
          <p:cNvSpPr/>
          <p:nvPr/>
        </p:nvSpPr>
        <p:spPr>
          <a:xfrm>
            <a:off x="1252728" y="3136392"/>
            <a:ext cx="5943600" cy="310896"/>
          </a:xfrm>
          <a:prstGeom prst="rect">
            <a:avLst/>
          </a:prstGeom>
          <a:noFill/>
          <a:ln/>
        </p:spPr>
        <p:txBody>
          <a:bodyPr wrap="square" rtlCol="0" anchor="ctr"/>
          <a:lstStyle/>
          <a:p>
            <a:pPr marL="0" indent="0">
              <a:buNone/>
            </a:pPr>
            <a:r>
              <a:rPr lang="en-US" sz="1350" b="1" dirty="0">
                <a:solidFill>
                  <a:srgbClr val="1E293B"/>
                </a:solidFill>
                <a:latin typeface="Courier New" pitchFamily="34" charset="0"/>
                <a:ea typeface="Courier New" pitchFamily="34" charset="-122"/>
                <a:cs typeface="Courier New" pitchFamily="34" charset="-120"/>
              </a:rPr>
              <a:t>databricks-claude-opus-4-8</a:t>
            </a:r>
            <a:endParaRPr lang="en-US" sz="1350" dirty="0"/>
          </a:p>
        </p:txBody>
      </p:sp>
      <p:sp>
        <p:nvSpPr>
          <p:cNvPr id="14" name="Text 9"/>
          <p:cNvSpPr/>
          <p:nvPr/>
        </p:nvSpPr>
        <p:spPr>
          <a:xfrm>
            <a:off x="1252728" y="3447288"/>
            <a:ext cx="5943600" cy="310896"/>
          </a:xfrm>
          <a:prstGeom prst="rect">
            <a:avLst/>
          </a:prstGeom>
          <a:noFill/>
          <a:ln/>
        </p:spPr>
        <p:txBody>
          <a:bodyPr wrap="square" rtlCol="0" anchor="ctr"/>
          <a:lstStyle/>
          <a:p>
            <a:pPr marL="0" indent="0">
              <a:buNone/>
            </a:pPr>
            <a:r>
              <a:rPr lang="en-US" sz="1200" dirty="0">
                <a:solidFill>
                  <a:srgbClr val="64748B"/>
                </a:solidFill>
                <a:latin typeface="Calibri" pitchFamily="34" charset="0"/>
                <a:ea typeface="Calibri" pitchFamily="34" charset="-122"/>
                <a:cs typeface="Calibri" pitchFamily="34" charset="-120"/>
              </a:rPr>
              <a:t>Endpoint configured with a rate limit of zero → unavailable</a:t>
            </a:r>
            <a:endParaRPr lang="en-US" sz="1200" dirty="0"/>
          </a:p>
        </p:txBody>
      </p:sp>
      <p:sp>
        <p:nvSpPr>
          <p:cNvPr id="15" name="Shape 10"/>
          <p:cNvSpPr/>
          <p:nvPr/>
        </p:nvSpPr>
        <p:spPr>
          <a:xfrm>
            <a:off x="566928" y="3941064"/>
            <a:ext cx="6766560" cy="786384"/>
          </a:xfrm>
          <a:prstGeom prst="roundRect">
            <a:avLst>
              <a:gd name="adj" fmla="val 9302"/>
            </a:avLst>
          </a:prstGeom>
          <a:solidFill>
            <a:srgbClr val="FFFFFF"/>
          </a:solidFill>
          <a:ln w="12700">
            <a:solidFill>
              <a:srgbClr val="E2E8F0"/>
            </a:solidFill>
            <a:prstDash val="solid"/>
          </a:ln>
          <a:effectLst>
            <a:outerShdw blurRad="88900" dist="38100" dir="5400000" algn="bl" rotWithShape="0">
              <a:srgbClr val="000000">
                <a:alpha val="14000"/>
              </a:srgbClr>
            </a:outerShdw>
          </a:effectLst>
        </p:spPr>
      </p:sp>
      <p:pic>
        <p:nvPicPr>
          <p:cNvPr id="16" name="Image 3" descr="preencoded.png"/>
          <p:cNvPicPr>
            <a:picLocks noChangeAspect="1"/>
          </p:cNvPicPr>
          <p:nvPr/>
        </p:nvPicPr>
        <p:blipFill>
          <a:blip r:embed="rId4"/>
          <a:stretch>
            <a:fillRect/>
          </a:stretch>
        </p:blipFill>
        <p:spPr>
          <a:xfrm>
            <a:off x="768096" y="4187952"/>
            <a:ext cx="310896" cy="310896"/>
          </a:xfrm>
          <a:prstGeom prst="rect">
            <a:avLst/>
          </a:prstGeom>
        </p:spPr>
      </p:pic>
      <p:sp>
        <p:nvSpPr>
          <p:cNvPr id="17" name="Text 11"/>
          <p:cNvSpPr/>
          <p:nvPr/>
        </p:nvSpPr>
        <p:spPr>
          <a:xfrm>
            <a:off x="1252728" y="4032504"/>
            <a:ext cx="5943600" cy="310896"/>
          </a:xfrm>
          <a:prstGeom prst="rect">
            <a:avLst/>
          </a:prstGeom>
          <a:noFill/>
          <a:ln/>
        </p:spPr>
        <p:txBody>
          <a:bodyPr wrap="square" rtlCol="0" anchor="ctr"/>
          <a:lstStyle/>
          <a:p>
            <a:pPr marL="0" indent="0">
              <a:buNone/>
            </a:pPr>
            <a:r>
              <a:rPr lang="en-US" sz="1350" b="1" dirty="0">
                <a:solidFill>
                  <a:srgbClr val="1E293B"/>
                </a:solidFill>
                <a:latin typeface="Courier New" pitchFamily="34" charset="0"/>
                <a:ea typeface="Courier New" pitchFamily="34" charset="-122"/>
                <a:cs typeface="Courier New" pitchFamily="34" charset="-120"/>
              </a:rPr>
              <a:t>anthropic-claude-sonnet-4 (make_judge)</a:t>
            </a:r>
            <a:endParaRPr lang="en-US" sz="1350" dirty="0"/>
          </a:p>
        </p:txBody>
      </p:sp>
      <p:sp>
        <p:nvSpPr>
          <p:cNvPr id="18" name="Text 12"/>
          <p:cNvSpPr/>
          <p:nvPr/>
        </p:nvSpPr>
        <p:spPr>
          <a:xfrm>
            <a:off x="1252728" y="4343400"/>
            <a:ext cx="5943600" cy="310896"/>
          </a:xfrm>
          <a:prstGeom prst="rect">
            <a:avLst/>
          </a:prstGeom>
          <a:noFill/>
          <a:ln/>
        </p:spPr>
        <p:txBody>
          <a:bodyPr wrap="square" rtlCol="0" anchor="ctr"/>
          <a:lstStyle/>
          <a:p>
            <a:pPr marL="0" indent="0">
              <a:buNone/>
            </a:pPr>
            <a:r>
              <a:rPr lang="en-US" sz="1200" dirty="0">
                <a:solidFill>
                  <a:srgbClr val="64748B"/>
                </a:solidFill>
                <a:latin typeface="Calibri" pitchFamily="34" charset="0"/>
                <a:ea typeface="Calibri" pitchFamily="34" charset="-122"/>
                <a:cs typeface="Calibri" pitchFamily="34" charset="-120"/>
              </a:rPr>
              <a:t>Rejected MLflow's structured response_schema field</a:t>
            </a:r>
            <a:endParaRPr lang="en-US" sz="1200" dirty="0"/>
          </a:p>
        </p:txBody>
      </p:sp>
      <p:sp>
        <p:nvSpPr>
          <p:cNvPr id="19" name="Shape 13"/>
          <p:cNvSpPr/>
          <p:nvPr/>
        </p:nvSpPr>
        <p:spPr>
          <a:xfrm>
            <a:off x="7589520" y="2148840"/>
            <a:ext cx="4023360" cy="3200400"/>
          </a:xfrm>
          <a:prstGeom prst="roundRect">
            <a:avLst>
              <a:gd name="adj" fmla="val 2286"/>
            </a:avLst>
          </a:prstGeom>
          <a:solidFill>
            <a:srgbClr val="0E1726"/>
          </a:solidFill>
          <a:ln w="12700">
            <a:solidFill>
              <a:srgbClr val="E2E8F0"/>
            </a:solidFill>
            <a:prstDash val="solid"/>
          </a:ln>
          <a:effectLst>
            <a:outerShdw blurRad="88900" dist="38100" dir="5400000" algn="bl" rotWithShape="0">
              <a:srgbClr val="000000">
                <a:alpha val="14000"/>
              </a:srgbClr>
            </a:outerShdw>
          </a:effectLst>
        </p:spPr>
      </p:sp>
      <p:pic>
        <p:nvPicPr>
          <p:cNvPr id="20" name="Image 4" descr="preencoded.png"/>
          <p:cNvPicPr>
            <a:picLocks noChangeAspect="1"/>
          </p:cNvPicPr>
          <p:nvPr/>
        </p:nvPicPr>
        <p:blipFill>
          <a:blip r:embed="rId5"/>
          <a:stretch>
            <a:fillRect/>
          </a:stretch>
        </p:blipFill>
        <p:spPr>
          <a:xfrm>
            <a:off x="7818120" y="2377440"/>
            <a:ext cx="411480" cy="411480"/>
          </a:xfrm>
          <a:prstGeom prst="rect">
            <a:avLst/>
          </a:prstGeom>
        </p:spPr>
      </p:pic>
      <p:sp>
        <p:nvSpPr>
          <p:cNvPr id="21" name="Text 14"/>
          <p:cNvSpPr/>
          <p:nvPr/>
        </p:nvSpPr>
        <p:spPr>
          <a:xfrm>
            <a:off x="8321040" y="2377440"/>
            <a:ext cx="3108960" cy="411480"/>
          </a:xfrm>
          <a:prstGeom prst="rect">
            <a:avLst/>
          </a:prstGeom>
          <a:noFill/>
          <a:ln/>
        </p:spPr>
        <p:txBody>
          <a:bodyPr wrap="square" rtlCol="0" anchor="ctr"/>
          <a:lstStyle/>
          <a:p>
            <a:pPr marL="0" indent="0">
              <a:buNone/>
            </a:pPr>
            <a:r>
              <a:rPr lang="en-US" sz="1600" b="1" dirty="0">
                <a:solidFill>
                  <a:srgbClr val="06B6D4"/>
                </a:solidFill>
                <a:latin typeface="Cambria" pitchFamily="34" charset="0"/>
                <a:ea typeface="Cambria" pitchFamily="34" charset="-122"/>
                <a:cs typeface="Cambria" pitchFamily="34" charset="-120"/>
              </a:rPr>
              <a:t>Fallback LLM judge</a:t>
            </a:r>
            <a:endParaRPr lang="en-US" sz="1600" dirty="0"/>
          </a:p>
        </p:txBody>
      </p:sp>
      <p:sp>
        <p:nvSpPr>
          <p:cNvPr id="22" name="Text 15"/>
          <p:cNvSpPr/>
          <p:nvPr/>
        </p:nvSpPr>
        <p:spPr>
          <a:xfrm>
            <a:off x="7818120" y="2926080"/>
            <a:ext cx="3566160" cy="1463040"/>
          </a:xfrm>
          <a:prstGeom prst="rect">
            <a:avLst/>
          </a:prstGeom>
          <a:noFill/>
          <a:ln/>
        </p:spPr>
        <p:txBody>
          <a:bodyPr wrap="square" rtlCol="0" anchor="t"/>
          <a:lstStyle/>
          <a:p>
            <a:pPr marL="0" indent="0">
              <a:lnSpc>
                <a:spcPct val="110000"/>
              </a:lnSpc>
              <a:buNone/>
            </a:pPr>
            <a:r>
              <a:rPr lang="en-US" sz="1300" dirty="0">
                <a:solidFill>
                  <a:srgbClr val="CBE7F2"/>
                </a:solidFill>
                <a:latin typeface="Calibri" pitchFamily="34" charset="0"/>
                <a:ea typeface="Calibri" pitchFamily="34" charset="-122"/>
                <a:cs typeface="Calibri" pitchFamily="34" charset="-120"/>
              </a:rPr>
              <a:t>A normal Claude Sonnet chat-completion judge — no structured schema required.</a:t>
            </a:r>
            <a:endParaRPr lang="en-US" sz="1300" dirty="0"/>
          </a:p>
          <a:p>
            <a:pPr marL="0" indent="0">
              <a:lnSpc>
                <a:spcPct val="110000"/>
              </a:lnSpc>
              <a:buNone/>
            </a:pPr>
            <a:endParaRPr lang="en-US" sz="1300" dirty="0"/>
          </a:p>
          <a:p>
            <a:pPr marL="0" indent="0">
              <a:lnSpc>
                <a:spcPct val="110000"/>
              </a:lnSpc>
              <a:buNone/>
            </a:pPr>
            <a:r>
              <a:rPr lang="en-US" sz="1300" b="1" dirty="0">
                <a:solidFill>
                  <a:srgbClr val="06B6D4"/>
                </a:solidFill>
                <a:latin typeface="Calibri" pitchFamily="34" charset="0"/>
                <a:ea typeface="Calibri" pitchFamily="34" charset="-122"/>
                <a:cs typeface="Calibri" pitchFamily="34" charset="-120"/>
              </a:rPr>
              <a:t>Pass rate:</a:t>
            </a:r>
            <a:endParaRPr lang="en-US" sz="1300" dirty="0"/>
          </a:p>
        </p:txBody>
      </p:sp>
      <p:sp>
        <p:nvSpPr>
          <p:cNvPr id="23" name="Text 16"/>
          <p:cNvSpPr/>
          <p:nvPr/>
        </p:nvSpPr>
        <p:spPr>
          <a:xfrm>
            <a:off x="7818120" y="4160520"/>
            <a:ext cx="3566160" cy="64008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3 / 12  =  25%</a:t>
            </a:r>
            <a:endParaRPr lang="en-US" sz="3000" dirty="0"/>
          </a:p>
        </p:txBody>
      </p:sp>
      <p:sp>
        <p:nvSpPr>
          <p:cNvPr id="24" name="Text 17"/>
          <p:cNvSpPr/>
          <p:nvPr/>
        </p:nvSpPr>
        <p:spPr>
          <a:xfrm>
            <a:off x="7818120" y="4846320"/>
            <a:ext cx="3566160" cy="365760"/>
          </a:xfrm>
          <a:prstGeom prst="rect">
            <a:avLst/>
          </a:prstGeom>
          <a:noFill/>
          <a:ln/>
        </p:spPr>
        <p:txBody>
          <a:bodyPr wrap="square" rtlCol="0" anchor="ctr"/>
          <a:lstStyle/>
          <a:p>
            <a:pPr marL="0" indent="0">
              <a:buNone/>
            </a:pPr>
            <a:r>
              <a:rPr lang="en-US" sz="1150" i="1" dirty="0">
                <a:solidFill>
                  <a:srgbClr val="CBE7F2"/>
                </a:solidFill>
                <a:latin typeface="Calibri" pitchFamily="34" charset="0"/>
                <a:ea typeface="Calibri" pitchFamily="34" charset="-122"/>
                <a:cs typeface="Calibri" pitchFamily="34" charset="-120"/>
              </a:rPr>
              <a:t>Reproducible, endpoint-independent.</a:t>
            </a:r>
            <a:endParaRPr lang="en-US" sz="1150" dirty="0"/>
          </a:p>
        </p:txBody>
      </p:sp>
      <p:sp>
        <p:nvSpPr>
          <p:cNvPr id="25" name="Text 18"/>
          <p:cNvSpPr/>
          <p:nvPr/>
        </p:nvSpPr>
        <p:spPr>
          <a:xfrm>
            <a:off x="11365992" y="6400800"/>
            <a:ext cx="457200" cy="274320"/>
          </a:xfrm>
          <a:prstGeom prst="rect">
            <a:avLst/>
          </a:prstGeom>
          <a:noFill/>
          <a:ln/>
        </p:spPr>
        <p:txBody>
          <a:bodyPr wrap="square"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13</a:t>
            </a:r>
            <a:endParaRPr lang="en-US" sz="1000" dirty="0"/>
          </a:p>
        </p:txBody>
      </p:sp>
      <p:sp>
        <p:nvSpPr>
          <p:cNvPr id="26" name="Text 19"/>
          <p:cNvSpPr/>
          <p:nvPr/>
        </p:nvSpPr>
        <p:spPr>
          <a:xfrm>
            <a:off x="566928" y="6400800"/>
            <a:ext cx="3657600" cy="274320"/>
          </a:xfrm>
          <a:prstGeom prst="rect">
            <a:avLst/>
          </a:prstGeom>
          <a:noFill/>
          <a:ln/>
        </p:spPr>
        <p:txBody>
          <a:bodyPr wrap="square" rtlCol="0" anchor="ctr"/>
          <a:lstStyle/>
          <a:p>
            <a:pPr marL="0" indent="0" algn="l">
              <a:buNone/>
            </a:pPr>
            <a:r>
              <a:rPr lang="en-US" sz="1000" dirty="0">
                <a:solidFill>
                  <a:srgbClr val="64748B"/>
                </a:solidFill>
                <a:latin typeface="Calibri" pitchFamily="34" charset="0"/>
                <a:ea typeface="Calibri" pitchFamily="34" charset="-122"/>
                <a:cs typeface="Calibri" pitchFamily="34" charset="-120"/>
              </a:rPr>
              <a:t>SentinelMesh</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57200"/>
            <a:ext cx="566928" cy="566928"/>
          </a:xfrm>
          <a:prstGeom prst="ellipse">
            <a:avLst/>
          </a:prstGeom>
          <a:solidFill>
            <a:srgbClr val="0E1726"/>
          </a:solidFill>
          <a:ln/>
        </p:spPr>
      </p:sp>
      <p:pic>
        <p:nvPicPr>
          <p:cNvPr id="3" name="Image 0" descr="preencoded.png"/>
          <p:cNvPicPr>
            <a:picLocks noChangeAspect="1"/>
          </p:cNvPicPr>
          <p:nvPr/>
        </p:nvPicPr>
        <p:blipFill>
          <a:blip r:embed="rId3"/>
          <a:stretch>
            <a:fillRect/>
          </a:stretch>
        </p:blipFill>
        <p:spPr>
          <a:xfrm>
            <a:off x="704088" y="594360"/>
            <a:ext cx="292608" cy="292608"/>
          </a:xfrm>
          <a:prstGeom prst="rect">
            <a:avLst/>
          </a:prstGeom>
        </p:spPr>
      </p:pic>
      <p:sp>
        <p:nvSpPr>
          <p:cNvPr id="4" name="Text 1"/>
          <p:cNvSpPr/>
          <p:nvPr/>
        </p:nvSpPr>
        <p:spPr>
          <a:xfrm>
            <a:off x="1298448" y="457200"/>
            <a:ext cx="9144000" cy="274320"/>
          </a:xfrm>
          <a:prstGeom prst="rect">
            <a:avLst/>
          </a:prstGeom>
          <a:noFill/>
          <a:ln/>
        </p:spPr>
        <p:txBody>
          <a:bodyPr wrap="square" rtlCol="0" anchor="ctr"/>
          <a:lstStyle/>
          <a:p>
            <a:pPr marL="0" indent="0">
              <a:buNone/>
            </a:pPr>
            <a:r>
              <a:rPr lang="en-US" sz="1200" b="1" kern="0" spc="300" dirty="0">
                <a:solidFill>
                  <a:srgbClr val="0E7490"/>
                </a:solidFill>
                <a:latin typeface="Calibri" pitchFamily="34" charset="0"/>
                <a:ea typeface="Calibri" pitchFamily="34" charset="-122"/>
                <a:cs typeface="Calibri" pitchFamily="34" charset="-120"/>
              </a:rPr>
              <a:t>HUMAN-IN-THE-LOOP</a:t>
            </a:r>
            <a:endParaRPr lang="en-US" sz="1200" dirty="0"/>
          </a:p>
        </p:txBody>
      </p:sp>
      <p:sp>
        <p:nvSpPr>
          <p:cNvPr id="5" name="Text 2"/>
          <p:cNvSpPr/>
          <p:nvPr/>
        </p:nvSpPr>
        <p:spPr>
          <a:xfrm>
            <a:off x="1298448" y="694944"/>
            <a:ext cx="10341864" cy="502920"/>
          </a:xfrm>
          <a:prstGeom prst="rect">
            <a:avLst/>
          </a:prstGeom>
          <a:noFill/>
          <a:ln/>
        </p:spPr>
        <p:txBody>
          <a:bodyPr wrap="square" rtlCol="0" anchor="ctr"/>
          <a:lstStyle/>
          <a:p>
            <a:pPr marL="0" indent="0">
              <a:buNone/>
            </a:pPr>
            <a:r>
              <a:rPr lang="en-US" sz="2800" b="1" dirty="0">
                <a:solidFill>
                  <a:srgbClr val="1E293B"/>
                </a:solidFill>
                <a:latin typeface="Cambria" pitchFamily="34" charset="0"/>
                <a:ea typeface="Cambria" pitchFamily="34" charset="-122"/>
                <a:cs typeface="Cambria" pitchFamily="34" charset="-120"/>
              </a:rPr>
              <a:t>Where the human stays in control</a:t>
            </a:r>
            <a:endParaRPr lang="en-US" sz="2800" dirty="0"/>
          </a:p>
        </p:txBody>
      </p:sp>
      <p:sp>
        <p:nvSpPr>
          <p:cNvPr id="6" name="Shape 3"/>
          <p:cNvSpPr/>
          <p:nvPr/>
        </p:nvSpPr>
        <p:spPr>
          <a:xfrm>
            <a:off x="566928" y="1691640"/>
            <a:ext cx="6766560" cy="914400"/>
          </a:xfrm>
          <a:prstGeom prst="roundRect">
            <a:avLst>
              <a:gd name="adj" fmla="val 8000"/>
            </a:avLst>
          </a:prstGeom>
          <a:solidFill>
            <a:srgbClr val="FFFFFF"/>
          </a:solidFill>
          <a:ln w="12700">
            <a:solidFill>
              <a:srgbClr val="E2E8F0"/>
            </a:solidFill>
            <a:prstDash val="solid"/>
          </a:ln>
          <a:effectLst>
            <a:outerShdw blurRad="88900" dist="38100" dir="5400000" algn="bl" rotWithShape="0">
              <a:srgbClr val="000000">
                <a:alpha val="14000"/>
              </a:srgbClr>
            </a:outerShdw>
          </a:effectLst>
        </p:spPr>
      </p:sp>
      <p:sp>
        <p:nvSpPr>
          <p:cNvPr id="7" name="Shape 4"/>
          <p:cNvSpPr/>
          <p:nvPr/>
        </p:nvSpPr>
        <p:spPr>
          <a:xfrm>
            <a:off x="749808" y="1892808"/>
            <a:ext cx="512064" cy="512064"/>
          </a:xfrm>
          <a:prstGeom prst="ellipse">
            <a:avLst/>
          </a:prstGeom>
          <a:solidFill>
            <a:srgbClr val="0E1726"/>
          </a:solidFill>
          <a:ln/>
        </p:spPr>
      </p:sp>
      <p:pic>
        <p:nvPicPr>
          <p:cNvPr id="8" name="Image 1" descr="preencoded.png"/>
          <p:cNvPicPr>
            <a:picLocks noChangeAspect="1"/>
          </p:cNvPicPr>
          <p:nvPr/>
        </p:nvPicPr>
        <p:blipFill>
          <a:blip r:embed="rId3"/>
          <a:stretch>
            <a:fillRect/>
          </a:stretch>
        </p:blipFill>
        <p:spPr>
          <a:xfrm>
            <a:off x="868680" y="2011680"/>
            <a:ext cx="274320" cy="274320"/>
          </a:xfrm>
          <a:prstGeom prst="rect">
            <a:avLst/>
          </a:prstGeom>
        </p:spPr>
      </p:pic>
      <p:sp>
        <p:nvSpPr>
          <p:cNvPr id="9" name="Text 5"/>
          <p:cNvSpPr/>
          <p:nvPr/>
        </p:nvSpPr>
        <p:spPr>
          <a:xfrm>
            <a:off x="1435608" y="1801368"/>
            <a:ext cx="5760720" cy="310896"/>
          </a:xfrm>
          <a:prstGeom prst="rect">
            <a:avLst/>
          </a:prstGeom>
          <a:noFill/>
          <a:ln/>
        </p:spPr>
        <p:txBody>
          <a:bodyPr wrap="square" rtlCol="0" anchor="ctr"/>
          <a:lstStyle/>
          <a:p>
            <a:pPr marL="0" indent="0">
              <a:buNone/>
            </a:pPr>
            <a:r>
              <a:rPr lang="en-US" sz="1450" b="1" dirty="0">
                <a:solidFill>
                  <a:srgbClr val="0E7490"/>
                </a:solidFill>
                <a:latin typeface="Cambria" pitchFamily="34" charset="0"/>
                <a:ea typeface="Cambria" pitchFamily="34" charset="-122"/>
                <a:cs typeface="Cambria" pitchFamily="34" charset="-120"/>
              </a:rPr>
              <a:t>Approval gate</a:t>
            </a:r>
            <a:endParaRPr lang="en-US" sz="1450" dirty="0"/>
          </a:p>
        </p:txBody>
      </p:sp>
      <p:sp>
        <p:nvSpPr>
          <p:cNvPr id="10" name="Text 6"/>
          <p:cNvSpPr/>
          <p:nvPr/>
        </p:nvSpPr>
        <p:spPr>
          <a:xfrm>
            <a:off x="1435608" y="2093976"/>
            <a:ext cx="5715000" cy="457200"/>
          </a:xfrm>
          <a:prstGeom prst="rect">
            <a:avLst/>
          </a:prstGeom>
          <a:noFill/>
          <a:ln/>
        </p:spPr>
        <p:txBody>
          <a:bodyPr wrap="square" rtlCol="0" anchor="t"/>
          <a:lstStyle/>
          <a:p>
            <a:pPr marL="0" indent="0">
              <a:buNone/>
            </a:pPr>
            <a:r>
              <a:rPr lang="en-US" sz="1250" dirty="0">
                <a:solidFill>
                  <a:srgbClr val="1E293B"/>
                </a:solidFill>
                <a:latin typeface="Calibri" pitchFamily="34" charset="0"/>
                <a:ea typeface="Calibri" pitchFamily="34" charset="-122"/>
                <a:cs typeface="Calibri" pitchFamily="34" charset="-120"/>
              </a:rPr>
              <a:t>The agent never executes containment. Every recommendation explicitly awaits analyst approval.</a:t>
            </a:r>
            <a:endParaRPr lang="en-US" sz="1250" dirty="0"/>
          </a:p>
        </p:txBody>
      </p:sp>
      <p:sp>
        <p:nvSpPr>
          <p:cNvPr id="11" name="Shape 7"/>
          <p:cNvSpPr/>
          <p:nvPr/>
        </p:nvSpPr>
        <p:spPr>
          <a:xfrm>
            <a:off x="566928" y="2697480"/>
            <a:ext cx="6766560" cy="914400"/>
          </a:xfrm>
          <a:prstGeom prst="roundRect">
            <a:avLst>
              <a:gd name="adj" fmla="val 8000"/>
            </a:avLst>
          </a:prstGeom>
          <a:solidFill>
            <a:srgbClr val="FFFFFF"/>
          </a:solidFill>
          <a:ln w="12700">
            <a:solidFill>
              <a:srgbClr val="E2E8F0"/>
            </a:solidFill>
            <a:prstDash val="solid"/>
          </a:ln>
          <a:effectLst>
            <a:outerShdw blurRad="88900" dist="38100" dir="5400000" algn="bl" rotWithShape="0">
              <a:srgbClr val="000000">
                <a:alpha val="14000"/>
              </a:srgbClr>
            </a:outerShdw>
          </a:effectLst>
        </p:spPr>
      </p:sp>
      <p:sp>
        <p:nvSpPr>
          <p:cNvPr id="12" name="Shape 8"/>
          <p:cNvSpPr/>
          <p:nvPr/>
        </p:nvSpPr>
        <p:spPr>
          <a:xfrm>
            <a:off x="749808" y="2898648"/>
            <a:ext cx="512064" cy="512064"/>
          </a:xfrm>
          <a:prstGeom prst="ellipse">
            <a:avLst/>
          </a:prstGeom>
          <a:solidFill>
            <a:srgbClr val="0E1726"/>
          </a:solidFill>
          <a:ln/>
        </p:spPr>
      </p:sp>
      <p:pic>
        <p:nvPicPr>
          <p:cNvPr id="13" name="Image 2" descr="preencoded.png"/>
          <p:cNvPicPr>
            <a:picLocks noChangeAspect="1"/>
          </p:cNvPicPr>
          <p:nvPr/>
        </p:nvPicPr>
        <p:blipFill>
          <a:blip r:embed="rId3"/>
          <a:stretch>
            <a:fillRect/>
          </a:stretch>
        </p:blipFill>
        <p:spPr>
          <a:xfrm>
            <a:off x="868680" y="3017520"/>
            <a:ext cx="274320" cy="274320"/>
          </a:xfrm>
          <a:prstGeom prst="rect">
            <a:avLst/>
          </a:prstGeom>
        </p:spPr>
      </p:pic>
      <p:sp>
        <p:nvSpPr>
          <p:cNvPr id="14" name="Text 9"/>
          <p:cNvSpPr/>
          <p:nvPr/>
        </p:nvSpPr>
        <p:spPr>
          <a:xfrm>
            <a:off x="1435608" y="2807208"/>
            <a:ext cx="5760720" cy="310896"/>
          </a:xfrm>
          <a:prstGeom prst="rect">
            <a:avLst/>
          </a:prstGeom>
          <a:noFill/>
          <a:ln/>
        </p:spPr>
        <p:txBody>
          <a:bodyPr wrap="square" rtlCol="0" anchor="ctr"/>
          <a:lstStyle/>
          <a:p>
            <a:pPr marL="0" indent="0">
              <a:buNone/>
            </a:pPr>
            <a:r>
              <a:rPr lang="en-US" sz="1450" b="1" dirty="0">
                <a:solidFill>
                  <a:srgbClr val="0E7490"/>
                </a:solidFill>
                <a:latin typeface="Cambria" pitchFamily="34" charset="0"/>
                <a:ea typeface="Cambria" pitchFamily="34" charset="-122"/>
                <a:cs typeface="Cambria" pitchFamily="34" charset="-120"/>
              </a:rPr>
              <a:t>Verified ground truth</a:t>
            </a:r>
            <a:endParaRPr lang="en-US" sz="1450" dirty="0"/>
          </a:p>
        </p:txBody>
      </p:sp>
      <p:sp>
        <p:nvSpPr>
          <p:cNvPr id="15" name="Text 10"/>
          <p:cNvSpPr/>
          <p:nvPr/>
        </p:nvSpPr>
        <p:spPr>
          <a:xfrm>
            <a:off x="1435608" y="3099816"/>
            <a:ext cx="5715000" cy="457200"/>
          </a:xfrm>
          <a:prstGeom prst="rect">
            <a:avLst/>
          </a:prstGeom>
          <a:noFill/>
          <a:ln/>
        </p:spPr>
        <p:txBody>
          <a:bodyPr wrap="square" rtlCol="0" anchor="t"/>
          <a:lstStyle/>
          <a:p>
            <a:pPr marL="0" indent="0">
              <a:buNone/>
            </a:pPr>
            <a:r>
              <a:rPr lang="en-US" sz="1250" dirty="0">
                <a:solidFill>
                  <a:srgbClr val="1E293B"/>
                </a:solidFill>
                <a:latin typeface="Calibri" pitchFamily="34" charset="0"/>
                <a:ea typeface="Calibri" pitchFamily="34" charset="-122"/>
                <a:cs typeface="Calibri" pitchFamily="34" charset="-120"/>
              </a:rPr>
              <a:t>A human checked the evaluation labels against CIC-IoT-2023, so scoring is anchored to human judgment.</a:t>
            </a:r>
            <a:endParaRPr lang="en-US" sz="1250" dirty="0"/>
          </a:p>
        </p:txBody>
      </p:sp>
      <p:sp>
        <p:nvSpPr>
          <p:cNvPr id="16" name="Shape 11"/>
          <p:cNvSpPr/>
          <p:nvPr/>
        </p:nvSpPr>
        <p:spPr>
          <a:xfrm>
            <a:off x="566928" y="3703320"/>
            <a:ext cx="6766560" cy="914400"/>
          </a:xfrm>
          <a:prstGeom prst="roundRect">
            <a:avLst>
              <a:gd name="adj" fmla="val 8000"/>
            </a:avLst>
          </a:prstGeom>
          <a:solidFill>
            <a:srgbClr val="FFFFFF"/>
          </a:solidFill>
          <a:ln w="12700">
            <a:solidFill>
              <a:srgbClr val="E2E8F0"/>
            </a:solidFill>
            <a:prstDash val="solid"/>
          </a:ln>
          <a:effectLst>
            <a:outerShdw blurRad="88900" dist="38100" dir="5400000" algn="bl" rotWithShape="0">
              <a:srgbClr val="000000">
                <a:alpha val="14000"/>
              </a:srgbClr>
            </a:outerShdw>
          </a:effectLst>
        </p:spPr>
      </p:sp>
      <p:sp>
        <p:nvSpPr>
          <p:cNvPr id="17" name="Shape 12"/>
          <p:cNvSpPr/>
          <p:nvPr/>
        </p:nvSpPr>
        <p:spPr>
          <a:xfrm>
            <a:off x="749808" y="3904488"/>
            <a:ext cx="512064" cy="512064"/>
          </a:xfrm>
          <a:prstGeom prst="ellipse">
            <a:avLst/>
          </a:prstGeom>
          <a:solidFill>
            <a:srgbClr val="0E1726"/>
          </a:solidFill>
          <a:ln/>
        </p:spPr>
      </p:sp>
      <p:pic>
        <p:nvPicPr>
          <p:cNvPr id="18" name="Image 3" descr="preencoded.png"/>
          <p:cNvPicPr>
            <a:picLocks noChangeAspect="1"/>
          </p:cNvPicPr>
          <p:nvPr/>
        </p:nvPicPr>
        <p:blipFill>
          <a:blip r:embed="rId3"/>
          <a:stretch>
            <a:fillRect/>
          </a:stretch>
        </p:blipFill>
        <p:spPr>
          <a:xfrm>
            <a:off x="868680" y="4023360"/>
            <a:ext cx="274320" cy="274320"/>
          </a:xfrm>
          <a:prstGeom prst="rect">
            <a:avLst/>
          </a:prstGeom>
        </p:spPr>
      </p:pic>
      <p:sp>
        <p:nvSpPr>
          <p:cNvPr id="19" name="Text 13"/>
          <p:cNvSpPr/>
          <p:nvPr/>
        </p:nvSpPr>
        <p:spPr>
          <a:xfrm>
            <a:off x="1435608" y="3813048"/>
            <a:ext cx="5760720" cy="310896"/>
          </a:xfrm>
          <a:prstGeom prst="rect">
            <a:avLst/>
          </a:prstGeom>
          <a:noFill/>
          <a:ln/>
        </p:spPr>
        <p:txBody>
          <a:bodyPr wrap="square" rtlCol="0" anchor="ctr"/>
          <a:lstStyle/>
          <a:p>
            <a:pPr marL="0" indent="0">
              <a:buNone/>
            </a:pPr>
            <a:r>
              <a:rPr lang="en-US" sz="1450" b="1" dirty="0">
                <a:solidFill>
                  <a:srgbClr val="0E7490"/>
                </a:solidFill>
                <a:latin typeface="Cambria" pitchFamily="34" charset="0"/>
                <a:ea typeface="Cambria" pitchFamily="34" charset="-122"/>
                <a:cs typeface="Cambria" pitchFamily="34" charset="-120"/>
              </a:rPr>
              <a:t>Verdict review</a:t>
            </a:r>
            <a:endParaRPr lang="en-US" sz="1450" dirty="0"/>
          </a:p>
        </p:txBody>
      </p:sp>
      <p:sp>
        <p:nvSpPr>
          <p:cNvPr id="20" name="Text 14"/>
          <p:cNvSpPr/>
          <p:nvPr/>
        </p:nvSpPr>
        <p:spPr>
          <a:xfrm>
            <a:off x="1435608" y="4105656"/>
            <a:ext cx="5715000" cy="457200"/>
          </a:xfrm>
          <a:prstGeom prst="rect">
            <a:avLst/>
          </a:prstGeom>
          <a:noFill/>
          <a:ln/>
        </p:spPr>
        <p:txBody>
          <a:bodyPr wrap="square" rtlCol="0" anchor="t"/>
          <a:lstStyle/>
          <a:p>
            <a:pPr marL="0" indent="0">
              <a:buNone/>
            </a:pPr>
            <a:r>
              <a:rPr lang="en-US" sz="1250" dirty="0">
                <a:solidFill>
                  <a:srgbClr val="1E293B"/>
                </a:solidFill>
                <a:latin typeface="Calibri" pitchFamily="34" charset="0"/>
                <a:ea typeface="Calibri" pitchFamily="34" charset="-122"/>
                <a:cs typeface="Calibri" pitchFamily="34" charset="-120"/>
              </a:rPr>
              <a:t>A human review table inspects per-alert pass/fail, expected family, predicted family, and trace output; analyst UI feedback is the next production step.</a:t>
            </a:r>
            <a:endParaRPr lang="en-US" sz="1250" dirty="0"/>
          </a:p>
        </p:txBody>
      </p:sp>
      <p:sp>
        <p:nvSpPr>
          <p:cNvPr id="21" name="Shape 15"/>
          <p:cNvSpPr/>
          <p:nvPr/>
        </p:nvSpPr>
        <p:spPr>
          <a:xfrm>
            <a:off x="566928" y="4709160"/>
            <a:ext cx="6766560" cy="914400"/>
          </a:xfrm>
          <a:prstGeom prst="roundRect">
            <a:avLst>
              <a:gd name="adj" fmla="val 8000"/>
            </a:avLst>
          </a:prstGeom>
          <a:solidFill>
            <a:srgbClr val="FFFFFF"/>
          </a:solidFill>
          <a:ln w="12700">
            <a:solidFill>
              <a:srgbClr val="E2E8F0"/>
            </a:solidFill>
            <a:prstDash val="solid"/>
          </a:ln>
          <a:effectLst>
            <a:outerShdw blurRad="88900" dist="38100" dir="5400000" algn="bl" rotWithShape="0">
              <a:srgbClr val="000000">
                <a:alpha val="14000"/>
              </a:srgbClr>
            </a:outerShdw>
          </a:effectLst>
        </p:spPr>
      </p:sp>
      <p:sp>
        <p:nvSpPr>
          <p:cNvPr id="22" name="Shape 16"/>
          <p:cNvSpPr/>
          <p:nvPr/>
        </p:nvSpPr>
        <p:spPr>
          <a:xfrm>
            <a:off x="749808" y="4910328"/>
            <a:ext cx="512064" cy="512064"/>
          </a:xfrm>
          <a:prstGeom prst="ellipse">
            <a:avLst/>
          </a:prstGeom>
          <a:solidFill>
            <a:srgbClr val="0E1726"/>
          </a:solidFill>
          <a:ln/>
        </p:spPr>
      </p:sp>
      <p:pic>
        <p:nvPicPr>
          <p:cNvPr id="23" name="Image 4" descr="preencoded.png"/>
          <p:cNvPicPr>
            <a:picLocks noChangeAspect="1"/>
          </p:cNvPicPr>
          <p:nvPr/>
        </p:nvPicPr>
        <p:blipFill>
          <a:blip r:embed="rId3"/>
          <a:stretch>
            <a:fillRect/>
          </a:stretch>
        </p:blipFill>
        <p:spPr>
          <a:xfrm>
            <a:off x="868680" y="5029200"/>
            <a:ext cx="274320" cy="274320"/>
          </a:xfrm>
          <a:prstGeom prst="rect">
            <a:avLst/>
          </a:prstGeom>
        </p:spPr>
      </p:pic>
      <p:sp>
        <p:nvSpPr>
          <p:cNvPr id="24" name="Text 17"/>
          <p:cNvSpPr/>
          <p:nvPr/>
        </p:nvSpPr>
        <p:spPr>
          <a:xfrm>
            <a:off x="1435608" y="4818888"/>
            <a:ext cx="5760720" cy="310896"/>
          </a:xfrm>
          <a:prstGeom prst="rect">
            <a:avLst/>
          </a:prstGeom>
          <a:noFill/>
          <a:ln/>
        </p:spPr>
        <p:txBody>
          <a:bodyPr wrap="square" rtlCol="0" anchor="ctr"/>
          <a:lstStyle/>
          <a:p>
            <a:pPr marL="0" indent="0">
              <a:buNone/>
            </a:pPr>
            <a:r>
              <a:rPr lang="en-US" sz="1450" b="1" dirty="0">
                <a:solidFill>
                  <a:srgbClr val="0E7490"/>
                </a:solidFill>
                <a:latin typeface="Cambria" pitchFamily="34" charset="0"/>
                <a:ea typeface="Cambria" pitchFamily="34" charset="-122"/>
                <a:cs typeface="Cambria" pitchFamily="34" charset="-120"/>
              </a:rPr>
              <a:t>Disagreement triage</a:t>
            </a:r>
            <a:endParaRPr lang="en-US" sz="1450" dirty="0"/>
          </a:p>
        </p:txBody>
      </p:sp>
      <p:sp>
        <p:nvSpPr>
          <p:cNvPr id="25" name="Text 18"/>
          <p:cNvSpPr/>
          <p:nvPr/>
        </p:nvSpPr>
        <p:spPr>
          <a:xfrm>
            <a:off x="1435608" y="5111496"/>
            <a:ext cx="5715000" cy="457200"/>
          </a:xfrm>
          <a:prstGeom prst="rect">
            <a:avLst/>
          </a:prstGeom>
          <a:noFill/>
          <a:ln/>
        </p:spPr>
        <p:txBody>
          <a:bodyPr wrap="square" rtlCol="0" anchor="t"/>
          <a:lstStyle/>
          <a:p>
            <a:pPr marL="0" indent="0">
              <a:buNone/>
            </a:pPr>
            <a:r>
              <a:rPr lang="en-US" sz="1250" dirty="0">
                <a:solidFill>
                  <a:srgbClr val="1E293B"/>
                </a:solidFill>
                <a:latin typeface="Calibri" pitchFamily="34" charset="0"/>
                <a:ea typeface="Calibri" pitchFamily="34" charset="-122"/>
                <a:cs typeface="Calibri" pitchFamily="34" charset="-120"/>
              </a:rPr>
              <a:t>Cases where the LLM judge and deterministic judge disagree are routed to a human for the final call.</a:t>
            </a:r>
            <a:endParaRPr lang="en-US" sz="1250" dirty="0"/>
          </a:p>
        </p:txBody>
      </p:sp>
      <p:sp>
        <p:nvSpPr>
          <p:cNvPr id="26" name="Shape 19"/>
          <p:cNvSpPr/>
          <p:nvPr/>
        </p:nvSpPr>
        <p:spPr>
          <a:xfrm>
            <a:off x="7589520" y="1691640"/>
            <a:ext cx="4023360" cy="3931920"/>
          </a:xfrm>
          <a:prstGeom prst="roundRect">
            <a:avLst>
              <a:gd name="adj" fmla="val 1860"/>
            </a:avLst>
          </a:prstGeom>
          <a:solidFill>
            <a:srgbClr val="F4F7FB"/>
          </a:solidFill>
          <a:ln w="12700">
            <a:solidFill>
              <a:srgbClr val="E2E8F0"/>
            </a:solidFill>
            <a:prstDash val="solid"/>
          </a:ln>
          <a:effectLst>
            <a:outerShdw blurRad="88900" dist="38100" dir="5400000" algn="bl" rotWithShape="0">
              <a:srgbClr val="000000">
                <a:alpha val="14000"/>
              </a:srgbClr>
            </a:outerShdw>
          </a:effectLst>
        </p:spPr>
      </p:sp>
      <p:sp>
        <p:nvSpPr>
          <p:cNvPr id="27" name="Text 20"/>
          <p:cNvSpPr/>
          <p:nvPr/>
        </p:nvSpPr>
        <p:spPr>
          <a:xfrm>
            <a:off x="7818120" y="1920240"/>
            <a:ext cx="3566160" cy="365760"/>
          </a:xfrm>
          <a:prstGeom prst="rect">
            <a:avLst/>
          </a:prstGeom>
          <a:noFill/>
          <a:ln/>
        </p:spPr>
        <p:txBody>
          <a:bodyPr wrap="square" rtlCol="0" anchor="ctr"/>
          <a:lstStyle/>
          <a:p>
            <a:pPr marL="0" indent="0">
              <a:buNone/>
            </a:pPr>
            <a:r>
              <a:rPr lang="en-US" sz="1500" b="1" dirty="0">
                <a:solidFill>
                  <a:srgbClr val="0E7490"/>
                </a:solidFill>
                <a:latin typeface="Cambria" pitchFamily="34" charset="0"/>
                <a:ea typeface="Cambria" pitchFamily="34" charset="-122"/>
                <a:cs typeface="Cambria" pitchFamily="34" charset="-120"/>
              </a:rPr>
              <a:t>Why it matters</a:t>
            </a:r>
            <a:endParaRPr lang="en-US" sz="1500" dirty="0"/>
          </a:p>
        </p:txBody>
      </p:sp>
      <p:sp>
        <p:nvSpPr>
          <p:cNvPr id="28" name="Text 21"/>
          <p:cNvSpPr/>
          <p:nvPr/>
        </p:nvSpPr>
        <p:spPr>
          <a:xfrm>
            <a:off x="7818120" y="2331720"/>
            <a:ext cx="3566160" cy="3200400"/>
          </a:xfrm>
          <a:prstGeom prst="rect">
            <a:avLst/>
          </a:prstGeom>
          <a:noFill/>
          <a:ln/>
        </p:spPr>
        <p:txBody>
          <a:bodyPr wrap="square" rtlCol="0" anchor="t"/>
          <a:lstStyle/>
          <a:p>
            <a:pPr marL="0" indent="0">
              <a:lnSpc>
                <a:spcPct val="110000"/>
              </a:lnSpc>
              <a:buNone/>
            </a:pPr>
            <a:r>
              <a:rPr lang="en-US" sz="1250" dirty="0">
                <a:solidFill>
                  <a:srgbClr val="1E293B"/>
                </a:solidFill>
                <a:latin typeface="Calibri" pitchFamily="34" charset="0"/>
                <a:ea typeface="Calibri" pitchFamily="34" charset="-122"/>
                <a:cs typeface="Calibri" pitchFamily="34" charset="-120"/>
              </a:rPr>
              <a:t>SOC triage is high-stakes. A wrong autonomous action can take down a service or miss a breach.</a:t>
            </a:r>
            <a:endParaRPr lang="en-US" sz="1250" dirty="0"/>
          </a:p>
          <a:p>
            <a:pPr marL="0" indent="0">
              <a:lnSpc>
                <a:spcPct val="110000"/>
              </a:lnSpc>
              <a:buNone/>
            </a:pPr>
            <a:endParaRPr lang="en-US" sz="1250" dirty="0"/>
          </a:p>
          <a:p>
            <a:pPr marL="0" indent="0">
              <a:lnSpc>
                <a:spcPct val="110000"/>
              </a:lnSpc>
              <a:buNone/>
            </a:pPr>
            <a:r>
              <a:rPr lang="en-US" sz="1250" dirty="0">
                <a:solidFill>
                  <a:srgbClr val="1E293B"/>
                </a:solidFill>
                <a:latin typeface="Calibri" pitchFamily="34" charset="0"/>
                <a:ea typeface="Calibri" pitchFamily="34" charset="-122"/>
                <a:cs typeface="Calibri" pitchFamily="34" charset="-120"/>
              </a:rPr>
              <a:t>SentinelMesh is a co-pilot: it accelerates the analyst's decision but leaves the decision to the human.</a:t>
            </a:r>
            <a:endParaRPr lang="en-US" sz="1250" dirty="0"/>
          </a:p>
          <a:p>
            <a:pPr marL="0" indent="0">
              <a:lnSpc>
                <a:spcPct val="110000"/>
              </a:lnSpc>
              <a:buNone/>
            </a:pPr>
            <a:endParaRPr lang="en-US" sz="1250" dirty="0"/>
          </a:p>
          <a:p>
            <a:pPr marL="0" indent="0">
              <a:lnSpc>
                <a:spcPct val="110000"/>
              </a:lnSpc>
              <a:buNone/>
            </a:pPr>
            <a:r>
              <a:rPr lang="en-US" sz="1250" i="1" dirty="0">
                <a:solidFill>
                  <a:srgbClr val="64748B"/>
                </a:solidFill>
                <a:latin typeface="Calibri" pitchFamily="34" charset="0"/>
                <a:ea typeface="Calibri" pitchFamily="34" charset="-122"/>
                <a:cs typeface="Calibri" pitchFamily="34" charset="-120"/>
              </a:rPr>
              <a:t>Future: log analyst feedback on traces and align the judge to it (judge alignment as future work).</a:t>
            </a:r>
            <a:endParaRPr lang="en-US" sz="1250" dirty="0"/>
          </a:p>
        </p:txBody>
      </p:sp>
      <p:sp>
        <p:nvSpPr>
          <p:cNvPr id="29" name="Text 22"/>
          <p:cNvSpPr/>
          <p:nvPr/>
        </p:nvSpPr>
        <p:spPr>
          <a:xfrm>
            <a:off x="11365992" y="6400800"/>
            <a:ext cx="457200" cy="274320"/>
          </a:xfrm>
          <a:prstGeom prst="rect">
            <a:avLst/>
          </a:prstGeom>
          <a:noFill/>
          <a:ln/>
        </p:spPr>
        <p:txBody>
          <a:bodyPr wrap="square"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14</a:t>
            </a:r>
            <a:endParaRPr lang="en-US" sz="1000" dirty="0"/>
          </a:p>
        </p:txBody>
      </p:sp>
      <p:sp>
        <p:nvSpPr>
          <p:cNvPr id="30" name="Text 23"/>
          <p:cNvSpPr/>
          <p:nvPr/>
        </p:nvSpPr>
        <p:spPr>
          <a:xfrm>
            <a:off x="566928" y="6400800"/>
            <a:ext cx="3657600" cy="274320"/>
          </a:xfrm>
          <a:prstGeom prst="rect">
            <a:avLst/>
          </a:prstGeom>
          <a:noFill/>
          <a:ln/>
        </p:spPr>
        <p:txBody>
          <a:bodyPr wrap="square" rtlCol="0" anchor="ctr"/>
          <a:lstStyle/>
          <a:p>
            <a:pPr marL="0" indent="0" algn="l">
              <a:buNone/>
            </a:pPr>
            <a:r>
              <a:rPr lang="en-US" sz="1000" dirty="0">
                <a:solidFill>
                  <a:srgbClr val="64748B"/>
                </a:solidFill>
                <a:latin typeface="Calibri" pitchFamily="34" charset="0"/>
                <a:ea typeface="Calibri" pitchFamily="34" charset="-122"/>
                <a:cs typeface="Calibri" pitchFamily="34" charset="-120"/>
              </a:rPr>
              <a:t>SentinelMesh</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57200"/>
            <a:ext cx="566928" cy="566928"/>
          </a:xfrm>
          <a:prstGeom prst="ellipse">
            <a:avLst/>
          </a:prstGeom>
          <a:solidFill>
            <a:srgbClr val="0E1726"/>
          </a:solidFill>
          <a:ln/>
        </p:spPr>
      </p:sp>
      <p:pic>
        <p:nvPicPr>
          <p:cNvPr id="3" name="Image 0" descr="preencoded.png"/>
          <p:cNvPicPr>
            <a:picLocks noChangeAspect="1"/>
          </p:cNvPicPr>
          <p:nvPr/>
        </p:nvPicPr>
        <p:blipFill>
          <a:blip r:embed="rId3"/>
          <a:stretch>
            <a:fillRect/>
          </a:stretch>
        </p:blipFill>
        <p:spPr>
          <a:xfrm>
            <a:off x="704088" y="594360"/>
            <a:ext cx="292608" cy="292608"/>
          </a:xfrm>
          <a:prstGeom prst="rect">
            <a:avLst/>
          </a:prstGeom>
        </p:spPr>
      </p:pic>
      <p:sp>
        <p:nvSpPr>
          <p:cNvPr id="4" name="Text 1"/>
          <p:cNvSpPr/>
          <p:nvPr/>
        </p:nvSpPr>
        <p:spPr>
          <a:xfrm>
            <a:off x="1298448" y="457200"/>
            <a:ext cx="9144000" cy="274320"/>
          </a:xfrm>
          <a:prstGeom prst="rect">
            <a:avLst/>
          </a:prstGeom>
          <a:noFill/>
          <a:ln/>
        </p:spPr>
        <p:txBody>
          <a:bodyPr wrap="square" rtlCol="0" anchor="ctr"/>
          <a:lstStyle/>
          <a:p>
            <a:pPr marL="0" indent="0">
              <a:buNone/>
            </a:pPr>
            <a:r>
              <a:rPr lang="en-US" sz="1200" b="1" kern="0" spc="300" dirty="0">
                <a:solidFill>
                  <a:srgbClr val="0E7490"/>
                </a:solidFill>
                <a:latin typeface="Calibri" pitchFamily="34" charset="0"/>
                <a:ea typeface="Calibri" pitchFamily="34" charset="-122"/>
                <a:cs typeface="Calibri" pitchFamily="34" charset="-120"/>
              </a:rPr>
              <a:t>RESULTS</a:t>
            </a:r>
            <a:endParaRPr lang="en-US" sz="1200" dirty="0"/>
          </a:p>
        </p:txBody>
      </p:sp>
      <p:sp>
        <p:nvSpPr>
          <p:cNvPr id="5" name="Text 2"/>
          <p:cNvSpPr/>
          <p:nvPr/>
        </p:nvSpPr>
        <p:spPr>
          <a:xfrm>
            <a:off x="1298448" y="694944"/>
            <a:ext cx="10341864" cy="502920"/>
          </a:xfrm>
          <a:prstGeom prst="rect">
            <a:avLst/>
          </a:prstGeom>
          <a:noFill/>
          <a:ln/>
        </p:spPr>
        <p:txBody>
          <a:bodyPr wrap="square" rtlCol="0" anchor="ctr"/>
          <a:lstStyle/>
          <a:p>
            <a:pPr marL="0" indent="0">
              <a:buNone/>
            </a:pPr>
            <a:r>
              <a:rPr lang="en-US" sz="2800" b="1" dirty="0">
                <a:solidFill>
                  <a:srgbClr val="1E293B"/>
                </a:solidFill>
                <a:latin typeface="Cambria" pitchFamily="34" charset="0"/>
                <a:ea typeface="Cambria" pitchFamily="34" charset="-122"/>
                <a:cs typeface="Cambria" pitchFamily="34" charset="-120"/>
              </a:rPr>
              <a:t>Final accuracy — and a cross-model finding</a:t>
            </a:r>
            <a:endParaRPr lang="en-US" sz="2800" dirty="0"/>
          </a:p>
        </p:txBody>
      </p:sp>
      <p:graphicFrame>
        <p:nvGraphicFramePr>
          <p:cNvPr id="6" name="Chart 0"/>
          <p:cNvGraphicFramePr/>
          <p:nvPr/>
        </p:nvGraphicFramePr>
        <p:xfrm>
          <a:off x="566928" y="1737360"/>
          <a:ext cx="6583680" cy="3749040"/>
        </p:xfrm>
        <a:graphic>
          <a:graphicData uri="http://schemas.openxmlformats.org/drawingml/2006/chart">
            <c:chart xmlns:c="http://schemas.openxmlformats.org/drawingml/2006/chart" xmlns:r="http://schemas.openxmlformats.org/officeDocument/2006/relationships" r:id="rId4"/>
          </a:graphicData>
        </a:graphic>
      </p:graphicFrame>
      <p:sp>
        <p:nvSpPr>
          <p:cNvPr id="7" name="Shape 3"/>
          <p:cNvSpPr/>
          <p:nvPr/>
        </p:nvSpPr>
        <p:spPr>
          <a:xfrm>
            <a:off x="7315200" y="1783080"/>
            <a:ext cx="4297680" cy="1143000"/>
          </a:xfrm>
          <a:prstGeom prst="roundRect">
            <a:avLst>
              <a:gd name="adj" fmla="val 6400"/>
            </a:avLst>
          </a:prstGeom>
          <a:solidFill>
            <a:srgbClr val="FFFFFF"/>
          </a:solidFill>
          <a:ln w="12700">
            <a:solidFill>
              <a:srgbClr val="E2E8F0"/>
            </a:solidFill>
            <a:prstDash val="solid"/>
          </a:ln>
          <a:effectLst>
            <a:outerShdw blurRad="88900" dist="38100" dir="5400000" algn="bl" rotWithShape="0">
              <a:srgbClr val="000000">
                <a:alpha val="14000"/>
              </a:srgbClr>
            </a:outerShdw>
          </a:effectLst>
        </p:spPr>
      </p:sp>
      <p:sp>
        <p:nvSpPr>
          <p:cNvPr id="8" name="Text 4"/>
          <p:cNvSpPr/>
          <p:nvPr/>
        </p:nvSpPr>
        <p:spPr>
          <a:xfrm>
            <a:off x="7498080" y="1892808"/>
            <a:ext cx="1463040" cy="914400"/>
          </a:xfrm>
          <a:prstGeom prst="rect">
            <a:avLst/>
          </a:prstGeom>
          <a:noFill/>
          <a:ln/>
        </p:spPr>
        <p:txBody>
          <a:bodyPr wrap="square" rtlCol="0" anchor="ctr"/>
          <a:lstStyle/>
          <a:p>
            <a:pPr marL="0" indent="0">
              <a:buNone/>
            </a:pPr>
            <a:r>
              <a:rPr lang="en-US" sz="3800" b="1" dirty="0">
                <a:solidFill>
                  <a:srgbClr val="0E7490"/>
                </a:solidFill>
                <a:latin typeface="Cambria" pitchFamily="34" charset="0"/>
                <a:ea typeface="Cambria" pitchFamily="34" charset="-122"/>
                <a:cs typeface="Cambria" pitchFamily="34" charset="-120"/>
              </a:rPr>
              <a:t>25%</a:t>
            </a:r>
            <a:endParaRPr lang="en-US" sz="3800" dirty="0"/>
          </a:p>
        </p:txBody>
      </p:sp>
      <p:sp>
        <p:nvSpPr>
          <p:cNvPr id="9" name="Text 5"/>
          <p:cNvSpPr/>
          <p:nvPr/>
        </p:nvSpPr>
        <p:spPr>
          <a:xfrm>
            <a:off x="9006840" y="1892808"/>
            <a:ext cx="2468880" cy="914400"/>
          </a:xfrm>
          <a:prstGeom prst="rect">
            <a:avLst/>
          </a:prstGeom>
          <a:noFill/>
          <a:ln/>
        </p:spPr>
        <p:txBody>
          <a:bodyPr wrap="square" rtlCol="0" anchor="ctr"/>
          <a:lstStyle/>
          <a:p>
            <a:pPr marL="0" indent="0">
              <a:buNone/>
            </a:pPr>
            <a:r>
              <a:rPr lang="en-US" sz="1300" dirty="0">
                <a:solidFill>
                  <a:srgbClr val="1E293B"/>
                </a:solidFill>
                <a:latin typeface="Calibri" pitchFamily="34" charset="0"/>
                <a:ea typeface="Calibri" pitchFamily="34" charset="-122"/>
                <a:cs typeface="Calibri" pitchFamily="34" charset="-120"/>
              </a:rPr>
              <a:t>best exact-family (gpt-oss-120b)</a:t>
            </a:r>
            <a:endParaRPr lang="en-US" sz="1300" dirty="0"/>
          </a:p>
        </p:txBody>
      </p:sp>
      <p:sp>
        <p:nvSpPr>
          <p:cNvPr id="10" name="Shape 6"/>
          <p:cNvSpPr/>
          <p:nvPr/>
        </p:nvSpPr>
        <p:spPr>
          <a:xfrm>
            <a:off x="7315200" y="3063240"/>
            <a:ext cx="4297680" cy="1143000"/>
          </a:xfrm>
          <a:prstGeom prst="roundRect">
            <a:avLst>
              <a:gd name="adj" fmla="val 6400"/>
            </a:avLst>
          </a:prstGeom>
          <a:solidFill>
            <a:srgbClr val="FFFFFF"/>
          </a:solidFill>
          <a:ln w="12700">
            <a:solidFill>
              <a:srgbClr val="E2E8F0"/>
            </a:solidFill>
            <a:prstDash val="solid"/>
          </a:ln>
          <a:effectLst>
            <a:outerShdw blurRad="88900" dist="38100" dir="5400000" algn="bl" rotWithShape="0">
              <a:srgbClr val="000000">
                <a:alpha val="14000"/>
              </a:srgbClr>
            </a:outerShdw>
          </a:effectLst>
        </p:spPr>
      </p:sp>
      <p:sp>
        <p:nvSpPr>
          <p:cNvPr id="11" name="Text 7"/>
          <p:cNvSpPr/>
          <p:nvPr/>
        </p:nvSpPr>
        <p:spPr>
          <a:xfrm>
            <a:off x="7498080" y="3172968"/>
            <a:ext cx="1463040" cy="914400"/>
          </a:xfrm>
          <a:prstGeom prst="rect">
            <a:avLst/>
          </a:prstGeom>
          <a:noFill/>
          <a:ln/>
        </p:spPr>
        <p:txBody>
          <a:bodyPr wrap="square" rtlCol="0" anchor="ctr"/>
          <a:lstStyle/>
          <a:p>
            <a:pPr marL="0" indent="0">
              <a:buNone/>
            </a:pPr>
            <a:r>
              <a:rPr lang="en-US" sz="3800" b="1" dirty="0">
                <a:solidFill>
                  <a:srgbClr val="14B8A6"/>
                </a:solidFill>
                <a:latin typeface="Cambria" pitchFamily="34" charset="0"/>
                <a:ea typeface="Cambria" pitchFamily="34" charset="-122"/>
                <a:cs typeface="Cambria" pitchFamily="34" charset="-120"/>
              </a:rPr>
              <a:t>58%</a:t>
            </a:r>
            <a:endParaRPr lang="en-US" sz="3800" dirty="0"/>
          </a:p>
        </p:txBody>
      </p:sp>
      <p:sp>
        <p:nvSpPr>
          <p:cNvPr id="12" name="Text 8"/>
          <p:cNvSpPr/>
          <p:nvPr/>
        </p:nvSpPr>
        <p:spPr>
          <a:xfrm>
            <a:off x="9006840" y="3172968"/>
            <a:ext cx="2468880" cy="914400"/>
          </a:xfrm>
          <a:prstGeom prst="rect">
            <a:avLst/>
          </a:prstGeom>
          <a:noFill/>
          <a:ln/>
        </p:spPr>
        <p:txBody>
          <a:bodyPr wrap="square" rtlCol="0" anchor="ctr"/>
          <a:lstStyle/>
          <a:p>
            <a:pPr marL="0" indent="0">
              <a:buNone/>
            </a:pPr>
            <a:r>
              <a:rPr lang="en-US" sz="1300" dirty="0">
                <a:solidFill>
                  <a:srgbClr val="1E293B"/>
                </a:solidFill>
                <a:latin typeface="Calibri" pitchFamily="34" charset="0"/>
                <a:ea typeface="Calibri" pitchFamily="34" charset="-122"/>
                <a:cs typeface="Calibri" pitchFamily="34" charset="-120"/>
              </a:rPr>
              <a:t>best coarse triage (Claude Sonnet)</a:t>
            </a:r>
            <a:endParaRPr lang="en-US" sz="1300" dirty="0"/>
          </a:p>
        </p:txBody>
      </p:sp>
      <p:sp>
        <p:nvSpPr>
          <p:cNvPr id="13" name="Shape 9"/>
          <p:cNvSpPr/>
          <p:nvPr/>
        </p:nvSpPr>
        <p:spPr>
          <a:xfrm>
            <a:off x="7315200" y="4343400"/>
            <a:ext cx="4297680" cy="1143000"/>
          </a:xfrm>
          <a:prstGeom prst="roundRect">
            <a:avLst>
              <a:gd name="adj" fmla="val 6400"/>
            </a:avLst>
          </a:prstGeom>
          <a:solidFill>
            <a:srgbClr val="FFFFFF"/>
          </a:solidFill>
          <a:ln w="12700">
            <a:solidFill>
              <a:srgbClr val="E2E8F0"/>
            </a:solidFill>
            <a:prstDash val="solid"/>
          </a:ln>
          <a:effectLst>
            <a:outerShdw blurRad="88900" dist="38100" dir="5400000" algn="bl" rotWithShape="0">
              <a:srgbClr val="000000">
                <a:alpha val="14000"/>
              </a:srgbClr>
            </a:outerShdw>
          </a:effectLst>
        </p:spPr>
      </p:sp>
      <p:sp>
        <p:nvSpPr>
          <p:cNvPr id="14" name="Text 10"/>
          <p:cNvSpPr/>
          <p:nvPr/>
        </p:nvSpPr>
        <p:spPr>
          <a:xfrm>
            <a:off x="7498080" y="4453128"/>
            <a:ext cx="1463040" cy="914400"/>
          </a:xfrm>
          <a:prstGeom prst="rect">
            <a:avLst/>
          </a:prstGeom>
          <a:noFill/>
          <a:ln/>
        </p:spPr>
        <p:txBody>
          <a:bodyPr wrap="square" rtlCol="0" anchor="ctr"/>
          <a:lstStyle/>
          <a:p>
            <a:pPr marL="0" indent="0">
              <a:buNone/>
            </a:pPr>
            <a:r>
              <a:rPr lang="en-US" sz="3800" b="1" dirty="0">
                <a:solidFill>
                  <a:srgbClr val="F59E0B"/>
                </a:solidFill>
                <a:latin typeface="Cambria" pitchFamily="34" charset="0"/>
                <a:ea typeface="Cambria" pitchFamily="34" charset="-122"/>
                <a:cs typeface="Cambria" pitchFamily="34" charset="-120"/>
              </a:rPr>
              <a:t>25%</a:t>
            </a:r>
            <a:endParaRPr lang="en-US" sz="3800" dirty="0"/>
          </a:p>
        </p:txBody>
      </p:sp>
      <p:sp>
        <p:nvSpPr>
          <p:cNvPr id="15" name="Text 11"/>
          <p:cNvSpPr/>
          <p:nvPr/>
        </p:nvSpPr>
        <p:spPr>
          <a:xfrm>
            <a:off x="9006840" y="4453128"/>
            <a:ext cx="2468880" cy="914400"/>
          </a:xfrm>
          <a:prstGeom prst="rect">
            <a:avLst/>
          </a:prstGeom>
          <a:noFill/>
          <a:ln/>
        </p:spPr>
        <p:txBody>
          <a:bodyPr wrap="square" rtlCol="0" anchor="ctr"/>
          <a:lstStyle/>
          <a:p>
            <a:pPr marL="0" indent="0">
              <a:buNone/>
            </a:pPr>
            <a:r>
              <a:rPr lang="en-US" sz="1300" dirty="0">
                <a:solidFill>
                  <a:srgbClr val="1E293B"/>
                </a:solidFill>
                <a:latin typeface="Calibri" pitchFamily="34" charset="0"/>
                <a:ea typeface="Calibri" pitchFamily="34" charset="-122"/>
                <a:cs typeface="Calibri" pitchFamily="34" charset="-120"/>
              </a:rPr>
              <a:t>fallback LLM-judge pass rate</a:t>
            </a:r>
            <a:endParaRPr lang="en-US" sz="1300" dirty="0"/>
          </a:p>
        </p:txBody>
      </p:sp>
      <p:sp>
        <p:nvSpPr>
          <p:cNvPr id="16" name="Text 12"/>
          <p:cNvSpPr/>
          <p:nvPr/>
        </p:nvSpPr>
        <p:spPr>
          <a:xfrm>
            <a:off x="7315200" y="5623560"/>
            <a:ext cx="4297680" cy="640080"/>
          </a:xfrm>
          <a:prstGeom prst="rect">
            <a:avLst/>
          </a:prstGeom>
          <a:noFill/>
          <a:ln/>
        </p:spPr>
        <p:txBody>
          <a:bodyPr wrap="square"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Cross-LLM finding: gpt-oss is better at the exact family; Claude is better at the broad triage group.</a:t>
            </a:r>
            <a:endParaRPr lang="en-US" sz="1200" dirty="0"/>
          </a:p>
        </p:txBody>
      </p:sp>
      <p:sp>
        <p:nvSpPr>
          <p:cNvPr id="17" name="Text 13"/>
          <p:cNvSpPr/>
          <p:nvPr/>
        </p:nvSpPr>
        <p:spPr>
          <a:xfrm>
            <a:off x="11365992" y="6400800"/>
            <a:ext cx="457200" cy="274320"/>
          </a:xfrm>
          <a:prstGeom prst="rect">
            <a:avLst/>
          </a:prstGeom>
          <a:noFill/>
          <a:ln/>
        </p:spPr>
        <p:txBody>
          <a:bodyPr wrap="square"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15</a:t>
            </a:r>
            <a:endParaRPr lang="en-US" sz="1000" dirty="0"/>
          </a:p>
        </p:txBody>
      </p:sp>
      <p:sp>
        <p:nvSpPr>
          <p:cNvPr id="18" name="Text 14"/>
          <p:cNvSpPr/>
          <p:nvPr/>
        </p:nvSpPr>
        <p:spPr>
          <a:xfrm>
            <a:off x="566928" y="6400800"/>
            <a:ext cx="3657600" cy="274320"/>
          </a:xfrm>
          <a:prstGeom prst="rect">
            <a:avLst/>
          </a:prstGeom>
          <a:noFill/>
          <a:ln/>
        </p:spPr>
        <p:txBody>
          <a:bodyPr wrap="square" rtlCol="0" anchor="ctr"/>
          <a:lstStyle/>
          <a:p>
            <a:pPr marL="0" indent="0" algn="l">
              <a:buNone/>
            </a:pPr>
            <a:r>
              <a:rPr lang="en-US" sz="1000" dirty="0">
                <a:solidFill>
                  <a:srgbClr val="64748B"/>
                </a:solidFill>
                <a:latin typeface="Calibri" pitchFamily="34" charset="0"/>
                <a:ea typeface="Calibri" pitchFamily="34" charset="-122"/>
                <a:cs typeface="Calibri" pitchFamily="34" charset="-120"/>
              </a:rPr>
              <a:t>SentinelMesh</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57200"/>
            <a:ext cx="566928" cy="566928"/>
          </a:xfrm>
          <a:prstGeom prst="ellipse">
            <a:avLst/>
          </a:prstGeom>
          <a:solidFill>
            <a:srgbClr val="0E1726"/>
          </a:solidFill>
          <a:ln/>
        </p:spPr>
      </p:sp>
      <p:pic>
        <p:nvPicPr>
          <p:cNvPr id="3" name="Image 0" descr="preencoded.png"/>
          <p:cNvPicPr>
            <a:picLocks noChangeAspect="1"/>
          </p:cNvPicPr>
          <p:nvPr/>
        </p:nvPicPr>
        <p:blipFill>
          <a:blip r:embed="rId3"/>
          <a:stretch>
            <a:fillRect/>
          </a:stretch>
        </p:blipFill>
        <p:spPr>
          <a:xfrm>
            <a:off x="704088" y="594360"/>
            <a:ext cx="292608" cy="292608"/>
          </a:xfrm>
          <a:prstGeom prst="rect">
            <a:avLst/>
          </a:prstGeom>
        </p:spPr>
      </p:pic>
      <p:sp>
        <p:nvSpPr>
          <p:cNvPr id="4" name="Text 1"/>
          <p:cNvSpPr/>
          <p:nvPr/>
        </p:nvSpPr>
        <p:spPr>
          <a:xfrm>
            <a:off x="1298448" y="457200"/>
            <a:ext cx="9144000" cy="274320"/>
          </a:xfrm>
          <a:prstGeom prst="rect">
            <a:avLst/>
          </a:prstGeom>
          <a:noFill/>
          <a:ln/>
        </p:spPr>
        <p:txBody>
          <a:bodyPr wrap="square" rtlCol="0" anchor="ctr"/>
          <a:lstStyle/>
          <a:p>
            <a:pPr marL="0" indent="0">
              <a:buNone/>
            </a:pPr>
            <a:r>
              <a:rPr lang="en-US" sz="1200" b="1" kern="0" spc="300" dirty="0">
                <a:solidFill>
                  <a:srgbClr val="0E7490"/>
                </a:solidFill>
                <a:latin typeface="Calibri" pitchFamily="34" charset="0"/>
                <a:ea typeface="Calibri" pitchFamily="34" charset="-122"/>
                <a:cs typeface="Calibri" pitchFamily="34" charset="-120"/>
              </a:rPr>
              <a:t>INTERPRETATION</a:t>
            </a:r>
            <a:endParaRPr lang="en-US" sz="1200" dirty="0"/>
          </a:p>
        </p:txBody>
      </p:sp>
      <p:sp>
        <p:nvSpPr>
          <p:cNvPr id="5" name="Text 2"/>
          <p:cNvSpPr/>
          <p:nvPr/>
        </p:nvSpPr>
        <p:spPr>
          <a:xfrm>
            <a:off x="1298448" y="694944"/>
            <a:ext cx="10341864" cy="502920"/>
          </a:xfrm>
          <a:prstGeom prst="rect">
            <a:avLst/>
          </a:prstGeom>
          <a:noFill/>
          <a:ln/>
        </p:spPr>
        <p:txBody>
          <a:bodyPr wrap="square" rtlCol="0" anchor="ctr"/>
          <a:lstStyle/>
          <a:p>
            <a:pPr marL="0" indent="0">
              <a:buNone/>
            </a:pPr>
            <a:r>
              <a:rPr lang="en-US" sz="2800" b="1" dirty="0">
                <a:solidFill>
                  <a:srgbClr val="1E293B"/>
                </a:solidFill>
                <a:latin typeface="Cambria" pitchFamily="34" charset="0"/>
                <a:ea typeface="Cambria" pitchFamily="34" charset="-122"/>
                <a:cs typeface="Cambria" pitchFamily="34" charset="-120"/>
              </a:rPr>
              <a:t>What the accuracy actually means</a:t>
            </a:r>
            <a:endParaRPr lang="en-US" sz="2800" dirty="0"/>
          </a:p>
        </p:txBody>
      </p:sp>
      <p:sp>
        <p:nvSpPr>
          <p:cNvPr id="6" name="Shape 3"/>
          <p:cNvSpPr/>
          <p:nvPr/>
        </p:nvSpPr>
        <p:spPr>
          <a:xfrm>
            <a:off x="566928" y="1691640"/>
            <a:ext cx="5669280" cy="3886200"/>
          </a:xfrm>
          <a:prstGeom prst="roundRect">
            <a:avLst>
              <a:gd name="adj" fmla="val 1882"/>
            </a:avLst>
          </a:prstGeom>
          <a:solidFill>
            <a:srgbClr val="0E1726"/>
          </a:solidFill>
          <a:ln w="12700">
            <a:solidFill>
              <a:srgbClr val="E2E8F0"/>
            </a:solidFill>
            <a:prstDash val="solid"/>
          </a:ln>
          <a:effectLst>
            <a:outerShdw blurRad="88900" dist="38100" dir="5400000" algn="bl" rotWithShape="0">
              <a:srgbClr val="000000">
                <a:alpha val="14000"/>
              </a:srgbClr>
            </a:outerShdw>
          </a:effectLst>
        </p:spPr>
      </p:sp>
      <p:sp>
        <p:nvSpPr>
          <p:cNvPr id="7" name="Text 4"/>
          <p:cNvSpPr/>
          <p:nvPr/>
        </p:nvSpPr>
        <p:spPr>
          <a:xfrm>
            <a:off x="841248" y="1920240"/>
            <a:ext cx="5120640" cy="731520"/>
          </a:xfrm>
          <a:prstGeom prst="rect">
            <a:avLst/>
          </a:prstGeom>
          <a:noFill/>
          <a:ln/>
        </p:spPr>
        <p:txBody>
          <a:bodyPr wrap="square"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The bottleneck is the input, not the model.</a:t>
            </a:r>
            <a:endParaRPr lang="en-US" sz="2000" dirty="0"/>
          </a:p>
        </p:txBody>
      </p:sp>
      <p:sp>
        <p:nvSpPr>
          <p:cNvPr id="8" name="Text 5"/>
          <p:cNvSpPr/>
          <p:nvPr/>
        </p:nvSpPr>
        <p:spPr>
          <a:xfrm>
            <a:off x="841248" y="2697480"/>
            <a:ext cx="5212080" cy="2743200"/>
          </a:xfrm>
          <a:prstGeom prst="rect">
            <a:avLst/>
          </a:prstGeom>
          <a:noFill/>
          <a:ln/>
        </p:spPr>
        <p:txBody>
          <a:bodyPr wrap="square" rtlCol="0" anchor="t"/>
          <a:lstStyle/>
          <a:p>
            <a:pPr marL="0" indent="0">
              <a:lnSpc>
                <a:spcPct val="112000"/>
              </a:lnSpc>
              <a:buNone/>
            </a:pPr>
            <a:r>
              <a:rPr lang="en-US" sz="1350" dirty="0">
                <a:solidFill>
                  <a:srgbClr val="CBE7F2"/>
                </a:solidFill>
                <a:latin typeface="Calibri" pitchFamily="34" charset="0"/>
                <a:ea typeface="Calibri" pitchFamily="34" charset="-122"/>
                <a:cs typeface="Calibri" pitchFamily="34" charset="-120"/>
              </a:rPr>
              <a:t>A one-line flow summary lets the agent say “this is a flood,” but not which flood.</a:t>
            </a:r>
            <a:endParaRPr lang="en-US" sz="1350" dirty="0"/>
          </a:p>
          <a:p>
            <a:pPr marL="0" indent="0">
              <a:lnSpc>
                <a:spcPct val="112000"/>
              </a:lnSpc>
              <a:buNone/>
            </a:pPr>
            <a:endParaRPr lang="en-US" sz="1350" dirty="0"/>
          </a:p>
          <a:p>
            <a:pPr marL="0" indent="0">
              <a:lnSpc>
                <a:spcPct val="112000"/>
              </a:lnSpc>
              <a:buNone/>
            </a:pPr>
            <a:r>
              <a:rPr lang="en-US" sz="1350" dirty="0">
                <a:solidFill>
                  <a:srgbClr val="CBE7F2"/>
                </a:solidFill>
                <a:latin typeface="Calibri" pitchFamily="34" charset="0"/>
                <a:ea typeface="Calibri" pitchFamily="34" charset="-122"/>
                <a:cs typeface="Calibri" pitchFamily="34" charset="-120"/>
              </a:rPr>
              <a:t>DDoS, DoS, and Mirai are near-identical at the flow level; recon and benign both look like quiet traffic.</a:t>
            </a:r>
            <a:endParaRPr lang="en-US" sz="1350" dirty="0"/>
          </a:p>
          <a:p>
            <a:pPr marL="0" indent="0">
              <a:lnSpc>
                <a:spcPct val="112000"/>
              </a:lnSpc>
              <a:buNone/>
            </a:pPr>
            <a:endParaRPr lang="en-US" sz="1350" dirty="0"/>
          </a:p>
          <a:p>
            <a:pPr marL="0" indent="0">
              <a:lnSpc>
                <a:spcPct val="112000"/>
              </a:lnSpc>
              <a:buNone/>
            </a:pPr>
            <a:r>
              <a:rPr lang="en-US" sz="1350" dirty="0">
                <a:solidFill>
                  <a:srgbClr val="E2E8F0"/>
                </a:solidFill>
                <a:latin typeface="Calibri" pitchFamily="34" charset="0"/>
                <a:ea typeface="Calibri" pitchFamily="34" charset="-122"/>
                <a:cs typeface="Calibri" pitchFamily="34" charset="-120"/>
              </a:rPr>
              <a:t>Exact 10-way classification is genuinely hard from flow statistics alone — so exact accuracy is low while coarse triage stays useful.</a:t>
            </a:r>
            <a:endParaRPr lang="en-US" sz="1350" dirty="0"/>
          </a:p>
        </p:txBody>
      </p:sp>
      <p:sp>
        <p:nvSpPr>
          <p:cNvPr id="9" name="Shape 6"/>
          <p:cNvSpPr/>
          <p:nvPr/>
        </p:nvSpPr>
        <p:spPr>
          <a:xfrm>
            <a:off x="6629400" y="1691640"/>
            <a:ext cx="4983480" cy="1207008"/>
          </a:xfrm>
          <a:prstGeom prst="roundRect">
            <a:avLst>
              <a:gd name="adj" fmla="val 6061"/>
            </a:avLst>
          </a:prstGeom>
          <a:solidFill>
            <a:srgbClr val="FFFFFF"/>
          </a:solidFill>
          <a:ln w="12700">
            <a:solidFill>
              <a:srgbClr val="E2E8F0"/>
            </a:solidFill>
            <a:prstDash val="solid"/>
          </a:ln>
          <a:effectLst>
            <a:outerShdw blurRad="88900" dist="38100" dir="5400000" algn="bl" rotWithShape="0">
              <a:srgbClr val="000000">
                <a:alpha val="14000"/>
              </a:srgbClr>
            </a:outerShdw>
          </a:effectLst>
        </p:spPr>
      </p:sp>
      <p:sp>
        <p:nvSpPr>
          <p:cNvPr id="10" name="Shape 7"/>
          <p:cNvSpPr/>
          <p:nvPr/>
        </p:nvSpPr>
        <p:spPr>
          <a:xfrm>
            <a:off x="6812280" y="2020824"/>
            <a:ext cx="530352" cy="530352"/>
          </a:xfrm>
          <a:prstGeom prst="ellipse">
            <a:avLst/>
          </a:prstGeom>
          <a:solidFill>
            <a:srgbClr val="0E1726"/>
          </a:solidFill>
          <a:ln/>
        </p:spPr>
      </p:sp>
      <p:pic>
        <p:nvPicPr>
          <p:cNvPr id="11" name="Image 1" descr="preencoded.png"/>
          <p:cNvPicPr>
            <a:picLocks noChangeAspect="1"/>
          </p:cNvPicPr>
          <p:nvPr/>
        </p:nvPicPr>
        <p:blipFill>
          <a:blip r:embed="rId4"/>
          <a:stretch>
            <a:fillRect/>
          </a:stretch>
        </p:blipFill>
        <p:spPr>
          <a:xfrm>
            <a:off x="6940296" y="2148840"/>
            <a:ext cx="274320" cy="274320"/>
          </a:xfrm>
          <a:prstGeom prst="rect">
            <a:avLst/>
          </a:prstGeom>
        </p:spPr>
      </p:pic>
      <p:sp>
        <p:nvSpPr>
          <p:cNvPr id="12" name="Text 8"/>
          <p:cNvSpPr/>
          <p:nvPr/>
        </p:nvSpPr>
        <p:spPr>
          <a:xfrm>
            <a:off x="7498080" y="1837944"/>
            <a:ext cx="4023360" cy="329184"/>
          </a:xfrm>
          <a:prstGeom prst="rect">
            <a:avLst/>
          </a:prstGeom>
          <a:noFill/>
          <a:ln/>
        </p:spPr>
        <p:txBody>
          <a:bodyPr wrap="square" rtlCol="0" anchor="ctr"/>
          <a:lstStyle/>
          <a:p>
            <a:pPr marL="0" indent="0">
              <a:buNone/>
            </a:pPr>
            <a:r>
              <a:rPr lang="en-US" sz="1450" b="1" dirty="0">
                <a:solidFill>
                  <a:srgbClr val="0E7490"/>
                </a:solidFill>
                <a:latin typeface="Cambria" pitchFamily="34" charset="0"/>
                <a:ea typeface="Cambria" pitchFamily="34" charset="-122"/>
                <a:cs typeface="Cambria" pitchFamily="34" charset="-120"/>
              </a:rPr>
              <a:t>Coarse triage is the win</a:t>
            </a:r>
            <a:endParaRPr lang="en-US" sz="1450" dirty="0"/>
          </a:p>
        </p:txBody>
      </p:sp>
      <p:sp>
        <p:nvSpPr>
          <p:cNvPr id="13" name="Text 9"/>
          <p:cNvSpPr/>
          <p:nvPr/>
        </p:nvSpPr>
        <p:spPr>
          <a:xfrm>
            <a:off x="7498080" y="2167128"/>
            <a:ext cx="4023360" cy="640080"/>
          </a:xfrm>
          <a:prstGeom prst="rect">
            <a:avLst/>
          </a:prstGeom>
          <a:noFill/>
          <a:ln/>
        </p:spPr>
        <p:txBody>
          <a:bodyPr wrap="square" rtlCol="0" anchor="t"/>
          <a:lstStyle/>
          <a:p>
            <a:pPr marL="0" indent="0">
              <a:buNone/>
            </a:pPr>
            <a:r>
              <a:rPr lang="en-US" sz="1200" dirty="0">
                <a:solidFill>
                  <a:srgbClr val="1E293B"/>
                </a:solidFill>
                <a:latin typeface="Calibri" pitchFamily="34" charset="0"/>
                <a:ea typeface="Calibri" pitchFamily="34" charset="-122"/>
                <a:cs typeface="Calibri" pitchFamily="34" charset="-120"/>
              </a:rPr>
              <a:t>58% correct operational group is useful for routing and prioritization today.</a:t>
            </a:r>
            <a:endParaRPr lang="en-US" sz="1200" dirty="0"/>
          </a:p>
        </p:txBody>
      </p:sp>
      <p:sp>
        <p:nvSpPr>
          <p:cNvPr id="14" name="Shape 10"/>
          <p:cNvSpPr/>
          <p:nvPr/>
        </p:nvSpPr>
        <p:spPr>
          <a:xfrm>
            <a:off x="6629400" y="2999232"/>
            <a:ext cx="4983480" cy="1207008"/>
          </a:xfrm>
          <a:prstGeom prst="roundRect">
            <a:avLst>
              <a:gd name="adj" fmla="val 6061"/>
            </a:avLst>
          </a:prstGeom>
          <a:solidFill>
            <a:srgbClr val="FFFFFF"/>
          </a:solidFill>
          <a:ln w="12700">
            <a:solidFill>
              <a:srgbClr val="E2E8F0"/>
            </a:solidFill>
            <a:prstDash val="solid"/>
          </a:ln>
          <a:effectLst>
            <a:outerShdw blurRad="88900" dist="38100" dir="5400000" algn="bl" rotWithShape="0">
              <a:srgbClr val="000000">
                <a:alpha val="14000"/>
              </a:srgbClr>
            </a:outerShdw>
          </a:effectLst>
        </p:spPr>
      </p:sp>
      <p:sp>
        <p:nvSpPr>
          <p:cNvPr id="15" name="Shape 11"/>
          <p:cNvSpPr/>
          <p:nvPr/>
        </p:nvSpPr>
        <p:spPr>
          <a:xfrm>
            <a:off x="6812280" y="3328416"/>
            <a:ext cx="530352" cy="530352"/>
          </a:xfrm>
          <a:prstGeom prst="ellipse">
            <a:avLst/>
          </a:prstGeom>
          <a:solidFill>
            <a:srgbClr val="0E1726"/>
          </a:solidFill>
          <a:ln/>
        </p:spPr>
      </p:sp>
      <p:pic>
        <p:nvPicPr>
          <p:cNvPr id="16" name="Image 2" descr="preencoded.png"/>
          <p:cNvPicPr>
            <a:picLocks noChangeAspect="1"/>
          </p:cNvPicPr>
          <p:nvPr/>
        </p:nvPicPr>
        <p:blipFill>
          <a:blip r:embed="rId5"/>
          <a:stretch>
            <a:fillRect/>
          </a:stretch>
        </p:blipFill>
        <p:spPr>
          <a:xfrm>
            <a:off x="6940296" y="3456432"/>
            <a:ext cx="274320" cy="274320"/>
          </a:xfrm>
          <a:prstGeom prst="rect">
            <a:avLst/>
          </a:prstGeom>
        </p:spPr>
      </p:pic>
      <p:sp>
        <p:nvSpPr>
          <p:cNvPr id="17" name="Text 12"/>
          <p:cNvSpPr/>
          <p:nvPr/>
        </p:nvSpPr>
        <p:spPr>
          <a:xfrm>
            <a:off x="7498080" y="3145536"/>
            <a:ext cx="4023360" cy="329184"/>
          </a:xfrm>
          <a:prstGeom prst="rect">
            <a:avLst/>
          </a:prstGeom>
          <a:noFill/>
          <a:ln/>
        </p:spPr>
        <p:txBody>
          <a:bodyPr wrap="square" rtlCol="0" anchor="ctr"/>
          <a:lstStyle/>
          <a:p>
            <a:pPr marL="0" indent="0">
              <a:buNone/>
            </a:pPr>
            <a:r>
              <a:rPr lang="en-US" sz="1450" b="1" dirty="0">
                <a:solidFill>
                  <a:srgbClr val="0E7490"/>
                </a:solidFill>
                <a:latin typeface="Cambria" pitchFamily="34" charset="0"/>
                <a:ea typeface="Cambria" pitchFamily="34" charset="-122"/>
                <a:cs typeface="Cambria" pitchFamily="34" charset="-120"/>
              </a:rPr>
              <a:t>Exact family is advisory</a:t>
            </a:r>
            <a:endParaRPr lang="en-US" sz="1450" dirty="0"/>
          </a:p>
        </p:txBody>
      </p:sp>
      <p:sp>
        <p:nvSpPr>
          <p:cNvPr id="18" name="Text 13"/>
          <p:cNvSpPr/>
          <p:nvPr/>
        </p:nvSpPr>
        <p:spPr>
          <a:xfrm>
            <a:off x="7498080" y="3474720"/>
            <a:ext cx="4023360" cy="640080"/>
          </a:xfrm>
          <a:prstGeom prst="rect">
            <a:avLst/>
          </a:prstGeom>
          <a:noFill/>
          <a:ln/>
        </p:spPr>
        <p:txBody>
          <a:bodyPr wrap="square" rtlCol="0" anchor="t"/>
          <a:lstStyle/>
          <a:p>
            <a:pPr marL="0" indent="0">
              <a:buNone/>
            </a:pPr>
            <a:r>
              <a:rPr lang="en-US" sz="1200" dirty="0">
                <a:solidFill>
                  <a:srgbClr val="1E293B"/>
                </a:solidFill>
                <a:latin typeface="Calibri" pitchFamily="34" charset="0"/>
                <a:ea typeface="Calibri" pitchFamily="34" charset="-122"/>
                <a:cs typeface="Calibri" pitchFamily="34" charset="-120"/>
              </a:rPr>
              <a:t>Treat the precise label as a hint pending a grounding tool.</a:t>
            </a:r>
            <a:endParaRPr lang="en-US" sz="1200" dirty="0"/>
          </a:p>
        </p:txBody>
      </p:sp>
      <p:sp>
        <p:nvSpPr>
          <p:cNvPr id="19" name="Shape 14"/>
          <p:cNvSpPr/>
          <p:nvPr/>
        </p:nvSpPr>
        <p:spPr>
          <a:xfrm>
            <a:off x="6629400" y="4306824"/>
            <a:ext cx="4983480" cy="1207008"/>
          </a:xfrm>
          <a:prstGeom prst="roundRect">
            <a:avLst>
              <a:gd name="adj" fmla="val 6061"/>
            </a:avLst>
          </a:prstGeom>
          <a:solidFill>
            <a:srgbClr val="FFFFFF"/>
          </a:solidFill>
          <a:ln w="12700">
            <a:solidFill>
              <a:srgbClr val="E2E8F0"/>
            </a:solidFill>
            <a:prstDash val="solid"/>
          </a:ln>
          <a:effectLst>
            <a:outerShdw blurRad="88900" dist="38100" dir="5400000" algn="bl" rotWithShape="0">
              <a:srgbClr val="000000">
                <a:alpha val="14000"/>
              </a:srgbClr>
            </a:outerShdw>
          </a:effectLst>
        </p:spPr>
      </p:sp>
      <p:sp>
        <p:nvSpPr>
          <p:cNvPr id="20" name="Shape 15"/>
          <p:cNvSpPr/>
          <p:nvPr/>
        </p:nvSpPr>
        <p:spPr>
          <a:xfrm>
            <a:off x="6812280" y="4636008"/>
            <a:ext cx="530352" cy="530352"/>
          </a:xfrm>
          <a:prstGeom prst="ellipse">
            <a:avLst/>
          </a:prstGeom>
          <a:solidFill>
            <a:srgbClr val="0E1726"/>
          </a:solidFill>
          <a:ln/>
        </p:spPr>
      </p:sp>
      <p:pic>
        <p:nvPicPr>
          <p:cNvPr id="21" name="Image 3" descr="preencoded.png"/>
          <p:cNvPicPr>
            <a:picLocks noChangeAspect="1"/>
          </p:cNvPicPr>
          <p:nvPr/>
        </p:nvPicPr>
        <p:blipFill>
          <a:blip r:embed="rId6"/>
          <a:stretch>
            <a:fillRect/>
          </a:stretch>
        </p:blipFill>
        <p:spPr>
          <a:xfrm>
            <a:off x="6940296" y="4764024"/>
            <a:ext cx="274320" cy="274320"/>
          </a:xfrm>
          <a:prstGeom prst="rect">
            <a:avLst/>
          </a:prstGeom>
        </p:spPr>
      </p:pic>
      <p:sp>
        <p:nvSpPr>
          <p:cNvPr id="22" name="Text 16"/>
          <p:cNvSpPr/>
          <p:nvPr/>
        </p:nvSpPr>
        <p:spPr>
          <a:xfrm>
            <a:off x="7498080" y="4453128"/>
            <a:ext cx="4023360" cy="329184"/>
          </a:xfrm>
          <a:prstGeom prst="rect">
            <a:avLst/>
          </a:prstGeom>
          <a:noFill/>
          <a:ln/>
        </p:spPr>
        <p:txBody>
          <a:bodyPr wrap="square" rtlCol="0" anchor="ctr"/>
          <a:lstStyle/>
          <a:p>
            <a:pPr marL="0" indent="0">
              <a:buNone/>
            </a:pPr>
            <a:r>
              <a:rPr lang="en-US" sz="1450" b="1" dirty="0">
                <a:solidFill>
                  <a:srgbClr val="0E7490"/>
                </a:solidFill>
                <a:latin typeface="Cambria" pitchFamily="34" charset="0"/>
                <a:ea typeface="Cambria" pitchFamily="34" charset="-122"/>
                <a:cs typeface="Cambria" pitchFamily="34" charset="-120"/>
              </a:rPr>
              <a:t>Honest, not inflated</a:t>
            </a:r>
            <a:endParaRPr lang="en-US" sz="1450" dirty="0"/>
          </a:p>
        </p:txBody>
      </p:sp>
      <p:sp>
        <p:nvSpPr>
          <p:cNvPr id="23" name="Text 17"/>
          <p:cNvSpPr/>
          <p:nvPr/>
        </p:nvSpPr>
        <p:spPr>
          <a:xfrm>
            <a:off x="7498080" y="4782312"/>
            <a:ext cx="4023360" cy="640080"/>
          </a:xfrm>
          <a:prstGeom prst="rect">
            <a:avLst/>
          </a:prstGeom>
          <a:noFill/>
          <a:ln/>
        </p:spPr>
        <p:txBody>
          <a:bodyPr wrap="square" rtlCol="0" anchor="t"/>
          <a:lstStyle/>
          <a:p>
            <a:pPr marL="0" indent="0">
              <a:buNone/>
            </a:pPr>
            <a:r>
              <a:rPr lang="en-US" sz="1200" dirty="0">
                <a:solidFill>
                  <a:srgbClr val="1E293B"/>
                </a:solidFill>
                <a:latin typeface="Calibri" pitchFamily="34" charset="0"/>
                <a:ea typeface="Calibri" pitchFamily="34" charset="-122"/>
                <a:cs typeface="Calibri" pitchFamily="34" charset="-120"/>
              </a:rPr>
              <a:t>We fixed a substring-matching bug that had overstated accuracy.</a:t>
            </a:r>
            <a:endParaRPr lang="en-US" sz="1200" dirty="0"/>
          </a:p>
        </p:txBody>
      </p:sp>
      <p:sp>
        <p:nvSpPr>
          <p:cNvPr id="24" name="Text 18"/>
          <p:cNvSpPr/>
          <p:nvPr/>
        </p:nvSpPr>
        <p:spPr>
          <a:xfrm>
            <a:off x="11365992" y="6400800"/>
            <a:ext cx="457200" cy="274320"/>
          </a:xfrm>
          <a:prstGeom prst="rect">
            <a:avLst/>
          </a:prstGeom>
          <a:noFill/>
          <a:ln/>
        </p:spPr>
        <p:txBody>
          <a:bodyPr wrap="square"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16</a:t>
            </a:r>
            <a:endParaRPr lang="en-US" sz="1000" dirty="0"/>
          </a:p>
        </p:txBody>
      </p:sp>
      <p:sp>
        <p:nvSpPr>
          <p:cNvPr id="25" name="Text 19"/>
          <p:cNvSpPr/>
          <p:nvPr/>
        </p:nvSpPr>
        <p:spPr>
          <a:xfrm>
            <a:off x="566928" y="6400800"/>
            <a:ext cx="3657600" cy="274320"/>
          </a:xfrm>
          <a:prstGeom prst="rect">
            <a:avLst/>
          </a:prstGeom>
          <a:noFill/>
          <a:ln/>
        </p:spPr>
        <p:txBody>
          <a:bodyPr wrap="square" rtlCol="0" anchor="ctr"/>
          <a:lstStyle/>
          <a:p>
            <a:pPr marL="0" indent="0" algn="l">
              <a:buNone/>
            </a:pPr>
            <a:r>
              <a:rPr lang="en-US" sz="1000" dirty="0">
                <a:solidFill>
                  <a:srgbClr val="64748B"/>
                </a:solidFill>
                <a:latin typeface="Calibri" pitchFamily="34" charset="0"/>
                <a:ea typeface="Calibri" pitchFamily="34" charset="-122"/>
                <a:cs typeface="Calibri" pitchFamily="34" charset="-120"/>
              </a:rPr>
              <a:t>SentinelMesh</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57200"/>
            <a:ext cx="566928" cy="566928"/>
          </a:xfrm>
          <a:prstGeom prst="ellipse">
            <a:avLst/>
          </a:prstGeom>
          <a:solidFill>
            <a:srgbClr val="0E1726"/>
          </a:solidFill>
          <a:ln/>
        </p:spPr>
      </p:sp>
      <p:pic>
        <p:nvPicPr>
          <p:cNvPr id="3" name="Image 0" descr="preencoded.png"/>
          <p:cNvPicPr>
            <a:picLocks noChangeAspect="1"/>
          </p:cNvPicPr>
          <p:nvPr/>
        </p:nvPicPr>
        <p:blipFill>
          <a:blip r:embed="rId3"/>
          <a:stretch>
            <a:fillRect/>
          </a:stretch>
        </p:blipFill>
        <p:spPr>
          <a:xfrm>
            <a:off x="704088" y="594360"/>
            <a:ext cx="292608" cy="292608"/>
          </a:xfrm>
          <a:prstGeom prst="rect">
            <a:avLst/>
          </a:prstGeom>
        </p:spPr>
      </p:pic>
      <p:sp>
        <p:nvSpPr>
          <p:cNvPr id="4" name="Text 1"/>
          <p:cNvSpPr/>
          <p:nvPr/>
        </p:nvSpPr>
        <p:spPr>
          <a:xfrm>
            <a:off x="1298448" y="457200"/>
            <a:ext cx="9144000" cy="274320"/>
          </a:xfrm>
          <a:prstGeom prst="rect">
            <a:avLst/>
          </a:prstGeom>
          <a:noFill/>
          <a:ln/>
        </p:spPr>
        <p:txBody>
          <a:bodyPr wrap="square" rtlCol="0" anchor="ctr"/>
          <a:lstStyle/>
          <a:p>
            <a:pPr marL="0" indent="0">
              <a:buNone/>
            </a:pPr>
            <a:r>
              <a:rPr lang="en-US" sz="1200" b="1" kern="0" spc="300" dirty="0">
                <a:solidFill>
                  <a:srgbClr val="0E7490"/>
                </a:solidFill>
                <a:latin typeface="Calibri" pitchFamily="34" charset="0"/>
                <a:ea typeface="Calibri" pitchFamily="34" charset="-122"/>
                <a:cs typeface="Calibri" pitchFamily="34" charset="-120"/>
              </a:rPr>
              <a:t>BUSINESS VALUE</a:t>
            </a:r>
            <a:endParaRPr lang="en-US" sz="1200" dirty="0"/>
          </a:p>
        </p:txBody>
      </p:sp>
      <p:sp>
        <p:nvSpPr>
          <p:cNvPr id="5" name="Text 2"/>
          <p:cNvSpPr/>
          <p:nvPr/>
        </p:nvSpPr>
        <p:spPr>
          <a:xfrm>
            <a:off x="1298448" y="694944"/>
            <a:ext cx="10341864" cy="502920"/>
          </a:xfrm>
          <a:prstGeom prst="rect">
            <a:avLst/>
          </a:prstGeom>
          <a:noFill/>
          <a:ln/>
        </p:spPr>
        <p:txBody>
          <a:bodyPr wrap="square" rtlCol="0" anchor="ctr"/>
          <a:lstStyle/>
          <a:p>
            <a:pPr marL="0" indent="0">
              <a:buNone/>
            </a:pPr>
            <a:r>
              <a:rPr lang="en-US" sz="2800" b="1" dirty="0">
                <a:solidFill>
                  <a:srgbClr val="1E293B"/>
                </a:solidFill>
                <a:latin typeface="Cambria" pitchFamily="34" charset="0"/>
                <a:ea typeface="Cambria" pitchFamily="34" charset="-122"/>
                <a:cs typeface="Cambria" pitchFamily="34" charset="-120"/>
              </a:rPr>
              <a:t>ROI: cost vs. effectiveness</a:t>
            </a:r>
            <a:endParaRPr lang="en-US" sz="2800" dirty="0"/>
          </a:p>
        </p:txBody>
      </p:sp>
      <p:sp>
        <p:nvSpPr>
          <p:cNvPr id="6" name="Text 3"/>
          <p:cNvSpPr/>
          <p:nvPr/>
        </p:nvSpPr>
        <p:spPr>
          <a:xfrm>
            <a:off x="566928" y="1463040"/>
            <a:ext cx="11055096" cy="548640"/>
          </a:xfrm>
          <a:prstGeom prst="rect">
            <a:avLst/>
          </a:prstGeom>
          <a:noFill/>
          <a:ln/>
        </p:spPr>
        <p:txBody>
          <a:bodyPr wrap="square"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Illustrative ROI model using assumed inference costs and analyst labor savings. Assumes 10,000 alerts/month, ~2,000 tokens each, and $8.33 of analyst time saved per correctly triaged alert.</a:t>
            </a:r>
            <a:endParaRPr lang="en-US" sz="12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66928" y="2148840"/>
          <a:ext cx="11055096" cy="1874520"/>
        </p:xfrm>
        <a:graphic>
          <a:graphicData uri="http://schemas.openxmlformats.org/drawingml/2006/table">
            <a:tbl>
              <a:tblPr/>
              <a:tblGrid>
                <a:gridCol w="274320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2468880">
                  <a:extLst>
                    <a:ext uri="{9D8B030D-6E8A-4147-A177-3AD203B41FA5}">
                      <a16:colId xmlns:a16="http://schemas.microsoft.com/office/drawing/2014/main" val="20003"/>
                    </a:ext>
                  </a:extLst>
                </a:gridCol>
                <a:gridCol w="1636776">
                  <a:extLst>
                    <a:ext uri="{9D8B030D-6E8A-4147-A177-3AD203B41FA5}">
                      <a16:colId xmlns:a16="http://schemas.microsoft.com/office/drawing/2014/main" val="20004"/>
                    </a:ext>
                  </a:extLst>
                </a:gridCol>
              </a:tblGrid>
              <a:tr h="502920">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Model</a:t>
                      </a:r>
                      <a:endParaRPr lang="en-US" sz="1400" dirty="0">
                        <a:latin typeface="Calibri" charset="0"/>
                        <a:ea typeface="Calibri" charset="0"/>
                        <a:cs typeface="Calibri"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E1726"/>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Inference cost / mo</a:t>
                      </a:r>
                      <a:endParaRPr lang="en-US" sz="1400" dirty="0">
                        <a:latin typeface="Calibri" charset="0"/>
                        <a:ea typeface="Calibri" charset="0"/>
                        <a:cs typeface="Calibri"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E1726"/>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Coarse accuracy</a:t>
                      </a:r>
                      <a:endParaRPr lang="en-US" sz="1400" dirty="0">
                        <a:latin typeface="Calibri" charset="0"/>
                        <a:ea typeface="Calibri" charset="0"/>
                        <a:cs typeface="Calibri"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E1726"/>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Value of triage / mo</a:t>
                      </a:r>
                      <a:endParaRPr lang="en-US" sz="1400" dirty="0">
                        <a:latin typeface="Calibri" charset="0"/>
                        <a:ea typeface="Calibri" charset="0"/>
                        <a:cs typeface="Calibri"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E1726"/>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ROI</a:t>
                      </a:r>
                      <a:endParaRPr lang="en-US" sz="1400" dirty="0">
                        <a:latin typeface="Calibri" charset="0"/>
                        <a:ea typeface="Calibri" charset="0"/>
                        <a:cs typeface="Calibri"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E1726"/>
                    </a:solidFill>
                  </a:tcPr>
                </a:tc>
                <a:extLst>
                  <a:ext uri="{0D108BD9-81ED-4DB2-BD59-A6C34878D82A}">
                    <a16:rowId xmlns:a16="http://schemas.microsoft.com/office/drawing/2014/main" val="10000"/>
                  </a:ext>
                </a:extLst>
              </a:tr>
              <a:tr h="548640">
                <a:tc>
                  <a:txBody>
                    <a:bodyPr/>
                    <a:lstStyle/>
                    <a:p>
                      <a:pPr marL="0" indent="0" algn="ctr">
                        <a:buNone/>
                      </a:pPr>
                      <a:r>
                        <a:rPr lang="en-US" sz="1400" dirty="0">
                          <a:solidFill>
                            <a:srgbClr val="1E293B"/>
                          </a:solidFill>
                          <a:latin typeface="Calibri" pitchFamily="34" charset="0"/>
                          <a:ea typeface="Calibri" pitchFamily="34" charset="-122"/>
                          <a:cs typeface="Calibri" pitchFamily="34" charset="-120"/>
                        </a:rPr>
                        <a:t>gpt-oss-20b (cheapest)</a:t>
                      </a:r>
                      <a:endParaRPr lang="en-US" sz="1400" dirty="0">
                        <a:latin typeface="Calibri" charset="0"/>
                        <a:ea typeface="Calibri" charset="0"/>
                        <a:cs typeface="Calibri"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E293B"/>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gridSpan="3">
                  <a:txBody>
                    <a:bodyPr/>
                    <a:lstStyle/>
                    <a:p>
                      <a:pPr marL="0" indent="0" algn="l">
                        <a:buNone/>
                      </a:pPr>
                      <a:r>
                        <a:rPr lang="en-US" sz="1200" i="1" dirty="0">
                          <a:solidFill>
                            <a:srgbClr val="64748B"/>
                          </a:solidFill>
                          <a:latin typeface="Calibri" pitchFamily="34" charset="0"/>
                          <a:ea typeface="Calibri" pitchFamily="34" charset="-122"/>
                          <a:cs typeface="Calibri" pitchFamily="34" charset="-120"/>
                        </a:rPr>
                        <a:t>Not recommended for production triage based on incomplete or less reliable tool-calling behavior.</a:t>
                      </a:r>
                      <a:endParaRPr lang="en-US" sz="1200" dirty="0">
                        <a:latin typeface="Calibri" charset="0"/>
                        <a:ea typeface="Calibri" charset="0"/>
                        <a:cs typeface="Calibri"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411480">
                <a:tc>
                  <a:txBody>
                    <a:bodyPr/>
                    <a:lstStyle/>
                    <a:p>
                      <a:pPr marL="0" indent="0" algn="ctr">
                        <a:buNone/>
                      </a:pPr>
                      <a:r>
                        <a:rPr lang="en-US" sz="1400" dirty="0">
                          <a:solidFill>
                            <a:srgbClr val="1E293B"/>
                          </a:solidFill>
                          <a:latin typeface="Calibri" pitchFamily="34" charset="0"/>
                          <a:ea typeface="Calibri" pitchFamily="34" charset="-122"/>
                          <a:cs typeface="Calibri" pitchFamily="34" charset="-120"/>
                        </a:rPr>
                        <a:t>gpt-oss-120b</a:t>
                      </a:r>
                      <a:endParaRPr lang="en-US" sz="1400" dirty="0">
                        <a:latin typeface="Calibri" charset="0"/>
                        <a:ea typeface="Calibri" charset="0"/>
                        <a:cs typeface="Calibri"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E293B"/>
                          </a:solidFill>
                          <a:latin typeface="Calibri" pitchFamily="34" charset="0"/>
                          <a:ea typeface="Calibri" pitchFamily="34" charset="-122"/>
                          <a:cs typeface="Calibri" pitchFamily="34" charset="-120"/>
                        </a:rPr>
                        <a:t>$12</a:t>
                      </a:r>
                      <a:endParaRPr lang="en-US" sz="1400" dirty="0">
                        <a:latin typeface="Calibri" charset="0"/>
                        <a:ea typeface="Calibri" charset="0"/>
                        <a:cs typeface="Calibri"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E293B"/>
                          </a:solidFill>
                          <a:latin typeface="Calibri" pitchFamily="34" charset="0"/>
                          <a:ea typeface="Calibri" pitchFamily="34" charset="-122"/>
                          <a:cs typeface="Calibri" pitchFamily="34" charset="-120"/>
                        </a:rPr>
                        <a:t>42%</a:t>
                      </a:r>
                      <a:endParaRPr lang="en-US" sz="1400" dirty="0">
                        <a:latin typeface="Calibri" charset="0"/>
                        <a:ea typeface="Calibri" charset="0"/>
                        <a:cs typeface="Calibri"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E293B"/>
                          </a:solidFill>
                          <a:latin typeface="Calibri" pitchFamily="34" charset="0"/>
                          <a:ea typeface="Calibri" pitchFamily="34" charset="-122"/>
                          <a:cs typeface="Calibri" pitchFamily="34" charset="-120"/>
                        </a:rPr>
                        <a:t>$34,986</a:t>
                      </a:r>
                      <a:endParaRPr lang="en-US" sz="1400" dirty="0">
                        <a:latin typeface="Calibri" charset="0"/>
                        <a:ea typeface="Calibri" charset="0"/>
                        <a:cs typeface="Calibri"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E293B"/>
                          </a:solidFill>
                          <a:latin typeface="Calibri" pitchFamily="34" charset="0"/>
                          <a:ea typeface="Calibri" pitchFamily="34" charset="-122"/>
                          <a:cs typeface="Calibri" pitchFamily="34" charset="-120"/>
                        </a:rPr>
                        <a:t>≈ 2,900×</a:t>
                      </a:r>
                      <a:endParaRPr lang="en-US" sz="1400" dirty="0">
                        <a:latin typeface="Calibri" charset="0"/>
                        <a:ea typeface="Calibri" charset="0"/>
                        <a:cs typeface="Calibri"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11480">
                <a:tc>
                  <a:txBody>
                    <a:bodyPr/>
                    <a:lstStyle/>
                    <a:p>
                      <a:pPr marL="0" indent="0" algn="ctr">
                        <a:buNone/>
                      </a:pPr>
                      <a:r>
                        <a:rPr lang="en-US" sz="1400" dirty="0">
                          <a:solidFill>
                            <a:srgbClr val="1E293B"/>
                          </a:solidFill>
                          <a:latin typeface="Calibri" pitchFamily="34" charset="0"/>
                          <a:ea typeface="Calibri" pitchFamily="34" charset="-122"/>
                          <a:cs typeface="Calibri" pitchFamily="34" charset="-120"/>
                        </a:rPr>
                        <a:t>Claude Sonnet 4</a:t>
                      </a:r>
                      <a:endParaRPr lang="en-US" sz="1400" dirty="0">
                        <a:latin typeface="Calibri" charset="0"/>
                        <a:ea typeface="Calibri" charset="0"/>
                        <a:cs typeface="Calibri"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E293B"/>
                          </a:solidFill>
                          <a:latin typeface="Calibri" pitchFamily="34" charset="0"/>
                          <a:ea typeface="Calibri" pitchFamily="34" charset="-122"/>
                          <a:cs typeface="Calibri" pitchFamily="34" charset="-120"/>
                        </a:rPr>
                        <a:t>$90</a:t>
                      </a:r>
                      <a:endParaRPr lang="en-US" sz="1400" dirty="0">
                        <a:latin typeface="Calibri" charset="0"/>
                        <a:ea typeface="Calibri" charset="0"/>
                        <a:cs typeface="Calibri"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E293B"/>
                          </a:solidFill>
                          <a:latin typeface="Calibri" pitchFamily="34" charset="0"/>
                          <a:ea typeface="Calibri" pitchFamily="34" charset="-122"/>
                          <a:cs typeface="Calibri" pitchFamily="34" charset="-120"/>
                        </a:rPr>
                        <a:t>58%</a:t>
                      </a:r>
                      <a:endParaRPr lang="en-US" sz="1400" dirty="0">
                        <a:latin typeface="Calibri" charset="0"/>
                        <a:ea typeface="Calibri" charset="0"/>
                        <a:cs typeface="Calibri"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E293B"/>
                          </a:solidFill>
                          <a:latin typeface="Calibri" pitchFamily="34" charset="0"/>
                          <a:ea typeface="Calibri" pitchFamily="34" charset="-122"/>
                          <a:cs typeface="Calibri" pitchFamily="34" charset="-120"/>
                        </a:rPr>
                        <a:t>$48,314</a:t>
                      </a:r>
                      <a:endParaRPr lang="en-US" sz="1400" dirty="0">
                        <a:latin typeface="Calibri" charset="0"/>
                        <a:ea typeface="Calibri" charset="0"/>
                        <a:cs typeface="Calibri"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E293B"/>
                          </a:solidFill>
                          <a:latin typeface="Calibri" pitchFamily="34" charset="0"/>
                          <a:ea typeface="Calibri" pitchFamily="34" charset="-122"/>
                          <a:cs typeface="Calibri" pitchFamily="34" charset="-120"/>
                        </a:rPr>
                        <a:t>≈ 540×</a:t>
                      </a:r>
                      <a:endParaRPr lang="en-US" sz="1400" dirty="0">
                        <a:latin typeface="Calibri" charset="0"/>
                        <a:ea typeface="Calibri" charset="0"/>
                        <a:cs typeface="Calibri"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8" name="Shape 4"/>
          <p:cNvSpPr/>
          <p:nvPr/>
        </p:nvSpPr>
        <p:spPr>
          <a:xfrm>
            <a:off x="566928" y="4251960"/>
            <a:ext cx="11055096" cy="1417320"/>
          </a:xfrm>
          <a:prstGeom prst="roundRect">
            <a:avLst>
              <a:gd name="adj" fmla="val 5161"/>
            </a:avLst>
          </a:prstGeom>
          <a:solidFill>
            <a:srgbClr val="0E1726"/>
          </a:solidFill>
          <a:ln w="12700">
            <a:solidFill>
              <a:srgbClr val="E2E8F0"/>
            </a:solidFill>
            <a:prstDash val="solid"/>
          </a:ln>
          <a:effectLst>
            <a:outerShdw blurRad="88900" dist="38100" dir="5400000" algn="bl" rotWithShape="0">
              <a:srgbClr val="000000">
                <a:alpha val="14000"/>
              </a:srgbClr>
            </a:outerShdw>
          </a:effectLst>
        </p:spPr>
      </p:sp>
      <p:pic>
        <p:nvPicPr>
          <p:cNvPr id="9" name="Image 1" descr="preencoded.png"/>
          <p:cNvPicPr>
            <a:picLocks noChangeAspect="1"/>
          </p:cNvPicPr>
          <p:nvPr/>
        </p:nvPicPr>
        <p:blipFill>
          <a:blip r:embed="rId4"/>
          <a:stretch>
            <a:fillRect/>
          </a:stretch>
        </p:blipFill>
        <p:spPr>
          <a:xfrm>
            <a:off x="841248" y="4617720"/>
            <a:ext cx="502920" cy="502920"/>
          </a:xfrm>
          <a:prstGeom prst="rect">
            <a:avLst/>
          </a:prstGeom>
        </p:spPr>
      </p:pic>
      <p:sp>
        <p:nvSpPr>
          <p:cNvPr id="10" name="Text 5"/>
          <p:cNvSpPr/>
          <p:nvPr/>
        </p:nvSpPr>
        <p:spPr>
          <a:xfrm>
            <a:off x="1527048" y="4389120"/>
            <a:ext cx="9866376" cy="1143000"/>
          </a:xfrm>
          <a:prstGeom prst="rect">
            <a:avLst/>
          </a:prstGeom>
          <a:noFill/>
          <a:ln/>
        </p:spPr>
        <p:txBody>
          <a:bodyPr wrap="square" rtlCol="0" anchor="ctr"/>
          <a:lstStyle/>
          <a:p>
            <a:pPr marL="0" indent="0">
              <a:lnSpc>
                <a:spcPct val="108000"/>
              </a:lnSpc>
              <a:buNone/>
            </a:pPr>
            <a:r>
              <a:rPr lang="en-US" sz="1400" b="1" dirty="0">
                <a:solidFill>
                  <a:srgbClr val="06B6D4"/>
                </a:solidFill>
                <a:latin typeface="Calibri" pitchFamily="34" charset="0"/>
                <a:ea typeface="Calibri" pitchFamily="34" charset="-122"/>
                <a:cs typeface="Calibri" pitchFamily="34" charset="-120"/>
              </a:rPr>
              <a:t>Bottom line:  </a:t>
            </a:r>
            <a:r>
              <a:rPr lang="en-US" sz="1400" dirty="0">
                <a:solidFill>
                  <a:srgbClr val="E2E8F0"/>
                </a:solidFill>
                <a:latin typeface="Calibri" pitchFamily="34" charset="0"/>
                <a:ea typeface="Calibri" pitchFamily="34" charset="-122"/>
                <a:cs typeface="Calibri" pitchFamily="34" charset="-120"/>
              </a:rPr>
              <a:t>inference cost is a rounding error next to analyst labor (&lt;0.3% of value even for the premium model). So effectiveness dominates ROI — choose the most accurate model. Claude adds ~$13,300/mo of value for ~$78 more cost: an incremental ROI of roughly 170×.</a:t>
            </a:r>
            <a:endParaRPr lang="en-US" sz="1400" dirty="0"/>
          </a:p>
        </p:txBody>
      </p:sp>
      <p:sp>
        <p:nvSpPr>
          <p:cNvPr id="11" name="Text 6"/>
          <p:cNvSpPr/>
          <p:nvPr/>
        </p:nvSpPr>
        <p:spPr>
          <a:xfrm>
            <a:off x="11365992" y="6400800"/>
            <a:ext cx="457200" cy="274320"/>
          </a:xfrm>
          <a:prstGeom prst="rect">
            <a:avLst/>
          </a:prstGeom>
          <a:noFill/>
          <a:ln/>
        </p:spPr>
        <p:txBody>
          <a:bodyPr wrap="square"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17</a:t>
            </a:r>
            <a:endParaRPr lang="en-US" sz="1000" dirty="0"/>
          </a:p>
        </p:txBody>
      </p:sp>
      <p:sp>
        <p:nvSpPr>
          <p:cNvPr id="12" name="Text 7"/>
          <p:cNvSpPr/>
          <p:nvPr/>
        </p:nvSpPr>
        <p:spPr>
          <a:xfrm>
            <a:off x="566928" y="6400800"/>
            <a:ext cx="3657600" cy="274320"/>
          </a:xfrm>
          <a:prstGeom prst="rect">
            <a:avLst/>
          </a:prstGeom>
          <a:noFill/>
          <a:ln/>
        </p:spPr>
        <p:txBody>
          <a:bodyPr wrap="square" rtlCol="0" anchor="ctr"/>
          <a:lstStyle/>
          <a:p>
            <a:pPr marL="0" indent="0" algn="l">
              <a:buNone/>
            </a:pPr>
            <a:r>
              <a:rPr lang="en-US" sz="1000" dirty="0">
                <a:solidFill>
                  <a:srgbClr val="64748B"/>
                </a:solidFill>
                <a:latin typeface="Calibri" pitchFamily="34" charset="0"/>
                <a:ea typeface="Calibri" pitchFamily="34" charset="-122"/>
                <a:cs typeface="Calibri" pitchFamily="34" charset="-120"/>
              </a:rPr>
              <a:t>SentinelMesh</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57200"/>
            <a:ext cx="566928" cy="566928"/>
          </a:xfrm>
          <a:prstGeom prst="ellipse">
            <a:avLst/>
          </a:prstGeom>
          <a:solidFill>
            <a:srgbClr val="0E1726"/>
          </a:solidFill>
          <a:ln/>
        </p:spPr>
      </p:sp>
      <p:pic>
        <p:nvPicPr>
          <p:cNvPr id="3" name="Image 0" descr="preencoded.png"/>
          <p:cNvPicPr>
            <a:picLocks noChangeAspect="1"/>
          </p:cNvPicPr>
          <p:nvPr/>
        </p:nvPicPr>
        <p:blipFill>
          <a:blip r:embed="rId3"/>
          <a:stretch>
            <a:fillRect/>
          </a:stretch>
        </p:blipFill>
        <p:spPr>
          <a:xfrm>
            <a:off x="704088" y="594360"/>
            <a:ext cx="292608" cy="292608"/>
          </a:xfrm>
          <a:prstGeom prst="rect">
            <a:avLst/>
          </a:prstGeom>
        </p:spPr>
      </p:pic>
      <p:sp>
        <p:nvSpPr>
          <p:cNvPr id="4" name="Text 1"/>
          <p:cNvSpPr/>
          <p:nvPr/>
        </p:nvSpPr>
        <p:spPr>
          <a:xfrm>
            <a:off x="1298448" y="457200"/>
            <a:ext cx="9144000" cy="274320"/>
          </a:xfrm>
          <a:prstGeom prst="rect">
            <a:avLst/>
          </a:prstGeom>
          <a:noFill/>
          <a:ln/>
        </p:spPr>
        <p:txBody>
          <a:bodyPr wrap="square" rtlCol="0" anchor="ctr"/>
          <a:lstStyle/>
          <a:p>
            <a:pPr marL="0" indent="0">
              <a:buNone/>
            </a:pPr>
            <a:r>
              <a:rPr lang="en-US" sz="1200" b="1" kern="0" spc="300" dirty="0">
                <a:solidFill>
                  <a:srgbClr val="0E7490"/>
                </a:solidFill>
                <a:latin typeface="Calibri" pitchFamily="34" charset="0"/>
                <a:ea typeface="Calibri" pitchFamily="34" charset="-122"/>
                <a:cs typeface="Calibri" pitchFamily="34" charset="-120"/>
              </a:rPr>
              <a:t>RECOMMENDATION</a:t>
            </a:r>
            <a:endParaRPr lang="en-US" sz="1200" dirty="0"/>
          </a:p>
        </p:txBody>
      </p:sp>
      <p:sp>
        <p:nvSpPr>
          <p:cNvPr id="5" name="Text 2"/>
          <p:cNvSpPr/>
          <p:nvPr/>
        </p:nvSpPr>
        <p:spPr>
          <a:xfrm>
            <a:off x="1298448" y="694944"/>
            <a:ext cx="10341864" cy="502920"/>
          </a:xfrm>
          <a:prstGeom prst="rect">
            <a:avLst/>
          </a:prstGeom>
          <a:noFill/>
          <a:ln/>
        </p:spPr>
        <p:txBody>
          <a:bodyPr wrap="square" rtlCol="0" anchor="ctr"/>
          <a:lstStyle/>
          <a:p>
            <a:pPr marL="0" indent="0">
              <a:buNone/>
            </a:pPr>
            <a:r>
              <a:rPr lang="en-US" sz="2800" b="1" dirty="0">
                <a:solidFill>
                  <a:srgbClr val="1E293B"/>
                </a:solidFill>
                <a:latin typeface="Cambria" pitchFamily="34" charset="0"/>
                <a:ea typeface="Cambria" pitchFamily="34" charset="-122"/>
                <a:cs typeface="Cambria" pitchFamily="34" charset="-120"/>
              </a:rPr>
              <a:t>How we'd deploy SentinelMesh</a:t>
            </a:r>
            <a:endParaRPr lang="en-US" sz="2800" dirty="0"/>
          </a:p>
        </p:txBody>
      </p:sp>
      <p:sp>
        <p:nvSpPr>
          <p:cNvPr id="6" name="Shape 3"/>
          <p:cNvSpPr/>
          <p:nvPr/>
        </p:nvSpPr>
        <p:spPr>
          <a:xfrm>
            <a:off x="566928" y="1737360"/>
            <a:ext cx="3471672" cy="2286000"/>
          </a:xfrm>
          <a:prstGeom prst="roundRect">
            <a:avLst>
              <a:gd name="adj" fmla="val 3200"/>
            </a:avLst>
          </a:prstGeom>
          <a:solidFill>
            <a:srgbClr val="FFFFFF"/>
          </a:solidFill>
          <a:ln w="12700">
            <a:solidFill>
              <a:srgbClr val="E2E8F0"/>
            </a:solidFill>
            <a:prstDash val="solid"/>
          </a:ln>
          <a:effectLst>
            <a:outerShdw blurRad="88900" dist="38100" dir="5400000" algn="bl" rotWithShape="0">
              <a:srgbClr val="000000">
                <a:alpha val="14000"/>
              </a:srgbClr>
            </a:outerShdw>
          </a:effectLst>
        </p:spPr>
      </p:sp>
      <p:sp>
        <p:nvSpPr>
          <p:cNvPr id="7" name="Shape 4"/>
          <p:cNvSpPr/>
          <p:nvPr/>
        </p:nvSpPr>
        <p:spPr>
          <a:xfrm>
            <a:off x="795528" y="1965960"/>
            <a:ext cx="640080" cy="640080"/>
          </a:xfrm>
          <a:prstGeom prst="ellipse">
            <a:avLst/>
          </a:prstGeom>
          <a:solidFill>
            <a:srgbClr val="0E1726"/>
          </a:solidFill>
          <a:ln/>
        </p:spPr>
      </p:sp>
      <p:sp>
        <p:nvSpPr>
          <p:cNvPr id="8" name="Text 5"/>
          <p:cNvSpPr/>
          <p:nvPr/>
        </p:nvSpPr>
        <p:spPr>
          <a:xfrm>
            <a:off x="795528" y="1965960"/>
            <a:ext cx="640080" cy="640080"/>
          </a:xfrm>
          <a:prstGeom prst="rect">
            <a:avLst/>
          </a:prstGeom>
          <a:noFill/>
          <a:ln/>
        </p:spPr>
        <p:txBody>
          <a:bodyPr wrap="square" rtlCol="0" anchor="ctr"/>
          <a:lstStyle/>
          <a:p>
            <a:pPr marL="0" indent="0" algn="ctr">
              <a:buNone/>
            </a:pPr>
            <a:r>
              <a:rPr lang="en-US" sz="2200" b="1" dirty="0">
                <a:solidFill>
                  <a:srgbClr val="06B6D4"/>
                </a:solidFill>
                <a:latin typeface="Cambria" pitchFamily="34" charset="0"/>
                <a:ea typeface="Cambria" pitchFamily="34" charset="-122"/>
                <a:cs typeface="Cambria" pitchFamily="34" charset="-120"/>
              </a:rPr>
              <a:t>1</a:t>
            </a:r>
            <a:endParaRPr lang="en-US" sz="2200" dirty="0"/>
          </a:p>
        </p:txBody>
      </p:sp>
      <p:sp>
        <p:nvSpPr>
          <p:cNvPr id="9" name="Text 6"/>
          <p:cNvSpPr/>
          <p:nvPr/>
        </p:nvSpPr>
        <p:spPr>
          <a:xfrm>
            <a:off x="1527048" y="1993392"/>
            <a:ext cx="2374392" cy="603504"/>
          </a:xfrm>
          <a:prstGeom prst="rect">
            <a:avLst/>
          </a:prstGeom>
          <a:noFill/>
          <a:ln/>
        </p:spPr>
        <p:txBody>
          <a:bodyPr wrap="square" rtlCol="0" anchor="ctr"/>
          <a:lstStyle/>
          <a:p>
            <a:pPr marL="0" indent="0">
              <a:buNone/>
            </a:pPr>
            <a:r>
              <a:rPr lang="en-US" sz="1450" b="1" dirty="0">
                <a:solidFill>
                  <a:srgbClr val="0E7490"/>
                </a:solidFill>
                <a:latin typeface="Cambria" pitchFamily="34" charset="0"/>
                <a:ea typeface="Cambria" pitchFamily="34" charset="-122"/>
                <a:cs typeface="Cambria" pitchFamily="34" charset="-120"/>
              </a:rPr>
              <a:t>Phase 1 — Shadow</a:t>
            </a:r>
            <a:endParaRPr lang="en-US" sz="1450" dirty="0"/>
          </a:p>
        </p:txBody>
      </p:sp>
      <p:sp>
        <p:nvSpPr>
          <p:cNvPr id="10" name="Text 7"/>
          <p:cNvSpPr/>
          <p:nvPr/>
        </p:nvSpPr>
        <p:spPr>
          <a:xfrm>
            <a:off x="841248" y="2743200"/>
            <a:ext cx="2923032" cy="1188720"/>
          </a:xfrm>
          <a:prstGeom prst="rect">
            <a:avLst/>
          </a:prstGeom>
          <a:noFill/>
          <a:ln/>
        </p:spPr>
        <p:txBody>
          <a:bodyPr wrap="square" rtlCol="0" anchor="t"/>
          <a:lstStyle/>
          <a:p>
            <a:pPr marL="0" indent="0">
              <a:buNone/>
            </a:pPr>
            <a:r>
              <a:rPr lang="en-US" sz="1250" dirty="0">
                <a:solidFill>
                  <a:srgbClr val="1E293B"/>
                </a:solidFill>
                <a:latin typeface="Calibri" pitchFamily="34" charset="0"/>
                <a:ea typeface="Calibri" pitchFamily="34" charset="-122"/>
                <a:cs typeface="Calibri" pitchFamily="34" charset="-120"/>
              </a:rPr>
              <a:t>Run alongside analysts on live alerts. Measure agreement; tune; no analyst-facing action yet.</a:t>
            </a:r>
            <a:endParaRPr lang="en-US" sz="1250" dirty="0"/>
          </a:p>
        </p:txBody>
      </p:sp>
      <p:sp>
        <p:nvSpPr>
          <p:cNvPr id="11" name="Shape 8"/>
          <p:cNvSpPr/>
          <p:nvPr/>
        </p:nvSpPr>
        <p:spPr>
          <a:xfrm>
            <a:off x="4358640" y="1737360"/>
            <a:ext cx="3471672" cy="2286000"/>
          </a:xfrm>
          <a:prstGeom prst="roundRect">
            <a:avLst>
              <a:gd name="adj" fmla="val 3200"/>
            </a:avLst>
          </a:prstGeom>
          <a:solidFill>
            <a:srgbClr val="FFFFFF"/>
          </a:solidFill>
          <a:ln w="12700">
            <a:solidFill>
              <a:srgbClr val="E2E8F0"/>
            </a:solidFill>
            <a:prstDash val="solid"/>
          </a:ln>
          <a:effectLst>
            <a:outerShdw blurRad="88900" dist="38100" dir="5400000" algn="bl" rotWithShape="0">
              <a:srgbClr val="000000">
                <a:alpha val="14000"/>
              </a:srgbClr>
            </a:outerShdw>
          </a:effectLst>
        </p:spPr>
      </p:sp>
      <p:sp>
        <p:nvSpPr>
          <p:cNvPr id="12" name="Shape 9"/>
          <p:cNvSpPr/>
          <p:nvPr/>
        </p:nvSpPr>
        <p:spPr>
          <a:xfrm>
            <a:off x="4587240" y="1965960"/>
            <a:ext cx="640080" cy="640080"/>
          </a:xfrm>
          <a:prstGeom prst="ellipse">
            <a:avLst/>
          </a:prstGeom>
          <a:solidFill>
            <a:srgbClr val="0E1726"/>
          </a:solidFill>
          <a:ln/>
        </p:spPr>
      </p:sp>
      <p:sp>
        <p:nvSpPr>
          <p:cNvPr id="13" name="Text 10"/>
          <p:cNvSpPr/>
          <p:nvPr/>
        </p:nvSpPr>
        <p:spPr>
          <a:xfrm>
            <a:off x="4587240" y="1965960"/>
            <a:ext cx="640080" cy="640080"/>
          </a:xfrm>
          <a:prstGeom prst="rect">
            <a:avLst/>
          </a:prstGeom>
          <a:noFill/>
          <a:ln/>
        </p:spPr>
        <p:txBody>
          <a:bodyPr wrap="square" rtlCol="0" anchor="ctr"/>
          <a:lstStyle/>
          <a:p>
            <a:pPr marL="0" indent="0" algn="ctr">
              <a:buNone/>
            </a:pPr>
            <a:r>
              <a:rPr lang="en-US" sz="2200" b="1" dirty="0">
                <a:solidFill>
                  <a:srgbClr val="06B6D4"/>
                </a:solidFill>
                <a:latin typeface="Cambria" pitchFamily="34" charset="0"/>
                <a:ea typeface="Cambria" pitchFamily="34" charset="-122"/>
                <a:cs typeface="Cambria" pitchFamily="34" charset="-120"/>
              </a:rPr>
              <a:t>2</a:t>
            </a:r>
            <a:endParaRPr lang="en-US" sz="2200" dirty="0"/>
          </a:p>
        </p:txBody>
      </p:sp>
      <p:sp>
        <p:nvSpPr>
          <p:cNvPr id="14" name="Text 11"/>
          <p:cNvSpPr/>
          <p:nvPr/>
        </p:nvSpPr>
        <p:spPr>
          <a:xfrm>
            <a:off x="5318760" y="1993392"/>
            <a:ext cx="2374392" cy="603504"/>
          </a:xfrm>
          <a:prstGeom prst="rect">
            <a:avLst/>
          </a:prstGeom>
          <a:noFill/>
          <a:ln/>
        </p:spPr>
        <p:txBody>
          <a:bodyPr wrap="square" rtlCol="0" anchor="ctr"/>
          <a:lstStyle/>
          <a:p>
            <a:pPr marL="0" indent="0">
              <a:buNone/>
            </a:pPr>
            <a:r>
              <a:rPr lang="en-US" sz="1450" b="1" dirty="0">
                <a:solidFill>
                  <a:srgbClr val="0E7490"/>
                </a:solidFill>
                <a:latin typeface="Cambria" pitchFamily="34" charset="0"/>
                <a:ea typeface="Cambria" pitchFamily="34" charset="-122"/>
                <a:cs typeface="Cambria" pitchFamily="34" charset="-120"/>
              </a:rPr>
              <a:t>Phase 2 — Assist</a:t>
            </a:r>
            <a:endParaRPr lang="en-US" sz="1450" dirty="0"/>
          </a:p>
        </p:txBody>
      </p:sp>
      <p:sp>
        <p:nvSpPr>
          <p:cNvPr id="15" name="Text 12"/>
          <p:cNvSpPr/>
          <p:nvPr/>
        </p:nvSpPr>
        <p:spPr>
          <a:xfrm>
            <a:off x="4632960" y="2743200"/>
            <a:ext cx="2923032" cy="1188720"/>
          </a:xfrm>
          <a:prstGeom prst="rect">
            <a:avLst/>
          </a:prstGeom>
          <a:noFill/>
          <a:ln/>
        </p:spPr>
        <p:txBody>
          <a:bodyPr wrap="square" rtlCol="0" anchor="t"/>
          <a:lstStyle/>
          <a:p>
            <a:pPr marL="0" indent="0">
              <a:buNone/>
            </a:pPr>
            <a:r>
              <a:rPr lang="en-US" sz="1250" dirty="0">
                <a:solidFill>
                  <a:srgbClr val="1E293B"/>
                </a:solidFill>
                <a:latin typeface="Calibri" pitchFamily="34" charset="0"/>
                <a:ea typeface="Calibri" pitchFamily="34" charset="-122"/>
                <a:cs typeface="Calibri" pitchFamily="34" charset="-120"/>
              </a:rPr>
              <a:t>Pre-fill triage and prioritize the queue using the strong coarse group. Analyst approves every action.</a:t>
            </a:r>
            <a:endParaRPr lang="en-US" sz="1250" dirty="0"/>
          </a:p>
        </p:txBody>
      </p:sp>
      <p:sp>
        <p:nvSpPr>
          <p:cNvPr id="16" name="Shape 13"/>
          <p:cNvSpPr/>
          <p:nvPr/>
        </p:nvSpPr>
        <p:spPr>
          <a:xfrm>
            <a:off x="8150352" y="1737360"/>
            <a:ext cx="3471672" cy="2286000"/>
          </a:xfrm>
          <a:prstGeom prst="roundRect">
            <a:avLst>
              <a:gd name="adj" fmla="val 3200"/>
            </a:avLst>
          </a:prstGeom>
          <a:solidFill>
            <a:srgbClr val="FFFFFF"/>
          </a:solidFill>
          <a:ln w="12700">
            <a:solidFill>
              <a:srgbClr val="E2E8F0"/>
            </a:solidFill>
            <a:prstDash val="solid"/>
          </a:ln>
          <a:effectLst>
            <a:outerShdw blurRad="88900" dist="38100" dir="5400000" algn="bl" rotWithShape="0">
              <a:srgbClr val="000000">
                <a:alpha val="14000"/>
              </a:srgbClr>
            </a:outerShdw>
          </a:effectLst>
        </p:spPr>
      </p:sp>
      <p:sp>
        <p:nvSpPr>
          <p:cNvPr id="17" name="Shape 14"/>
          <p:cNvSpPr/>
          <p:nvPr/>
        </p:nvSpPr>
        <p:spPr>
          <a:xfrm>
            <a:off x="8378952" y="1965960"/>
            <a:ext cx="640080" cy="640080"/>
          </a:xfrm>
          <a:prstGeom prst="ellipse">
            <a:avLst/>
          </a:prstGeom>
          <a:solidFill>
            <a:srgbClr val="0E1726"/>
          </a:solidFill>
          <a:ln/>
        </p:spPr>
      </p:sp>
      <p:sp>
        <p:nvSpPr>
          <p:cNvPr id="18" name="Text 15"/>
          <p:cNvSpPr/>
          <p:nvPr/>
        </p:nvSpPr>
        <p:spPr>
          <a:xfrm>
            <a:off x="8378952" y="1965960"/>
            <a:ext cx="640080" cy="640080"/>
          </a:xfrm>
          <a:prstGeom prst="rect">
            <a:avLst/>
          </a:prstGeom>
          <a:noFill/>
          <a:ln/>
        </p:spPr>
        <p:txBody>
          <a:bodyPr wrap="square" rtlCol="0" anchor="ctr"/>
          <a:lstStyle/>
          <a:p>
            <a:pPr marL="0" indent="0" algn="ctr">
              <a:buNone/>
            </a:pPr>
            <a:r>
              <a:rPr lang="en-US" sz="2200" b="1" dirty="0">
                <a:solidFill>
                  <a:srgbClr val="06B6D4"/>
                </a:solidFill>
                <a:latin typeface="Cambria" pitchFamily="34" charset="0"/>
                <a:ea typeface="Cambria" pitchFamily="34" charset="-122"/>
                <a:cs typeface="Cambria" pitchFamily="34" charset="-120"/>
              </a:rPr>
              <a:t>3</a:t>
            </a:r>
            <a:endParaRPr lang="en-US" sz="2200" dirty="0"/>
          </a:p>
        </p:txBody>
      </p:sp>
      <p:sp>
        <p:nvSpPr>
          <p:cNvPr id="19" name="Text 16"/>
          <p:cNvSpPr/>
          <p:nvPr/>
        </p:nvSpPr>
        <p:spPr>
          <a:xfrm>
            <a:off x="9110472" y="1993392"/>
            <a:ext cx="2374392" cy="603504"/>
          </a:xfrm>
          <a:prstGeom prst="rect">
            <a:avLst/>
          </a:prstGeom>
          <a:noFill/>
          <a:ln/>
        </p:spPr>
        <p:txBody>
          <a:bodyPr wrap="square" rtlCol="0" anchor="ctr"/>
          <a:lstStyle/>
          <a:p>
            <a:pPr marL="0" indent="0">
              <a:buNone/>
            </a:pPr>
            <a:r>
              <a:rPr lang="en-US" sz="1450" b="1" dirty="0">
                <a:solidFill>
                  <a:srgbClr val="0E7490"/>
                </a:solidFill>
                <a:latin typeface="Cambria" pitchFamily="34" charset="0"/>
                <a:ea typeface="Cambria" pitchFamily="34" charset="-122"/>
                <a:cs typeface="Cambria" pitchFamily="34" charset="-120"/>
              </a:rPr>
              <a:t>Phase 3 — Auto-assist</a:t>
            </a:r>
            <a:endParaRPr lang="en-US" sz="1450" dirty="0"/>
          </a:p>
        </p:txBody>
      </p:sp>
      <p:sp>
        <p:nvSpPr>
          <p:cNvPr id="20" name="Text 17"/>
          <p:cNvSpPr/>
          <p:nvPr/>
        </p:nvSpPr>
        <p:spPr>
          <a:xfrm>
            <a:off x="8424672" y="2743200"/>
            <a:ext cx="2923032" cy="1188720"/>
          </a:xfrm>
          <a:prstGeom prst="rect">
            <a:avLst/>
          </a:prstGeom>
          <a:noFill/>
          <a:ln/>
        </p:spPr>
        <p:txBody>
          <a:bodyPr wrap="square" rtlCol="0" anchor="t"/>
          <a:lstStyle/>
          <a:p>
            <a:pPr marL="0" indent="0">
              <a:buNone/>
            </a:pPr>
            <a:r>
              <a:rPr lang="en-US" sz="1250" dirty="0">
                <a:solidFill>
                  <a:srgbClr val="1E293B"/>
                </a:solidFill>
                <a:latin typeface="Calibri" pitchFamily="34" charset="0"/>
                <a:ea typeface="Calibri" pitchFamily="34" charset="-122"/>
                <a:cs typeface="Calibri" pitchFamily="34" charset="-120"/>
              </a:rPr>
              <a:t>Auto-handle high-confidence benign/flood cases with human spot-checks; escalate the rest.</a:t>
            </a:r>
            <a:endParaRPr lang="en-US" sz="1250" dirty="0"/>
          </a:p>
        </p:txBody>
      </p:sp>
      <p:sp>
        <p:nvSpPr>
          <p:cNvPr id="21" name="Shape 18"/>
          <p:cNvSpPr/>
          <p:nvPr/>
        </p:nvSpPr>
        <p:spPr>
          <a:xfrm>
            <a:off x="566928" y="4206240"/>
            <a:ext cx="3471672" cy="1417320"/>
          </a:xfrm>
          <a:prstGeom prst="roundRect">
            <a:avLst>
              <a:gd name="adj" fmla="val 5161"/>
            </a:avLst>
          </a:prstGeom>
          <a:solidFill>
            <a:srgbClr val="F4F7FB"/>
          </a:solidFill>
          <a:ln w="12700">
            <a:solidFill>
              <a:srgbClr val="E2E8F0"/>
            </a:solidFill>
            <a:prstDash val="solid"/>
          </a:ln>
          <a:effectLst>
            <a:outerShdw blurRad="88900" dist="38100" dir="5400000" algn="bl" rotWithShape="0">
              <a:srgbClr val="000000">
                <a:alpha val="14000"/>
              </a:srgbClr>
            </a:outerShdw>
          </a:effectLst>
        </p:spPr>
      </p:sp>
      <p:pic>
        <p:nvPicPr>
          <p:cNvPr id="22" name="Image 1" descr="preencoded.png"/>
          <p:cNvPicPr>
            <a:picLocks noChangeAspect="1"/>
          </p:cNvPicPr>
          <p:nvPr/>
        </p:nvPicPr>
        <p:blipFill>
          <a:blip r:embed="rId3"/>
          <a:stretch>
            <a:fillRect/>
          </a:stretch>
        </p:blipFill>
        <p:spPr>
          <a:xfrm>
            <a:off x="795528" y="4407408"/>
            <a:ext cx="329184" cy="329184"/>
          </a:xfrm>
          <a:prstGeom prst="rect">
            <a:avLst/>
          </a:prstGeom>
        </p:spPr>
      </p:pic>
      <p:sp>
        <p:nvSpPr>
          <p:cNvPr id="23" name="Text 19"/>
          <p:cNvSpPr/>
          <p:nvPr/>
        </p:nvSpPr>
        <p:spPr>
          <a:xfrm>
            <a:off x="1252728" y="4370832"/>
            <a:ext cx="2648712" cy="365760"/>
          </a:xfrm>
          <a:prstGeom prst="rect">
            <a:avLst/>
          </a:prstGeom>
          <a:noFill/>
          <a:ln/>
        </p:spPr>
        <p:txBody>
          <a:bodyPr wrap="square" rtlCol="0" anchor="ctr"/>
          <a:lstStyle/>
          <a:p>
            <a:pPr marL="0" indent="0">
              <a:buNone/>
            </a:pPr>
            <a:r>
              <a:rPr lang="en-US" sz="1400" b="1" dirty="0">
                <a:solidFill>
                  <a:srgbClr val="1E293B"/>
                </a:solidFill>
                <a:latin typeface="Cambria" pitchFamily="34" charset="0"/>
                <a:ea typeface="Cambria" pitchFamily="34" charset="-122"/>
                <a:cs typeface="Cambria" pitchFamily="34" charset="-120"/>
              </a:rPr>
              <a:t>Serving</a:t>
            </a:r>
            <a:endParaRPr lang="en-US" sz="1400" dirty="0"/>
          </a:p>
        </p:txBody>
      </p:sp>
      <p:sp>
        <p:nvSpPr>
          <p:cNvPr id="24" name="Text 20"/>
          <p:cNvSpPr/>
          <p:nvPr/>
        </p:nvSpPr>
        <p:spPr>
          <a:xfrm>
            <a:off x="841248" y="4800600"/>
            <a:ext cx="2968752" cy="731520"/>
          </a:xfrm>
          <a:prstGeom prst="rect">
            <a:avLst/>
          </a:prstGeom>
          <a:noFill/>
          <a:ln/>
        </p:spPr>
        <p:txBody>
          <a:bodyPr wrap="square" rtlCol="0" anchor="t"/>
          <a:lstStyle/>
          <a:p>
            <a:pPr marL="0" indent="0">
              <a:buNone/>
            </a:pPr>
            <a:r>
              <a:rPr lang="en-US" sz="1200" dirty="0">
                <a:solidFill>
                  <a:srgbClr val="64748B"/>
                </a:solidFill>
                <a:latin typeface="Calibri" pitchFamily="34" charset="0"/>
                <a:ea typeface="Calibri" pitchFamily="34" charset="-122"/>
                <a:cs typeface="Calibri" pitchFamily="34" charset="-120"/>
              </a:rPr>
              <a:t>Databricks Model Serving / Mosaic AI Agent Framework</a:t>
            </a:r>
            <a:endParaRPr lang="en-US" sz="1200" dirty="0"/>
          </a:p>
        </p:txBody>
      </p:sp>
      <p:sp>
        <p:nvSpPr>
          <p:cNvPr id="25" name="Shape 21"/>
          <p:cNvSpPr/>
          <p:nvPr/>
        </p:nvSpPr>
        <p:spPr>
          <a:xfrm>
            <a:off x="4358640" y="4206240"/>
            <a:ext cx="3471672" cy="1417320"/>
          </a:xfrm>
          <a:prstGeom prst="roundRect">
            <a:avLst>
              <a:gd name="adj" fmla="val 5161"/>
            </a:avLst>
          </a:prstGeom>
          <a:solidFill>
            <a:srgbClr val="F4F7FB"/>
          </a:solidFill>
          <a:ln w="12700">
            <a:solidFill>
              <a:srgbClr val="E2E8F0"/>
            </a:solidFill>
            <a:prstDash val="solid"/>
          </a:ln>
          <a:effectLst>
            <a:outerShdw blurRad="88900" dist="38100" dir="5400000" algn="bl" rotWithShape="0">
              <a:srgbClr val="000000">
                <a:alpha val="14000"/>
              </a:srgbClr>
            </a:outerShdw>
          </a:effectLst>
        </p:spPr>
      </p:sp>
      <p:pic>
        <p:nvPicPr>
          <p:cNvPr id="26" name="Image 2" descr="preencoded.png"/>
          <p:cNvPicPr>
            <a:picLocks noChangeAspect="1"/>
          </p:cNvPicPr>
          <p:nvPr/>
        </p:nvPicPr>
        <p:blipFill>
          <a:blip r:embed="rId4"/>
          <a:stretch>
            <a:fillRect/>
          </a:stretch>
        </p:blipFill>
        <p:spPr>
          <a:xfrm>
            <a:off x="4587240" y="4407408"/>
            <a:ext cx="329184" cy="329184"/>
          </a:xfrm>
          <a:prstGeom prst="rect">
            <a:avLst/>
          </a:prstGeom>
        </p:spPr>
      </p:pic>
      <p:sp>
        <p:nvSpPr>
          <p:cNvPr id="27" name="Text 22"/>
          <p:cNvSpPr/>
          <p:nvPr/>
        </p:nvSpPr>
        <p:spPr>
          <a:xfrm>
            <a:off x="5044440" y="4370832"/>
            <a:ext cx="2648712" cy="365760"/>
          </a:xfrm>
          <a:prstGeom prst="rect">
            <a:avLst/>
          </a:prstGeom>
          <a:noFill/>
          <a:ln/>
        </p:spPr>
        <p:txBody>
          <a:bodyPr wrap="square" rtlCol="0" anchor="ctr"/>
          <a:lstStyle/>
          <a:p>
            <a:pPr marL="0" indent="0">
              <a:buNone/>
            </a:pPr>
            <a:r>
              <a:rPr lang="en-US" sz="1400" b="1" dirty="0">
                <a:solidFill>
                  <a:srgbClr val="1E293B"/>
                </a:solidFill>
                <a:latin typeface="Cambria" pitchFamily="34" charset="0"/>
                <a:ea typeface="Cambria" pitchFamily="34" charset="-122"/>
                <a:cs typeface="Cambria" pitchFamily="34" charset="-120"/>
              </a:rPr>
              <a:t>Monitoring</a:t>
            </a:r>
            <a:endParaRPr lang="en-US" sz="1400" dirty="0"/>
          </a:p>
        </p:txBody>
      </p:sp>
      <p:sp>
        <p:nvSpPr>
          <p:cNvPr id="28" name="Text 23"/>
          <p:cNvSpPr/>
          <p:nvPr/>
        </p:nvSpPr>
        <p:spPr>
          <a:xfrm>
            <a:off x="4632960" y="4800600"/>
            <a:ext cx="2968752" cy="731520"/>
          </a:xfrm>
          <a:prstGeom prst="rect">
            <a:avLst/>
          </a:prstGeom>
          <a:noFill/>
          <a:ln/>
        </p:spPr>
        <p:txBody>
          <a:bodyPr wrap="square" rtlCol="0" anchor="t"/>
          <a:lstStyle/>
          <a:p>
            <a:pPr marL="0" indent="0">
              <a:buNone/>
            </a:pPr>
            <a:r>
              <a:rPr lang="en-US" sz="1200" dirty="0">
                <a:solidFill>
                  <a:srgbClr val="64748B"/>
                </a:solidFill>
                <a:latin typeface="Calibri" pitchFamily="34" charset="0"/>
                <a:ea typeface="Calibri" pitchFamily="34" charset="-122"/>
                <a:cs typeface="Calibri" pitchFamily="34" charset="-120"/>
              </a:rPr>
              <a:t>MLflow tracing in production — capture every decision + feedback</a:t>
            </a:r>
            <a:endParaRPr lang="en-US" sz="1200" dirty="0"/>
          </a:p>
        </p:txBody>
      </p:sp>
      <p:sp>
        <p:nvSpPr>
          <p:cNvPr id="29" name="Shape 24"/>
          <p:cNvSpPr/>
          <p:nvPr/>
        </p:nvSpPr>
        <p:spPr>
          <a:xfrm>
            <a:off x="8150352" y="4206240"/>
            <a:ext cx="3471672" cy="1417320"/>
          </a:xfrm>
          <a:prstGeom prst="roundRect">
            <a:avLst>
              <a:gd name="adj" fmla="val 5161"/>
            </a:avLst>
          </a:prstGeom>
          <a:solidFill>
            <a:srgbClr val="F4F7FB"/>
          </a:solidFill>
          <a:ln w="12700">
            <a:solidFill>
              <a:srgbClr val="E2E8F0"/>
            </a:solidFill>
            <a:prstDash val="solid"/>
          </a:ln>
          <a:effectLst>
            <a:outerShdw blurRad="88900" dist="38100" dir="5400000" algn="bl" rotWithShape="0">
              <a:srgbClr val="000000">
                <a:alpha val="14000"/>
              </a:srgbClr>
            </a:outerShdw>
          </a:effectLst>
        </p:spPr>
      </p:sp>
      <p:pic>
        <p:nvPicPr>
          <p:cNvPr id="30" name="Image 3" descr="preencoded.png"/>
          <p:cNvPicPr>
            <a:picLocks noChangeAspect="1"/>
          </p:cNvPicPr>
          <p:nvPr/>
        </p:nvPicPr>
        <p:blipFill>
          <a:blip r:embed="rId5"/>
          <a:stretch>
            <a:fillRect/>
          </a:stretch>
        </p:blipFill>
        <p:spPr>
          <a:xfrm>
            <a:off x="8378952" y="4407408"/>
            <a:ext cx="329184" cy="329184"/>
          </a:xfrm>
          <a:prstGeom prst="rect">
            <a:avLst/>
          </a:prstGeom>
        </p:spPr>
      </p:pic>
      <p:sp>
        <p:nvSpPr>
          <p:cNvPr id="31" name="Text 25"/>
          <p:cNvSpPr/>
          <p:nvPr/>
        </p:nvSpPr>
        <p:spPr>
          <a:xfrm>
            <a:off x="8836152" y="4370832"/>
            <a:ext cx="2648712" cy="365760"/>
          </a:xfrm>
          <a:prstGeom prst="rect">
            <a:avLst/>
          </a:prstGeom>
          <a:noFill/>
          <a:ln/>
        </p:spPr>
        <p:txBody>
          <a:bodyPr wrap="square" rtlCol="0" anchor="ctr"/>
          <a:lstStyle/>
          <a:p>
            <a:pPr marL="0" indent="0">
              <a:buNone/>
            </a:pPr>
            <a:r>
              <a:rPr lang="en-US" sz="1400" b="1" dirty="0">
                <a:solidFill>
                  <a:srgbClr val="1E293B"/>
                </a:solidFill>
                <a:latin typeface="Cambria" pitchFamily="34" charset="0"/>
                <a:ea typeface="Cambria" pitchFamily="34" charset="-122"/>
                <a:cs typeface="Cambria" pitchFamily="34" charset="-120"/>
              </a:rPr>
              <a:t>Guardrails</a:t>
            </a:r>
            <a:endParaRPr lang="en-US" sz="1400" dirty="0"/>
          </a:p>
        </p:txBody>
      </p:sp>
      <p:sp>
        <p:nvSpPr>
          <p:cNvPr id="32" name="Text 26"/>
          <p:cNvSpPr/>
          <p:nvPr/>
        </p:nvSpPr>
        <p:spPr>
          <a:xfrm>
            <a:off x="8424672" y="4800600"/>
            <a:ext cx="2968752" cy="731520"/>
          </a:xfrm>
          <a:prstGeom prst="rect">
            <a:avLst/>
          </a:prstGeom>
          <a:noFill/>
          <a:ln/>
        </p:spPr>
        <p:txBody>
          <a:bodyPr wrap="square" rtlCol="0" anchor="t"/>
          <a:lstStyle/>
          <a:p>
            <a:pPr marL="0" indent="0">
              <a:buNone/>
            </a:pPr>
            <a:r>
              <a:rPr lang="en-US" sz="1200" dirty="0">
                <a:solidFill>
                  <a:srgbClr val="64748B"/>
                </a:solidFill>
                <a:latin typeface="Calibri" pitchFamily="34" charset="0"/>
                <a:ea typeface="Calibri" pitchFamily="34" charset="-122"/>
                <a:cs typeface="Calibri" pitchFamily="34" charset="-120"/>
              </a:rPr>
              <a:t>Severity thresholds, low-confidence escalation, full audit log</a:t>
            </a:r>
            <a:endParaRPr lang="en-US" sz="1200" dirty="0"/>
          </a:p>
        </p:txBody>
      </p:sp>
      <p:sp>
        <p:nvSpPr>
          <p:cNvPr id="33" name="Text 27"/>
          <p:cNvSpPr/>
          <p:nvPr/>
        </p:nvSpPr>
        <p:spPr>
          <a:xfrm>
            <a:off x="11365992" y="6400800"/>
            <a:ext cx="457200" cy="274320"/>
          </a:xfrm>
          <a:prstGeom prst="rect">
            <a:avLst/>
          </a:prstGeom>
          <a:noFill/>
          <a:ln/>
        </p:spPr>
        <p:txBody>
          <a:bodyPr wrap="square"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18</a:t>
            </a:r>
            <a:endParaRPr lang="en-US" sz="1000" dirty="0"/>
          </a:p>
        </p:txBody>
      </p:sp>
      <p:sp>
        <p:nvSpPr>
          <p:cNvPr id="34" name="Text 28"/>
          <p:cNvSpPr/>
          <p:nvPr/>
        </p:nvSpPr>
        <p:spPr>
          <a:xfrm>
            <a:off x="566928" y="6400800"/>
            <a:ext cx="3657600" cy="274320"/>
          </a:xfrm>
          <a:prstGeom prst="rect">
            <a:avLst/>
          </a:prstGeom>
          <a:noFill/>
          <a:ln/>
        </p:spPr>
        <p:txBody>
          <a:bodyPr wrap="square" rtlCol="0" anchor="ctr"/>
          <a:lstStyle/>
          <a:p>
            <a:pPr marL="0" indent="0" algn="l">
              <a:buNone/>
            </a:pPr>
            <a:r>
              <a:rPr lang="en-US" sz="1000" dirty="0">
                <a:solidFill>
                  <a:srgbClr val="64748B"/>
                </a:solidFill>
                <a:latin typeface="Calibri" pitchFamily="34" charset="0"/>
                <a:ea typeface="Calibri" pitchFamily="34" charset="-122"/>
                <a:cs typeface="Calibri" pitchFamily="34" charset="-120"/>
              </a:rPr>
              <a:t>SentinelMesh</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57200"/>
            <a:ext cx="566928" cy="566928"/>
          </a:xfrm>
          <a:prstGeom prst="ellipse">
            <a:avLst/>
          </a:prstGeom>
          <a:solidFill>
            <a:srgbClr val="0E1726"/>
          </a:solidFill>
          <a:ln/>
        </p:spPr>
      </p:sp>
      <p:pic>
        <p:nvPicPr>
          <p:cNvPr id="3" name="Image 0" descr="preencoded.png"/>
          <p:cNvPicPr>
            <a:picLocks noChangeAspect="1"/>
          </p:cNvPicPr>
          <p:nvPr/>
        </p:nvPicPr>
        <p:blipFill>
          <a:blip r:embed="rId3"/>
          <a:stretch>
            <a:fillRect/>
          </a:stretch>
        </p:blipFill>
        <p:spPr>
          <a:xfrm>
            <a:off x="704088" y="594360"/>
            <a:ext cx="292608" cy="292608"/>
          </a:xfrm>
          <a:prstGeom prst="rect">
            <a:avLst/>
          </a:prstGeom>
        </p:spPr>
      </p:pic>
      <p:sp>
        <p:nvSpPr>
          <p:cNvPr id="4" name="Text 1"/>
          <p:cNvSpPr/>
          <p:nvPr/>
        </p:nvSpPr>
        <p:spPr>
          <a:xfrm>
            <a:off x="1298448" y="457200"/>
            <a:ext cx="9144000" cy="274320"/>
          </a:xfrm>
          <a:prstGeom prst="rect">
            <a:avLst/>
          </a:prstGeom>
          <a:noFill/>
          <a:ln/>
        </p:spPr>
        <p:txBody>
          <a:bodyPr wrap="square" rtlCol="0" anchor="ctr"/>
          <a:lstStyle/>
          <a:p>
            <a:pPr marL="0" indent="0">
              <a:buNone/>
            </a:pPr>
            <a:r>
              <a:rPr lang="en-US" sz="1200" b="1" kern="0" spc="300" dirty="0">
                <a:solidFill>
                  <a:srgbClr val="0E7490"/>
                </a:solidFill>
                <a:latin typeface="Calibri" pitchFamily="34" charset="0"/>
                <a:ea typeface="Calibri" pitchFamily="34" charset="-122"/>
                <a:cs typeface="Calibri" pitchFamily="34" charset="-120"/>
              </a:rPr>
              <a:t>HONEST ASSESSMENT</a:t>
            </a:r>
            <a:endParaRPr lang="en-US" sz="1200" dirty="0"/>
          </a:p>
        </p:txBody>
      </p:sp>
      <p:sp>
        <p:nvSpPr>
          <p:cNvPr id="5" name="Text 2"/>
          <p:cNvSpPr/>
          <p:nvPr/>
        </p:nvSpPr>
        <p:spPr>
          <a:xfrm>
            <a:off x="1298448" y="694944"/>
            <a:ext cx="10341864" cy="502920"/>
          </a:xfrm>
          <a:prstGeom prst="rect">
            <a:avLst/>
          </a:prstGeom>
          <a:noFill/>
          <a:ln/>
        </p:spPr>
        <p:txBody>
          <a:bodyPr wrap="square" rtlCol="0" anchor="ctr"/>
          <a:lstStyle/>
          <a:p>
            <a:pPr marL="0" indent="0">
              <a:buNone/>
            </a:pPr>
            <a:r>
              <a:rPr lang="en-US" sz="2800" b="1" dirty="0">
                <a:solidFill>
                  <a:srgbClr val="1E293B"/>
                </a:solidFill>
                <a:latin typeface="Cambria" pitchFamily="34" charset="0"/>
                <a:ea typeface="Cambria" pitchFamily="34" charset="-122"/>
                <a:cs typeface="Cambria" pitchFamily="34" charset="-120"/>
              </a:rPr>
              <a:t>Limitations &amp; next steps</a:t>
            </a:r>
            <a:endParaRPr lang="en-US" sz="2800" dirty="0"/>
          </a:p>
        </p:txBody>
      </p:sp>
      <p:sp>
        <p:nvSpPr>
          <p:cNvPr id="6" name="Shape 3"/>
          <p:cNvSpPr/>
          <p:nvPr/>
        </p:nvSpPr>
        <p:spPr>
          <a:xfrm>
            <a:off x="566928" y="1737360"/>
            <a:ext cx="5486400" cy="3886200"/>
          </a:xfrm>
          <a:prstGeom prst="roundRect">
            <a:avLst>
              <a:gd name="adj" fmla="val 1882"/>
            </a:avLst>
          </a:prstGeom>
          <a:solidFill>
            <a:srgbClr val="FFFFFF"/>
          </a:solidFill>
          <a:ln w="12700">
            <a:solidFill>
              <a:srgbClr val="E2E8F0"/>
            </a:solidFill>
            <a:prstDash val="solid"/>
          </a:ln>
          <a:effectLst>
            <a:outerShdw blurRad="88900" dist="38100" dir="5400000" algn="bl" rotWithShape="0">
              <a:srgbClr val="000000">
                <a:alpha val="14000"/>
              </a:srgbClr>
            </a:outerShdw>
          </a:effectLst>
        </p:spPr>
      </p:sp>
      <p:sp>
        <p:nvSpPr>
          <p:cNvPr id="7" name="Text 4"/>
          <p:cNvSpPr/>
          <p:nvPr/>
        </p:nvSpPr>
        <p:spPr>
          <a:xfrm>
            <a:off x="841248" y="1920240"/>
            <a:ext cx="4937760" cy="365760"/>
          </a:xfrm>
          <a:prstGeom prst="rect">
            <a:avLst/>
          </a:prstGeom>
          <a:noFill/>
          <a:ln/>
        </p:spPr>
        <p:txBody>
          <a:bodyPr wrap="square" rtlCol="0" anchor="ctr"/>
          <a:lstStyle/>
          <a:p>
            <a:pPr marL="0" indent="0">
              <a:buNone/>
            </a:pPr>
            <a:r>
              <a:rPr lang="en-US" sz="1700" b="1" dirty="0">
                <a:solidFill>
                  <a:srgbClr val="EF4444"/>
                </a:solidFill>
                <a:latin typeface="Cambria" pitchFamily="34" charset="0"/>
                <a:ea typeface="Cambria" pitchFamily="34" charset="-122"/>
                <a:cs typeface="Cambria" pitchFamily="34" charset="-120"/>
              </a:rPr>
              <a:t>Limitations</a:t>
            </a:r>
            <a:endParaRPr lang="en-US" sz="1700" dirty="0"/>
          </a:p>
        </p:txBody>
      </p:sp>
      <p:sp>
        <p:nvSpPr>
          <p:cNvPr id="8" name="Text 5"/>
          <p:cNvSpPr/>
          <p:nvPr/>
        </p:nvSpPr>
        <p:spPr>
          <a:xfrm>
            <a:off x="841248" y="2377440"/>
            <a:ext cx="5029200" cy="3108960"/>
          </a:xfrm>
          <a:prstGeom prst="rect">
            <a:avLst/>
          </a:prstGeom>
          <a:noFill/>
          <a:ln/>
        </p:spPr>
        <p:txBody>
          <a:bodyPr wrap="square" rtlCol="0" anchor="t"/>
          <a:lstStyle/>
          <a:p>
            <a:pPr marL="342900" indent="-342900">
              <a:spcAft>
                <a:spcPts val="1000"/>
              </a:spcAft>
              <a:buSzPct val="100000"/>
              <a:buChar char="•"/>
            </a:pPr>
            <a:r>
              <a:rPr lang="en-US" sz="1350" dirty="0">
                <a:solidFill>
                  <a:srgbClr val="1E293B"/>
                </a:solidFill>
                <a:latin typeface="Calibri" pitchFamily="34" charset="0"/>
                <a:ea typeface="Calibri" pitchFamily="34" charset="-122"/>
                <a:cs typeface="Calibri" pitchFamily="34" charset="-120"/>
              </a:rPr>
              <a:t>Flow-statistics-only input caps fine-grained classification (floods indistinguishable; recon ≈ benign).</a:t>
            </a:r>
            <a:endParaRPr lang="en-US" sz="1350" dirty="0"/>
          </a:p>
          <a:p>
            <a:pPr marL="342900" indent="-342900">
              <a:spcAft>
                <a:spcPts val="1000"/>
              </a:spcAft>
              <a:buSzPct val="100000"/>
              <a:buChar char="•"/>
            </a:pPr>
            <a:r>
              <a:rPr lang="en-US" sz="1350" dirty="0">
                <a:solidFill>
                  <a:srgbClr val="1E293B"/>
                </a:solidFill>
                <a:latin typeface="Calibri" pitchFamily="34" charset="0"/>
                <a:ea typeface="Calibri" pitchFamily="34" charset="-122"/>
                <a:cs typeface="Calibri" pitchFamily="34" charset="-120"/>
              </a:rPr>
              <a:t>Small evaluation set (12 alerts) — directional, not statistically robust.</a:t>
            </a:r>
            <a:endParaRPr lang="en-US" sz="1350" dirty="0"/>
          </a:p>
          <a:p>
            <a:pPr marL="342900" indent="-342900">
              <a:spcAft>
                <a:spcPts val="1000"/>
              </a:spcAft>
              <a:buSzPct val="100000"/>
              <a:buChar char="•"/>
            </a:pPr>
            <a:r>
              <a:rPr lang="en-US" sz="1350" dirty="0">
                <a:solidFill>
                  <a:srgbClr val="1E293B"/>
                </a:solidFill>
                <a:latin typeface="Calibri" pitchFamily="34" charset="0"/>
                <a:ea typeface="Calibri" pitchFamily="34" charset="-122"/>
                <a:cs typeface="Calibri" pitchFamily="34" charset="-120"/>
              </a:rPr>
              <a:t>Structured make_judge blocked by workspace endpoints; used fallback + manual judges.</a:t>
            </a:r>
            <a:endParaRPr lang="en-US" sz="1350" dirty="0"/>
          </a:p>
          <a:p>
            <a:pPr marL="342900" indent="-342900">
              <a:spcAft>
                <a:spcPts val="1000"/>
              </a:spcAft>
              <a:buSzPct val="100000"/>
              <a:buChar char="•"/>
            </a:pPr>
            <a:r>
              <a:rPr lang="en-US" sz="1350" dirty="0">
                <a:solidFill>
                  <a:srgbClr val="1E293B"/>
                </a:solidFill>
                <a:latin typeface="Calibri" pitchFamily="34" charset="0"/>
                <a:ea typeface="Calibri" pitchFamily="34" charset="-122"/>
                <a:cs typeface="Calibri" pitchFamily="34" charset="-120"/>
              </a:rPr>
              <a:t>No temporal or multi-flow context (single-row alerts).</a:t>
            </a:r>
            <a:endParaRPr lang="en-US" sz="1350" dirty="0"/>
          </a:p>
        </p:txBody>
      </p:sp>
      <p:sp>
        <p:nvSpPr>
          <p:cNvPr id="9" name="Shape 6"/>
          <p:cNvSpPr/>
          <p:nvPr/>
        </p:nvSpPr>
        <p:spPr>
          <a:xfrm>
            <a:off x="6675120" y="1737360"/>
            <a:ext cx="4937760" cy="3886200"/>
          </a:xfrm>
          <a:prstGeom prst="roundRect">
            <a:avLst>
              <a:gd name="adj" fmla="val 1882"/>
            </a:avLst>
          </a:prstGeom>
          <a:solidFill>
            <a:srgbClr val="FFFFFF"/>
          </a:solidFill>
          <a:ln w="12700">
            <a:solidFill>
              <a:srgbClr val="E2E8F0"/>
            </a:solidFill>
            <a:prstDash val="solid"/>
          </a:ln>
          <a:effectLst>
            <a:outerShdw blurRad="88900" dist="38100" dir="5400000" algn="bl" rotWithShape="0">
              <a:srgbClr val="000000">
                <a:alpha val="14000"/>
              </a:srgbClr>
            </a:outerShdw>
          </a:effectLst>
        </p:spPr>
      </p:sp>
      <p:sp>
        <p:nvSpPr>
          <p:cNvPr id="10" name="Text 7"/>
          <p:cNvSpPr/>
          <p:nvPr/>
        </p:nvSpPr>
        <p:spPr>
          <a:xfrm>
            <a:off x="6949440" y="1920240"/>
            <a:ext cx="4389120" cy="365760"/>
          </a:xfrm>
          <a:prstGeom prst="rect">
            <a:avLst/>
          </a:prstGeom>
          <a:noFill/>
          <a:ln/>
        </p:spPr>
        <p:txBody>
          <a:bodyPr wrap="square" rtlCol="0" anchor="ctr"/>
          <a:lstStyle/>
          <a:p>
            <a:pPr marL="0" indent="0">
              <a:buNone/>
            </a:pPr>
            <a:r>
              <a:rPr lang="en-US" sz="1700" b="1" dirty="0">
                <a:solidFill>
                  <a:srgbClr val="10B981"/>
                </a:solidFill>
                <a:latin typeface="Cambria" pitchFamily="34" charset="0"/>
                <a:ea typeface="Cambria" pitchFamily="34" charset="-122"/>
                <a:cs typeface="Cambria" pitchFamily="34" charset="-120"/>
              </a:rPr>
              <a:t>Next steps</a:t>
            </a:r>
            <a:endParaRPr lang="en-US" sz="1700" dirty="0"/>
          </a:p>
        </p:txBody>
      </p:sp>
      <p:sp>
        <p:nvSpPr>
          <p:cNvPr id="11" name="Text 8"/>
          <p:cNvSpPr/>
          <p:nvPr/>
        </p:nvSpPr>
        <p:spPr>
          <a:xfrm>
            <a:off x="6949440" y="2377440"/>
            <a:ext cx="4480560" cy="3108960"/>
          </a:xfrm>
          <a:prstGeom prst="rect">
            <a:avLst/>
          </a:prstGeom>
          <a:noFill/>
          <a:ln/>
        </p:spPr>
        <p:txBody>
          <a:bodyPr wrap="square" rtlCol="0" anchor="t"/>
          <a:lstStyle/>
          <a:p>
            <a:pPr marL="342900" indent="-342900">
              <a:spcAft>
                <a:spcPts val="900"/>
              </a:spcAft>
              <a:buSzPct val="100000"/>
              <a:buChar char="•"/>
            </a:pPr>
            <a:r>
              <a:rPr lang="en-US" sz="1350" dirty="0">
                <a:solidFill>
                  <a:srgbClr val="1E293B"/>
                </a:solidFill>
                <a:latin typeface="Calibri" pitchFamily="34" charset="0"/>
                <a:ea typeface="Calibri" pitchFamily="34" charset="-122"/>
                <a:cs typeface="Calibri" pitchFamily="34" charset="-120"/>
              </a:rPr>
              <a:t>Add a grounding tool — vector search over labelled example flows — to lift exact-family accuracy.</a:t>
            </a:r>
            <a:endParaRPr lang="en-US" sz="1350" dirty="0"/>
          </a:p>
          <a:p>
            <a:pPr marL="342900" indent="-342900">
              <a:spcAft>
                <a:spcPts val="900"/>
              </a:spcAft>
              <a:buSzPct val="100000"/>
              <a:buChar char="•"/>
            </a:pPr>
            <a:r>
              <a:rPr lang="en-US" sz="1350" dirty="0">
                <a:solidFill>
                  <a:srgbClr val="1E293B"/>
                </a:solidFill>
                <a:latin typeface="Calibri" pitchFamily="34" charset="0"/>
                <a:ea typeface="Calibri" pitchFamily="34" charset="-122"/>
                <a:cs typeface="Calibri" pitchFamily="34" charset="-120"/>
              </a:rPr>
              <a:t>Expand the eval set and add a confusion matrix.</a:t>
            </a:r>
            <a:endParaRPr lang="en-US" sz="1350" dirty="0"/>
          </a:p>
          <a:p>
            <a:pPr marL="342900" indent="-342900">
              <a:spcAft>
                <a:spcPts val="900"/>
              </a:spcAft>
              <a:buSzPct val="100000"/>
              <a:buChar char="•"/>
            </a:pPr>
            <a:r>
              <a:rPr lang="en-US" sz="1350" dirty="0">
                <a:solidFill>
                  <a:srgbClr val="1E293B"/>
                </a:solidFill>
                <a:latin typeface="Calibri" pitchFamily="34" charset="0"/>
                <a:ea typeface="Calibri" pitchFamily="34" charset="-122"/>
                <a:cs typeface="Calibri" pitchFamily="34" charset="-120"/>
              </a:rPr>
              <a:t>Align the judge to human feedback once a structured-scoring endpoint is available.</a:t>
            </a:r>
            <a:endParaRPr lang="en-US" sz="1350" dirty="0"/>
          </a:p>
          <a:p>
            <a:pPr marL="342900" indent="-342900">
              <a:spcAft>
                <a:spcPts val="900"/>
              </a:spcAft>
              <a:buSzPct val="100000"/>
              <a:buChar char="•"/>
            </a:pPr>
            <a:r>
              <a:rPr lang="en-US" sz="1350" dirty="0">
                <a:solidFill>
                  <a:srgbClr val="1E293B"/>
                </a:solidFill>
                <a:latin typeface="Calibri" pitchFamily="34" charset="0"/>
                <a:ea typeface="Calibri" pitchFamily="34" charset="-122"/>
                <a:cs typeface="Calibri" pitchFamily="34" charset="-120"/>
              </a:rPr>
              <a:t>Tune the prompt to exploit the richer fields (counts, TTL, variance).</a:t>
            </a:r>
            <a:endParaRPr lang="en-US" sz="1350" dirty="0"/>
          </a:p>
          <a:p>
            <a:pPr marL="342900" indent="-342900">
              <a:spcAft>
                <a:spcPts val="900"/>
              </a:spcAft>
              <a:buSzPct val="100000"/>
              <a:buChar char="•"/>
            </a:pPr>
            <a:r>
              <a:rPr lang="en-US" sz="1350" dirty="0">
                <a:solidFill>
                  <a:srgbClr val="1E293B"/>
                </a:solidFill>
                <a:latin typeface="Calibri" pitchFamily="34" charset="0"/>
                <a:ea typeface="Calibri" pitchFamily="34" charset="-122"/>
                <a:cs typeface="Calibri" pitchFamily="34" charset="-120"/>
              </a:rPr>
              <a:t>Emit confidence scores + escalation thresholds.</a:t>
            </a:r>
            <a:endParaRPr lang="en-US" sz="1350" dirty="0"/>
          </a:p>
        </p:txBody>
      </p:sp>
      <p:sp>
        <p:nvSpPr>
          <p:cNvPr id="12" name="Text 9"/>
          <p:cNvSpPr/>
          <p:nvPr/>
        </p:nvSpPr>
        <p:spPr>
          <a:xfrm>
            <a:off x="11365992" y="6400800"/>
            <a:ext cx="457200" cy="274320"/>
          </a:xfrm>
          <a:prstGeom prst="rect">
            <a:avLst/>
          </a:prstGeom>
          <a:noFill/>
          <a:ln/>
        </p:spPr>
        <p:txBody>
          <a:bodyPr wrap="square"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19</a:t>
            </a:r>
            <a:endParaRPr lang="en-US" sz="1000" dirty="0"/>
          </a:p>
        </p:txBody>
      </p:sp>
      <p:sp>
        <p:nvSpPr>
          <p:cNvPr id="13" name="Text 10"/>
          <p:cNvSpPr/>
          <p:nvPr/>
        </p:nvSpPr>
        <p:spPr>
          <a:xfrm>
            <a:off x="566928" y="6400800"/>
            <a:ext cx="3657600" cy="274320"/>
          </a:xfrm>
          <a:prstGeom prst="rect">
            <a:avLst/>
          </a:prstGeom>
          <a:noFill/>
          <a:ln/>
        </p:spPr>
        <p:txBody>
          <a:bodyPr wrap="square" rtlCol="0" anchor="ctr"/>
          <a:lstStyle/>
          <a:p>
            <a:pPr marL="0" indent="0" algn="l">
              <a:buNone/>
            </a:pPr>
            <a:r>
              <a:rPr lang="en-US" sz="1000" dirty="0">
                <a:solidFill>
                  <a:srgbClr val="64748B"/>
                </a:solidFill>
                <a:latin typeface="Calibri" pitchFamily="34" charset="0"/>
                <a:ea typeface="Calibri" pitchFamily="34" charset="-122"/>
                <a:cs typeface="Calibri" pitchFamily="34" charset="-120"/>
              </a:rPr>
              <a:t>SentinelMesh</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57200"/>
            <a:ext cx="566928" cy="566928"/>
          </a:xfrm>
          <a:prstGeom prst="ellipse">
            <a:avLst/>
          </a:prstGeom>
          <a:solidFill>
            <a:srgbClr val="0E1726"/>
          </a:solidFill>
          <a:ln/>
        </p:spPr>
      </p:sp>
      <p:pic>
        <p:nvPicPr>
          <p:cNvPr id="3" name="Image 0" descr="preencoded.png"/>
          <p:cNvPicPr>
            <a:picLocks noChangeAspect="1"/>
          </p:cNvPicPr>
          <p:nvPr/>
        </p:nvPicPr>
        <p:blipFill>
          <a:blip r:embed="rId3"/>
          <a:stretch>
            <a:fillRect/>
          </a:stretch>
        </p:blipFill>
        <p:spPr>
          <a:xfrm>
            <a:off x="704088" y="594360"/>
            <a:ext cx="292608" cy="292608"/>
          </a:xfrm>
          <a:prstGeom prst="rect">
            <a:avLst/>
          </a:prstGeom>
        </p:spPr>
      </p:pic>
      <p:sp>
        <p:nvSpPr>
          <p:cNvPr id="4" name="Text 1"/>
          <p:cNvSpPr/>
          <p:nvPr/>
        </p:nvSpPr>
        <p:spPr>
          <a:xfrm>
            <a:off x="1298448" y="457200"/>
            <a:ext cx="9144000" cy="274320"/>
          </a:xfrm>
          <a:prstGeom prst="rect">
            <a:avLst/>
          </a:prstGeom>
          <a:noFill/>
          <a:ln/>
        </p:spPr>
        <p:txBody>
          <a:bodyPr wrap="square" rtlCol="0" anchor="ctr"/>
          <a:lstStyle/>
          <a:p>
            <a:pPr marL="0" indent="0">
              <a:buNone/>
            </a:pPr>
            <a:r>
              <a:rPr lang="en-US" sz="1200" b="1" kern="0" spc="300" dirty="0">
                <a:solidFill>
                  <a:srgbClr val="0E7490"/>
                </a:solidFill>
                <a:latin typeface="Calibri" pitchFamily="34" charset="0"/>
                <a:ea typeface="Calibri" pitchFamily="34" charset="-122"/>
                <a:cs typeface="Calibri" pitchFamily="34" charset="-120"/>
              </a:rPr>
              <a:t>ACADEMIC INTEGRITY</a:t>
            </a:r>
            <a:endParaRPr lang="en-US" sz="1200" dirty="0"/>
          </a:p>
        </p:txBody>
      </p:sp>
      <p:sp>
        <p:nvSpPr>
          <p:cNvPr id="5" name="Text 2"/>
          <p:cNvSpPr/>
          <p:nvPr/>
        </p:nvSpPr>
        <p:spPr>
          <a:xfrm>
            <a:off x="1298448" y="694944"/>
            <a:ext cx="10341864" cy="502920"/>
          </a:xfrm>
          <a:prstGeom prst="rect">
            <a:avLst/>
          </a:prstGeom>
          <a:noFill/>
          <a:ln/>
        </p:spPr>
        <p:txBody>
          <a:bodyPr wrap="square" rtlCol="0" anchor="ctr"/>
          <a:lstStyle/>
          <a:p>
            <a:pPr marL="0" indent="0">
              <a:buNone/>
            </a:pPr>
            <a:r>
              <a:rPr lang="en-US" sz="2800" b="1" dirty="0">
                <a:solidFill>
                  <a:srgbClr val="1E293B"/>
                </a:solidFill>
                <a:latin typeface="Cambria" pitchFamily="34" charset="0"/>
                <a:ea typeface="Cambria" pitchFamily="34" charset="-122"/>
                <a:cs typeface="Cambria" pitchFamily="34" charset="-120"/>
              </a:rPr>
              <a:t>AI usage disclosure</a:t>
            </a:r>
            <a:endParaRPr lang="en-US" sz="2800" dirty="0"/>
          </a:p>
        </p:txBody>
      </p:sp>
      <p:sp>
        <p:nvSpPr>
          <p:cNvPr id="6" name="Shape 3"/>
          <p:cNvSpPr/>
          <p:nvPr/>
        </p:nvSpPr>
        <p:spPr>
          <a:xfrm>
            <a:off x="566928" y="1691640"/>
            <a:ext cx="11055096" cy="1371600"/>
          </a:xfrm>
          <a:prstGeom prst="roundRect">
            <a:avLst>
              <a:gd name="adj" fmla="val 5333"/>
            </a:avLst>
          </a:prstGeom>
          <a:solidFill>
            <a:srgbClr val="F4F7FB"/>
          </a:solidFill>
          <a:ln w="12700">
            <a:solidFill>
              <a:srgbClr val="E2E8F0"/>
            </a:solidFill>
            <a:prstDash val="solid"/>
          </a:ln>
          <a:effectLst>
            <a:outerShdw blurRad="88900" dist="38100" dir="5400000" algn="bl" rotWithShape="0">
              <a:srgbClr val="000000">
                <a:alpha val="14000"/>
              </a:srgbClr>
            </a:outerShdw>
          </a:effectLst>
        </p:spPr>
      </p:sp>
      <p:sp>
        <p:nvSpPr>
          <p:cNvPr id="7" name="Text 4"/>
          <p:cNvSpPr/>
          <p:nvPr/>
        </p:nvSpPr>
        <p:spPr>
          <a:xfrm>
            <a:off x="841248" y="1874520"/>
            <a:ext cx="10506456" cy="1005840"/>
          </a:xfrm>
          <a:prstGeom prst="rect">
            <a:avLst/>
          </a:prstGeom>
          <a:noFill/>
          <a:ln/>
        </p:spPr>
        <p:txBody>
          <a:bodyPr wrap="square" rtlCol="0" anchor="ctr"/>
          <a:lstStyle/>
          <a:p>
            <a:pPr marL="0" indent="0">
              <a:lnSpc>
                <a:spcPct val="110000"/>
              </a:lnSpc>
              <a:buNone/>
            </a:pPr>
            <a:r>
              <a:rPr lang="en-US" sz="1450" dirty="0">
                <a:solidFill>
                  <a:srgbClr val="1E293B"/>
                </a:solidFill>
                <a:latin typeface="Calibri" pitchFamily="34" charset="0"/>
                <a:ea typeface="Calibri" pitchFamily="34" charset="-122"/>
                <a:cs typeface="Calibri" pitchFamily="34" charset="-120"/>
              </a:rPr>
              <a:t>AI tools were used to assist development, and are disclosed here per the USD Code of Honor. </a:t>
            </a:r>
            <a:r>
              <a:rPr lang="en-US" sz="1450" b="1" dirty="0">
                <a:solidFill>
                  <a:srgbClr val="1E293B"/>
                </a:solidFill>
                <a:latin typeface="Calibri" pitchFamily="34" charset="0"/>
                <a:ea typeface="Calibri" pitchFamily="34" charset="-122"/>
                <a:cs typeface="Calibri" pitchFamily="34" charset="-120"/>
              </a:rPr>
              <a:t>All AI-assisted code was reviewed, tested, modified, and understood by the team; the analysis and commentary are our own.</a:t>
            </a:r>
            <a:endParaRPr lang="en-US" sz="1450" dirty="0"/>
          </a:p>
        </p:txBody>
      </p:sp>
      <p:sp>
        <p:nvSpPr>
          <p:cNvPr id="8" name="Shape 5"/>
          <p:cNvSpPr/>
          <p:nvPr/>
        </p:nvSpPr>
        <p:spPr>
          <a:xfrm>
            <a:off x="566928" y="3246120"/>
            <a:ext cx="5440680" cy="2377440"/>
          </a:xfrm>
          <a:prstGeom prst="roundRect">
            <a:avLst>
              <a:gd name="adj" fmla="val 3077"/>
            </a:avLst>
          </a:prstGeom>
          <a:solidFill>
            <a:srgbClr val="FFFFFF"/>
          </a:solidFill>
          <a:ln w="12700">
            <a:solidFill>
              <a:srgbClr val="E2E8F0"/>
            </a:solidFill>
            <a:prstDash val="solid"/>
          </a:ln>
          <a:effectLst>
            <a:outerShdw blurRad="88900" dist="38100" dir="5400000" algn="bl" rotWithShape="0">
              <a:srgbClr val="000000">
                <a:alpha val="14000"/>
              </a:srgbClr>
            </a:outerShdw>
          </a:effectLst>
        </p:spPr>
      </p:sp>
      <p:sp>
        <p:nvSpPr>
          <p:cNvPr id="9" name="Shape 6"/>
          <p:cNvSpPr/>
          <p:nvPr/>
        </p:nvSpPr>
        <p:spPr>
          <a:xfrm>
            <a:off x="795528" y="3456432"/>
            <a:ext cx="548640" cy="548640"/>
          </a:xfrm>
          <a:prstGeom prst="ellipse">
            <a:avLst/>
          </a:prstGeom>
          <a:solidFill>
            <a:srgbClr val="0E1726"/>
          </a:solidFill>
          <a:ln/>
        </p:spPr>
      </p:sp>
      <p:pic>
        <p:nvPicPr>
          <p:cNvPr id="10" name="Image 1" descr="preencoded.png"/>
          <p:cNvPicPr>
            <a:picLocks noChangeAspect="1"/>
          </p:cNvPicPr>
          <p:nvPr/>
        </p:nvPicPr>
        <p:blipFill>
          <a:blip r:embed="rId4"/>
          <a:stretch>
            <a:fillRect/>
          </a:stretch>
        </p:blipFill>
        <p:spPr>
          <a:xfrm>
            <a:off x="923544" y="3584448"/>
            <a:ext cx="292608" cy="292608"/>
          </a:xfrm>
          <a:prstGeom prst="rect">
            <a:avLst/>
          </a:prstGeom>
        </p:spPr>
      </p:pic>
      <p:sp>
        <p:nvSpPr>
          <p:cNvPr id="11" name="Text 7"/>
          <p:cNvSpPr/>
          <p:nvPr/>
        </p:nvSpPr>
        <p:spPr>
          <a:xfrm>
            <a:off x="1481328" y="3474720"/>
            <a:ext cx="4297680" cy="512064"/>
          </a:xfrm>
          <a:prstGeom prst="rect">
            <a:avLst/>
          </a:prstGeom>
          <a:noFill/>
          <a:ln/>
        </p:spPr>
        <p:txBody>
          <a:bodyPr wrap="square" rtlCol="0" anchor="ctr"/>
          <a:lstStyle/>
          <a:p>
            <a:pPr marL="0" indent="0">
              <a:buNone/>
            </a:pPr>
            <a:r>
              <a:rPr lang="en-US" sz="1550" b="1" dirty="0">
                <a:solidFill>
                  <a:srgbClr val="0E7490"/>
                </a:solidFill>
                <a:latin typeface="Cambria" pitchFamily="34" charset="0"/>
                <a:ea typeface="Cambria" pitchFamily="34" charset="-122"/>
                <a:cs typeface="Cambria" pitchFamily="34" charset="-120"/>
              </a:rPr>
              <a:t>AI assisted with</a:t>
            </a:r>
            <a:endParaRPr lang="en-US" sz="1550" dirty="0"/>
          </a:p>
        </p:txBody>
      </p:sp>
      <p:sp>
        <p:nvSpPr>
          <p:cNvPr id="12" name="Text 8"/>
          <p:cNvSpPr/>
          <p:nvPr/>
        </p:nvSpPr>
        <p:spPr>
          <a:xfrm>
            <a:off x="886968" y="4114800"/>
            <a:ext cx="4937760" cy="1371600"/>
          </a:xfrm>
          <a:prstGeom prst="rect">
            <a:avLst/>
          </a:prstGeom>
          <a:noFill/>
          <a:ln/>
        </p:spPr>
        <p:txBody>
          <a:bodyPr wrap="square" rtlCol="0" anchor="t"/>
          <a:lstStyle/>
          <a:p>
            <a:pPr marL="342900" indent="-342900">
              <a:spcAft>
                <a:spcPts val="700"/>
              </a:spcAft>
              <a:buSzPct val="100000"/>
              <a:buChar char="•"/>
            </a:pPr>
            <a:r>
              <a:rPr lang="en-US" sz="1300" dirty="0">
                <a:solidFill>
                  <a:srgbClr val="1E293B"/>
                </a:solidFill>
                <a:latin typeface="Calibri" pitchFamily="34" charset="0"/>
                <a:ea typeface="Calibri" pitchFamily="34" charset="-122"/>
                <a:cs typeface="Calibri" pitchFamily="34" charset="-120"/>
              </a:rPr>
              <a:t>Code scaffolding &amp; boilerplate</a:t>
            </a:r>
            <a:endParaRPr lang="en-US" sz="1300" dirty="0"/>
          </a:p>
          <a:p>
            <a:pPr marL="342900" indent="-342900">
              <a:spcAft>
                <a:spcPts val="700"/>
              </a:spcAft>
              <a:buSzPct val="100000"/>
              <a:buChar char="•"/>
            </a:pPr>
            <a:r>
              <a:rPr lang="en-US" sz="1300" dirty="0">
                <a:solidFill>
                  <a:srgbClr val="1E293B"/>
                </a:solidFill>
                <a:latin typeface="Calibri" pitchFamily="34" charset="0"/>
                <a:ea typeface="Calibri" pitchFamily="34" charset="-122"/>
                <a:cs typeface="Calibri" pitchFamily="34" charset="-120"/>
              </a:rPr>
              <a:t>Debugging endpoint / judge errors</a:t>
            </a:r>
            <a:endParaRPr lang="en-US" sz="1300" dirty="0"/>
          </a:p>
          <a:p>
            <a:pPr marL="342900" indent="-342900">
              <a:spcAft>
                <a:spcPts val="700"/>
              </a:spcAft>
              <a:buSzPct val="100000"/>
              <a:buChar char="•"/>
            </a:pPr>
            <a:r>
              <a:rPr lang="en-US" sz="1300" dirty="0">
                <a:solidFill>
                  <a:srgbClr val="1E293B"/>
                </a:solidFill>
                <a:latin typeface="Calibri" pitchFamily="34" charset="0"/>
                <a:ea typeface="Calibri" pitchFamily="34" charset="-122"/>
                <a:cs typeface="Calibri" pitchFamily="34" charset="-120"/>
              </a:rPr>
              <a:t>Drafting comments &amp; documentation</a:t>
            </a:r>
            <a:endParaRPr lang="en-US" sz="1300" dirty="0"/>
          </a:p>
          <a:p>
            <a:pPr marL="342900" indent="-342900">
              <a:spcAft>
                <a:spcPts val="700"/>
              </a:spcAft>
              <a:buSzPct val="100000"/>
              <a:buChar char="•"/>
            </a:pPr>
            <a:r>
              <a:rPr lang="en-US" sz="1300" dirty="0">
                <a:solidFill>
                  <a:srgbClr val="1E293B"/>
                </a:solidFill>
                <a:latin typeface="Calibri" pitchFamily="34" charset="0"/>
                <a:ea typeface="Calibri" pitchFamily="34" charset="-122"/>
                <a:cs typeface="Calibri" pitchFamily="34" charset="-120"/>
              </a:rPr>
              <a:t>Structuring this slide deck</a:t>
            </a:r>
            <a:endParaRPr lang="en-US" sz="1300" dirty="0"/>
          </a:p>
        </p:txBody>
      </p:sp>
      <p:sp>
        <p:nvSpPr>
          <p:cNvPr id="13" name="Shape 9"/>
          <p:cNvSpPr/>
          <p:nvPr/>
        </p:nvSpPr>
        <p:spPr>
          <a:xfrm>
            <a:off x="6419088" y="3246120"/>
            <a:ext cx="5440680" cy="2377440"/>
          </a:xfrm>
          <a:prstGeom prst="roundRect">
            <a:avLst>
              <a:gd name="adj" fmla="val 3077"/>
            </a:avLst>
          </a:prstGeom>
          <a:solidFill>
            <a:srgbClr val="FFFFFF"/>
          </a:solidFill>
          <a:ln w="12700">
            <a:solidFill>
              <a:srgbClr val="E2E8F0"/>
            </a:solidFill>
            <a:prstDash val="solid"/>
          </a:ln>
          <a:effectLst>
            <a:outerShdw blurRad="88900" dist="38100" dir="5400000" algn="bl" rotWithShape="0">
              <a:srgbClr val="000000">
                <a:alpha val="14000"/>
              </a:srgbClr>
            </a:outerShdw>
          </a:effectLst>
        </p:spPr>
      </p:sp>
      <p:sp>
        <p:nvSpPr>
          <p:cNvPr id="14" name="Shape 10"/>
          <p:cNvSpPr/>
          <p:nvPr/>
        </p:nvSpPr>
        <p:spPr>
          <a:xfrm>
            <a:off x="6647688" y="3456432"/>
            <a:ext cx="548640" cy="548640"/>
          </a:xfrm>
          <a:prstGeom prst="ellipse">
            <a:avLst/>
          </a:prstGeom>
          <a:solidFill>
            <a:srgbClr val="0E1726"/>
          </a:solidFill>
          <a:ln/>
        </p:spPr>
      </p:sp>
      <p:pic>
        <p:nvPicPr>
          <p:cNvPr id="15" name="Image 2" descr="preencoded.png"/>
          <p:cNvPicPr>
            <a:picLocks noChangeAspect="1"/>
          </p:cNvPicPr>
          <p:nvPr/>
        </p:nvPicPr>
        <p:blipFill>
          <a:blip r:embed="rId5"/>
          <a:stretch>
            <a:fillRect/>
          </a:stretch>
        </p:blipFill>
        <p:spPr>
          <a:xfrm>
            <a:off x="6775704" y="3584448"/>
            <a:ext cx="292608" cy="292608"/>
          </a:xfrm>
          <a:prstGeom prst="rect">
            <a:avLst/>
          </a:prstGeom>
        </p:spPr>
      </p:pic>
      <p:sp>
        <p:nvSpPr>
          <p:cNvPr id="16" name="Text 11"/>
          <p:cNvSpPr/>
          <p:nvPr/>
        </p:nvSpPr>
        <p:spPr>
          <a:xfrm>
            <a:off x="7333488" y="3474720"/>
            <a:ext cx="4297680" cy="512064"/>
          </a:xfrm>
          <a:prstGeom prst="rect">
            <a:avLst/>
          </a:prstGeom>
          <a:noFill/>
          <a:ln/>
        </p:spPr>
        <p:txBody>
          <a:bodyPr wrap="square" rtlCol="0" anchor="ctr"/>
          <a:lstStyle/>
          <a:p>
            <a:pPr marL="0" indent="0">
              <a:buNone/>
            </a:pPr>
            <a:r>
              <a:rPr lang="en-US" sz="1550" b="1" dirty="0">
                <a:solidFill>
                  <a:srgbClr val="10B981"/>
                </a:solidFill>
                <a:latin typeface="Cambria" pitchFamily="34" charset="0"/>
                <a:ea typeface="Cambria" pitchFamily="34" charset="-122"/>
                <a:cs typeface="Cambria" pitchFamily="34" charset="-120"/>
              </a:rPr>
              <a:t>The team owns</a:t>
            </a:r>
            <a:endParaRPr lang="en-US" sz="1550" dirty="0"/>
          </a:p>
        </p:txBody>
      </p:sp>
      <p:sp>
        <p:nvSpPr>
          <p:cNvPr id="17" name="Text 12"/>
          <p:cNvSpPr/>
          <p:nvPr/>
        </p:nvSpPr>
        <p:spPr>
          <a:xfrm>
            <a:off x="6739128" y="4114800"/>
            <a:ext cx="4937760" cy="1371600"/>
          </a:xfrm>
          <a:prstGeom prst="rect">
            <a:avLst/>
          </a:prstGeom>
          <a:noFill/>
          <a:ln/>
        </p:spPr>
        <p:txBody>
          <a:bodyPr wrap="square" rtlCol="0" anchor="t"/>
          <a:lstStyle/>
          <a:p>
            <a:pPr marL="342900" indent="-342900">
              <a:spcAft>
                <a:spcPts val="700"/>
              </a:spcAft>
              <a:buSzPct val="100000"/>
              <a:buChar char="•"/>
            </a:pPr>
            <a:r>
              <a:rPr lang="en-US" sz="1300" dirty="0">
                <a:solidFill>
                  <a:srgbClr val="1E293B"/>
                </a:solidFill>
                <a:latin typeface="Calibri" pitchFamily="34" charset="0"/>
                <a:ea typeface="Calibri" pitchFamily="34" charset="-122"/>
                <a:cs typeface="Calibri" pitchFamily="34" charset="-120"/>
              </a:rPr>
              <a:t>Agent architecture &amp; tool design</a:t>
            </a:r>
            <a:endParaRPr lang="en-US" sz="1300" dirty="0"/>
          </a:p>
          <a:p>
            <a:pPr marL="342900" indent="-342900">
              <a:spcAft>
                <a:spcPts val="700"/>
              </a:spcAft>
              <a:buSzPct val="100000"/>
              <a:buChar char="•"/>
            </a:pPr>
            <a:r>
              <a:rPr lang="en-US" sz="1300" dirty="0">
                <a:solidFill>
                  <a:srgbClr val="1E293B"/>
                </a:solidFill>
                <a:latin typeface="Calibri" pitchFamily="34" charset="0"/>
                <a:ea typeface="Calibri" pitchFamily="34" charset="-122"/>
                <a:cs typeface="Calibri" pitchFamily="34" charset="-120"/>
              </a:rPr>
              <a:t>Dataset &amp; evaluation methodology</a:t>
            </a:r>
            <a:endParaRPr lang="en-US" sz="1300" dirty="0"/>
          </a:p>
          <a:p>
            <a:pPr marL="342900" indent="-342900">
              <a:spcAft>
                <a:spcPts val="700"/>
              </a:spcAft>
              <a:buSzPct val="100000"/>
              <a:buChar char="•"/>
            </a:pPr>
            <a:r>
              <a:rPr lang="en-US" sz="1300" dirty="0">
                <a:solidFill>
                  <a:srgbClr val="1E293B"/>
                </a:solidFill>
                <a:latin typeface="Calibri" pitchFamily="34" charset="0"/>
                <a:ea typeface="Calibri" pitchFamily="34" charset="-122"/>
                <a:cs typeface="Calibri" pitchFamily="34" charset="-120"/>
              </a:rPr>
              <a:t>Running all Databricks notebooks</a:t>
            </a:r>
            <a:endParaRPr lang="en-US" sz="1300" dirty="0"/>
          </a:p>
          <a:p>
            <a:pPr marL="342900" indent="-342900">
              <a:spcAft>
                <a:spcPts val="700"/>
              </a:spcAft>
              <a:buSzPct val="100000"/>
              <a:buChar char="•"/>
            </a:pPr>
            <a:r>
              <a:rPr lang="en-US" sz="1300" dirty="0">
                <a:solidFill>
                  <a:srgbClr val="1E293B"/>
                </a:solidFill>
                <a:latin typeface="Calibri" pitchFamily="34" charset="0"/>
                <a:ea typeface="Calibri" pitchFamily="34" charset="-122"/>
                <a:cs typeface="Calibri" pitchFamily="34" charset="-120"/>
              </a:rPr>
              <a:t>Interpreting results &amp; conclusions</a:t>
            </a:r>
            <a:endParaRPr lang="en-US" sz="1300" dirty="0"/>
          </a:p>
        </p:txBody>
      </p:sp>
      <p:sp>
        <p:nvSpPr>
          <p:cNvPr id="18" name="Text 13"/>
          <p:cNvSpPr/>
          <p:nvPr/>
        </p:nvSpPr>
        <p:spPr>
          <a:xfrm>
            <a:off x="566928" y="5715000"/>
            <a:ext cx="11055096" cy="365760"/>
          </a:xfrm>
          <a:prstGeom prst="rect">
            <a:avLst/>
          </a:prstGeom>
          <a:noFill/>
          <a:ln/>
        </p:spPr>
        <p:txBody>
          <a:bodyPr wrap="square" rtlCol="0" anchor="ctr"/>
          <a:lstStyle/>
          <a:p>
            <a:r>
              <a:rPr lang="en-US" sz="1150" i="1" dirty="0">
                <a:solidFill>
                  <a:srgbClr val="64748B"/>
                </a:solidFill>
                <a:latin typeface="Calibri" pitchFamily="34" charset="0"/>
                <a:ea typeface="Calibri" pitchFamily="34" charset="-122"/>
                <a:cs typeface="Calibri" pitchFamily="34" charset="-120"/>
              </a:rPr>
              <a:t>Note: the video narration and commentary are delivered by the team without AI. </a:t>
            </a:r>
            <a:endParaRPr lang="en-US" sz="1150" dirty="0"/>
          </a:p>
        </p:txBody>
      </p:sp>
      <p:sp>
        <p:nvSpPr>
          <p:cNvPr id="19" name="Text 14"/>
          <p:cNvSpPr/>
          <p:nvPr/>
        </p:nvSpPr>
        <p:spPr>
          <a:xfrm>
            <a:off x="11365992" y="6400800"/>
            <a:ext cx="457200" cy="274320"/>
          </a:xfrm>
          <a:prstGeom prst="rect">
            <a:avLst/>
          </a:prstGeom>
          <a:noFill/>
          <a:ln/>
        </p:spPr>
        <p:txBody>
          <a:bodyPr wrap="square"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20</a:t>
            </a:r>
            <a:endParaRPr lang="en-US" sz="1000" dirty="0"/>
          </a:p>
        </p:txBody>
      </p:sp>
      <p:sp>
        <p:nvSpPr>
          <p:cNvPr id="20" name="Text 15"/>
          <p:cNvSpPr/>
          <p:nvPr/>
        </p:nvSpPr>
        <p:spPr>
          <a:xfrm>
            <a:off x="566928" y="6400800"/>
            <a:ext cx="3657600" cy="274320"/>
          </a:xfrm>
          <a:prstGeom prst="rect">
            <a:avLst/>
          </a:prstGeom>
          <a:noFill/>
          <a:ln/>
        </p:spPr>
        <p:txBody>
          <a:bodyPr wrap="square" rtlCol="0" anchor="ctr"/>
          <a:lstStyle/>
          <a:p>
            <a:pPr marL="0" indent="0" algn="l">
              <a:buNone/>
            </a:pPr>
            <a:r>
              <a:rPr lang="en-US" sz="1000" dirty="0">
                <a:solidFill>
                  <a:srgbClr val="64748B"/>
                </a:solidFill>
                <a:latin typeface="Calibri" pitchFamily="34" charset="0"/>
                <a:ea typeface="Calibri" pitchFamily="34" charset="-122"/>
                <a:cs typeface="Calibri" pitchFamily="34" charset="-120"/>
              </a:rPr>
              <a:t>SentinelMesh</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E1726"/>
        </a:solidFill>
        <a:effectLst/>
      </p:bgPr>
    </p:bg>
    <p:spTree>
      <p:nvGrpSpPr>
        <p:cNvPr id="1" name=""/>
        <p:cNvGrpSpPr/>
        <p:nvPr/>
      </p:nvGrpSpPr>
      <p:grpSpPr>
        <a:xfrm>
          <a:off x="0" y="0"/>
          <a:ext cx="0" cy="0"/>
          <a:chOff x="0" y="0"/>
          <a:chExt cx="0" cy="0"/>
        </a:xfrm>
      </p:grpSpPr>
      <p:sp>
        <p:nvSpPr>
          <p:cNvPr id="2" name="Shape 0"/>
          <p:cNvSpPr/>
          <p:nvPr/>
        </p:nvSpPr>
        <p:spPr>
          <a:xfrm>
            <a:off x="-1463040" y="3291840"/>
            <a:ext cx="4937760" cy="4937760"/>
          </a:xfrm>
          <a:prstGeom prst="ellipse">
            <a:avLst/>
          </a:prstGeom>
          <a:solidFill>
            <a:srgbClr val="16233B"/>
          </a:solidFill>
          <a:ln/>
        </p:spPr>
      </p:sp>
      <p:sp>
        <p:nvSpPr>
          <p:cNvPr id="3" name="Shape 1"/>
          <p:cNvSpPr/>
          <p:nvPr/>
        </p:nvSpPr>
        <p:spPr>
          <a:xfrm>
            <a:off x="9692640" y="-1645920"/>
            <a:ext cx="4572000" cy="4572000"/>
          </a:xfrm>
          <a:prstGeom prst="ellipse">
            <a:avLst/>
          </a:prstGeom>
          <a:solidFill>
            <a:srgbClr val="16233B"/>
          </a:solidFill>
          <a:ln/>
        </p:spPr>
      </p:sp>
      <p:pic>
        <p:nvPicPr>
          <p:cNvPr id="4" name="Image 0" descr="preencoded.png"/>
          <p:cNvPicPr>
            <a:picLocks noChangeAspect="1"/>
          </p:cNvPicPr>
          <p:nvPr/>
        </p:nvPicPr>
        <p:blipFill>
          <a:blip r:embed="rId3"/>
          <a:stretch>
            <a:fillRect/>
          </a:stretch>
        </p:blipFill>
        <p:spPr>
          <a:xfrm>
            <a:off x="5486400" y="1051560"/>
            <a:ext cx="1234440" cy="1234440"/>
          </a:xfrm>
          <a:prstGeom prst="rect">
            <a:avLst/>
          </a:prstGeom>
        </p:spPr>
      </p:pic>
      <p:sp>
        <p:nvSpPr>
          <p:cNvPr id="5" name="Text 2"/>
          <p:cNvSpPr/>
          <p:nvPr/>
        </p:nvSpPr>
        <p:spPr>
          <a:xfrm>
            <a:off x="914400" y="2468880"/>
            <a:ext cx="10360152" cy="822960"/>
          </a:xfrm>
          <a:prstGeom prst="rect">
            <a:avLst/>
          </a:prstGeom>
          <a:noFill/>
          <a:ln/>
        </p:spPr>
        <p:txBody>
          <a:bodyPr wrap="square" rtlCol="0" anchor="ctr"/>
          <a:lstStyle/>
          <a:p>
            <a:pPr marL="0" indent="0" algn="ctr">
              <a:buNone/>
            </a:pPr>
            <a:r>
              <a:rPr lang="en-US" sz="4600" b="1" dirty="0">
                <a:solidFill>
                  <a:srgbClr val="FFFFFF"/>
                </a:solidFill>
                <a:latin typeface="Cambria" pitchFamily="34" charset="0"/>
                <a:ea typeface="Cambria" pitchFamily="34" charset="-122"/>
                <a:cs typeface="Cambria" pitchFamily="34" charset="-120"/>
              </a:rPr>
              <a:t>SentinelMesh</a:t>
            </a:r>
            <a:endParaRPr lang="en-US" sz="4600" dirty="0"/>
          </a:p>
        </p:txBody>
      </p:sp>
      <p:sp>
        <p:nvSpPr>
          <p:cNvPr id="6" name="Text 3"/>
          <p:cNvSpPr/>
          <p:nvPr/>
        </p:nvSpPr>
        <p:spPr>
          <a:xfrm>
            <a:off x="1828800" y="3383280"/>
            <a:ext cx="8531352" cy="731520"/>
          </a:xfrm>
          <a:prstGeom prst="rect">
            <a:avLst/>
          </a:prstGeom>
          <a:noFill/>
          <a:ln/>
        </p:spPr>
        <p:txBody>
          <a:bodyPr wrap="square" rtlCol="0" anchor="ctr"/>
          <a:lstStyle/>
          <a:p>
            <a:pPr marL="0" indent="0" algn="ctr">
              <a:buNone/>
            </a:pPr>
            <a:r>
              <a:rPr lang="en-US" sz="1700" dirty="0">
                <a:solidFill>
                  <a:srgbClr val="CBE7F2"/>
                </a:solidFill>
                <a:latin typeface="Calibri" pitchFamily="34" charset="0"/>
                <a:ea typeface="Calibri" pitchFamily="34" charset="-122"/>
                <a:cs typeface="Calibri" pitchFamily="34" charset="-120"/>
              </a:rPr>
              <a:t>An LLM agent that triages SOC alerts, grounds its reasoning in MITRE ATT&amp;CK, and keeps a human in control.</a:t>
            </a:r>
            <a:endParaRPr lang="en-US" sz="1700" dirty="0"/>
          </a:p>
        </p:txBody>
      </p:sp>
      <p:sp>
        <p:nvSpPr>
          <p:cNvPr id="7" name="Text 4"/>
          <p:cNvSpPr/>
          <p:nvPr/>
        </p:nvSpPr>
        <p:spPr>
          <a:xfrm>
            <a:off x="914400" y="4297680"/>
            <a:ext cx="10360152" cy="457200"/>
          </a:xfrm>
          <a:prstGeom prst="rect">
            <a:avLst/>
          </a:prstGeom>
          <a:noFill/>
          <a:ln/>
        </p:spPr>
        <p:txBody>
          <a:bodyPr wrap="square" rtlCol="0" anchor="ctr"/>
          <a:lstStyle/>
          <a:p>
            <a:pPr marL="0" indent="0" algn="ctr">
              <a:buNone/>
            </a:pPr>
            <a:r>
              <a:rPr lang="en-US" sz="1800" b="1" dirty="0">
                <a:solidFill>
                  <a:srgbClr val="06B6D4"/>
                </a:solidFill>
                <a:latin typeface="Calibri" pitchFamily="34" charset="0"/>
                <a:ea typeface="Calibri" pitchFamily="34" charset="-122"/>
                <a:cs typeface="Calibri" pitchFamily="34" charset="-120"/>
              </a:rPr>
              <a:t>Thank you  ·  Questions?</a:t>
            </a:r>
            <a:endParaRPr lang="en-US" sz="1800" dirty="0"/>
          </a:p>
        </p:txBody>
      </p:sp>
      <p:sp>
        <p:nvSpPr>
          <p:cNvPr id="8" name="Text 5"/>
          <p:cNvSpPr/>
          <p:nvPr/>
        </p:nvSpPr>
        <p:spPr>
          <a:xfrm>
            <a:off x="11365992" y="6400800"/>
            <a:ext cx="457200" cy="274320"/>
          </a:xfrm>
          <a:prstGeom prst="rect">
            <a:avLst/>
          </a:prstGeom>
          <a:noFill/>
          <a:ln/>
        </p:spPr>
        <p:txBody>
          <a:bodyPr wrap="square"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21</a:t>
            </a:r>
            <a:endParaRPr lang="en-US" sz="1000" dirty="0"/>
          </a:p>
        </p:txBody>
      </p:sp>
      <p:sp>
        <p:nvSpPr>
          <p:cNvPr id="9" name="Text 6"/>
          <p:cNvSpPr/>
          <p:nvPr/>
        </p:nvSpPr>
        <p:spPr>
          <a:xfrm>
            <a:off x="566928" y="6400800"/>
            <a:ext cx="3657600" cy="274320"/>
          </a:xfrm>
          <a:prstGeom prst="rect">
            <a:avLst/>
          </a:prstGeom>
          <a:noFill/>
          <a:ln/>
        </p:spPr>
        <p:txBody>
          <a:bodyPr wrap="square" rtlCol="0" anchor="ctr"/>
          <a:lstStyle/>
          <a:p>
            <a:pPr marL="0" indent="0" algn="l">
              <a:buNone/>
            </a:pPr>
            <a:r>
              <a:rPr lang="en-US" sz="1000" dirty="0">
                <a:solidFill>
                  <a:srgbClr val="64748B"/>
                </a:solidFill>
                <a:latin typeface="Calibri" pitchFamily="34" charset="0"/>
                <a:ea typeface="Calibri" pitchFamily="34" charset="-122"/>
                <a:cs typeface="Calibri" pitchFamily="34" charset="-120"/>
              </a:rPr>
              <a:t>SentinelMesh</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78</TotalTime>
  <Words>4114</Words>
  <Application>Microsoft Macintosh PowerPoint</Application>
  <PresentationFormat>Widescreen</PresentationFormat>
  <Paragraphs>399</Paragraphs>
  <Slides>21</Slides>
  <Notes>21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SentinelMesh — Final Project</dc:title>
  <dc:subject>PptxGenJS Presentation</dc:subject>
  <dc:creator>SentinelMesh Team</dc:creator>
  <cp:lastModifiedBy>Pawan Bishwokarma</cp:lastModifiedBy>
  <cp:revision>2</cp:revision>
  <dcterms:created xsi:type="dcterms:W3CDTF">2026-06-22T23:39:37Z</dcterms:created>
  <dcterms:modified xsi:type="dcterms:W3CDTF">2026-06-23T01:27:19Z</dcterms:modified>
</cp:coreProperties>
</file>