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SentinelMesh as a project about agent engineering, not just classification. The goal is to evaluate how far an LLM based SOC triage assistant can go when it reads IoT flow alerts, calls tools, and returns analyst ready recommendations. Preview that the final answer is nuanced: the agent is useful for broad triage, but not reliable enough for autonomous exact family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full result in one minute. The final exact family score is 17 percent, while the broader triage group score is 58 percent. That distinction is critical. The agent is not a precise standalone classifier. It is a useful triage assistant that can often separate broader operational groups. The fallback LLM judge passes 25 percent of examples, broadly consistent with the strict exact family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use case: SentinelMesh helps with the first pass on IoT security alerts. The SOC does not need a chatbot that talks generally about threats. It needs a controlled triage assistant that reads a network flow alert, chooses a likely family, enriches it with MITRE context, scores severity, and proposes a response that a human analyst can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submission structure. There are four artifacts. The data pipeline creates the tables. The reusable agent file centralizes the agent logic. The agent notebook demonstrates traces and model behavior. The evaluation notebook generates the final answer sheet and scores the agent with both an LLM based fallback judge and a manual deterministic judge.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data engineering choices. The project starts with CIC IoT flow data. The raw data is persisted as a governed Unity Catalog table. A stratified sample is created to include the full range of labels. The alert text rendering step is important because it controls what the agent can actually observe.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technical lesson. The first alert renderer compressed each row too aggressively. It gave enough signal for obvious floods, but not enough for low signal attacks. The final renderer exposes more observable traffic evidence without leaking the true label. Even then, some classes remain difficult because the flow level evidence is similar.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how the agent works. The LLM reads the alert and chooses a likely family. It then calls tools for MITRE context, severity scoring, and response recommendation. The final output is designed for a human analyst, not an automated block list. The architecture is strong because the enrichment and actions are tool grounded. Its weakness is that the first family prediction is still LLM driven.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tools and the guardrails. The agent does not simply answer from model memory. It calls a MITRE tool, a severity tool, and an action recommendation tool. It also refuses non alert requests. That directly supports the requirement that the agent has relevant tools and can gracefully handle out of scope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project required five traces. This slide identifies them. Two traces are normal triage examples. One trace compares models on the same alert. Two traces show graceful rejection of irrelevant user inputs. The important point is that trace evidence exists in MLflow, not only printed notebook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model comparison. The smaller model looked cheaper but did not reliably complete the tool calling workflow. The 120b model was more capable but hit rate limits during repeated evaluations. Sonnet was used for the final answer sheet because it completed agent calls successfully. The business lesson is that cheaper models are not automatically cheaper if they create incomplete triage or more analyst cleanup.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evaluation notebook was designed to be auditable. The answer sheet is generated first. A fallback LLM judge scores it through a normal Sonnet chat completion because make_judge failed in this workspace. The manual deterministic judge is the primary score because it uses exact extraction and does not depend on endpoint structured output support. Human review summarizes pass and fail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numbers directly. Exact family accuracy is 17 percent, coarse triage accuracy is 58 percent, and the fallback LLM judge pass rate is 25 percent. The point is not to hide the low exact score. The point is to explain what the system can and cannot do. It is not ready to classify exact attack families autonomously. It can still assist with broader routing and enrichment.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how humans are involved. Human review is not only for the notebook. It is part of the deployment model. Reviewers inspect traces, compare predictions against expected families, and mark pass or fail. Operationally, the agent is advisory. No firewall change, quarantine action, or containment step happens without analyst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ROI calculation clearly. Each useful triage saves about five analyst minutes. At a loaded cost of 60 dollars per hour, that is about five dollars per useful triage. With 10,000 alerts per month and 58 percent coarse useful triage, the estimated monthly value is 29,000 dollars in analyst time. This is a directional calculation. Final deployment would need real Databricks endpoint cost and analyst workflow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 a staged deployment. The first version enriches alerts and writes results into a SOC queue or ticket. A human analyst approves all actions. The second version should add a structured classifier or retrieval over labeled examples. Only after far stronger evaluation should the organization consider automated enforcement.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honestly. SentinelMesh did not exceed expectations as an exact classifier. It did meet expectations as an evaluated agent prototype. It has governed data, reusable tools, traces, evaluation, fallback judging, manual deterministic scoring, and human review. The best next step is not prompt tweaking. It is grounding the initial family decision with retrieval or a structured classifier.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Text 1"/>
          <p:cNvSpPr/>
          <p:nvPr/>
        </p:nvSpPr>
        <p:spPr>
          <a:xfrm>
            <a:off x="640080" y="1874520"/>
            <a:ext cx="5760720" cy="621792"/>
          </a:xfrm>
          <a:prstGeom prst="rect">
            <a:avLst/>
          </a:prstGeom>
          <a:noFill/>
          <a:ln/>
        </p:spPr>
        <p:txBody>
          <a:bodyPr wrap="square" lIns="0" tIns="0" rIns="0" bIns="0" rtlCol="0" anchor="ctr"/>
          <a:lstStyle/>
          <a:p>
            <a:pPr indent="0" marL="0">
              <a:buNone/>
            </a:pPr>
            <a:r>
              <a:rPr lang="en-US" sz="4600" b="1" dirty="0">
                <a:solidFill>
                  <a:srgbClr val="F8FAFC"/>
                </a:solidFill>
                <a:latin typeface="Aptos Display" pitchFamily="34" charset="0"/>
                <a:ea typeface="Aptos Display" pitchFamily="34" charset="-122"/>
                <a:cs typeface="Aptos Display" pitchFamily="34" charset="-120"/>
              </a:rPr>
              <a:t>SentinelMesh</a:t>
            </a:r>
            <a:endParaRPr lang="en-US" sz="4600" dirty="0"/>
          </a:p>
        </p:txBody>
      </p:sp>
      <p:sp>
        <p:nvSpPr>
          <p:cNvPr id="4" name="Text 2"/>
          <p:cNvSpPr/>
          <p:nvPr/>
        </p:nvSpPr>
        <p:spPr>
          <a:xfrm>
            <a:off x="658368" y="2615184"/>
            <a:ext cx="6309360" cy="320040"/>
          </a:xfrm>
          <a:prstGeom prst="rect">
            <a:avLst/>
          </a:prstGeom>
          <a:noFill/>
          <a:ln/>
        </p:spPr>
        <p:txBody>
          <a:bodyPr wrap="square" lIns="0" tIns="0" rIns="0" bIns="0" rtlCol="0" anchor="ctr"/>
          <a:lstStyle/>
          <a:p>
            <a:pPr indent="0" marL="0">
              <a:buNone/>
            </a:pPr>
            <a:r>
              <a:rPr lang="en-US" sz="1800" dirty="0">
                <a:solidFill>
                  <a:srgbClr val="38BDF8"/>
                </a:solidFill>
              </a:rPr>
              <a:t>Agentic IoT security triage for SOC analysts</a:t>
            </a:r>
            <a:endParaRPr lang="en-US" sz="1800" dirty="0"/>
          </a:p>
        </p:txBody>
      </p:sp>
      <p:sp>
        <p:nvSpPr>
          <p:cNvPr id="5" name="Text 3"/>
          <p:cNvSpPr/>
          <p:nvPr/>
        </p:nvSpPr>
        <p:spPr>
          <a:xfrm>
            <a:off x="676656" y="3035808"/>
            <a:ext cx="5394960" cy="228600"/>
          </a:xfrm>
          <a:prstGeom prst="rect">
            <a:avLst/>
          </a:prstGeom>
          <a:noFill/>
          <a:ln/>
        </p:spPr>
        <p:txBody>
          <a:bodyPr wrap="square" lIns="0" tIns="0" rIns="0" bIns="0" rtlCol="0" anchor="ctr"/>
          <a:lstStyle/>
          <a:p>
            <a:pPr indent="0" marL="0">
              <a:buNone/>
            </a:pPr>
            <a:r>
              <a:rPr lang="en-US" sz="1250" dirty="0">
                <a:solidFill>
                  <a:srgbClr val="C4CBD8"/>
                </a:solidFill>
              </a:rPr>
              <a:t>Final project technical and business presentation</a:t>
            </a:r>
            <a:endParaRPr lang="en-US" sz="1250" dirty="0"/>
          </a:p>
        </p:txBody>
      </p:sp>
      <p:sp>
        <p:nvSpPr>
          <p:cNvPr id="6" name="Text 4"/>
          <p:cNvSpPr/>
          <p:nvPr/>
        </p:nvSpPr>
        <p:spPr>
          <a:xfrm>
            <a:off x="7360920" y="1417320"/>
            <a:ext cx="1874520" cy="621792"/>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500" b="1" dirty="0">
                <a:solidFill>
                  <a:srgbClr val="F8FAFC"/>
                </a:solidFill>
              </a:rPr>
              <a:t>Data pipeline</a:t>
            </a:r>
            <a:endParaRPr lang="en-US" sz="1500" dirty="0"/>
          </a:p>
        </p:txBody>
      </p:sp>
      <p:sp>
        <p:nvSpPr>
          <p:cNvPr id="7" name="Text 5"/>
          <p:cNvSpPr/>
          <p:nvPr/>
        </p:nvSpPr>
        <p:spPr>
          <a:xfrm>
            <a:off x="9006840" y="2450592"/>
            <a:ext cx="1874520" cy="621792"/>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500" b="1" dirty="0">
                <a:solidFill>
                  <a:srgbClr val="F8FAFC"/>
                </a:solidFill>
              </a:rPr>
              <a:t>Agent tools</a:t>
            </a:r>
            <a:endParaRPr lang="en-US" sz="1500" dirty="0"/>
          </a:p>
        </p:txBody>
      </p:sp>
      <p:sp>
        <p:nvSpPr>
          <p:cNvPr id="8" name="Text 6"/>
          <p:cNvSpPr/>
          <p:nvPr/>
        </p:nvSpPr>
        <p:spPr>
          <a:xfrm>
            <a:off x="7360920" y="3520440"/>
            <a:ext cx="1874520" cy="621792"/>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500" b="1" dirty="0">
                <a:solidFill>
                  <a:srgbClr val="F8FAFC"/>
                </a:solidFill>
              </a:rPr>
              <a:t>Evaluation</a:t>
            </a:r>
            <a:endParaRPr lang="en-US" sz="1500" dirty="0"/>
          </a:p>
        </p:txBody>
      </p:sp>
      <p:sp>
        <p:nvSpPr>
          <p:cNvPr id="9" name="Text 7"/>
          <p:cNvSpPr/>
          <p:nvPr/>
        </p:nvSpPr>
        <p:spPr>
          <a:xfrm>
            <a:off x="9006840" y="4572000"/>
            <a:ext cx="1874520" cy="621792"/>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500" b="1" dirty="0">
                <a:solidFill>
                  <a:srgbClr val="F8FAFC"/>
                </a:solidFill>
              </a:rPr>
              <a:t>Human review</a:t>
            </a:r>
            <a:endParaRPr lang="en-US" sz="1500" dirty="0"/>
          </a:p>
        </p:txBody>
      </p:sp>
      <p:sp>
        <p:nvSpPr>
          <p:cNvPr id="10" name="Shape 8"/>
          <p:cNvSpPr/>
          <p:nvPr/>
        </p:nvSpPr>
        <p:spPr>
          <a:xfrm>
            <a:off x="8293608" y="2039112"/>
            <a:ext cx="1243584" cy="411480"/>
          </a:xfrm>
          <a:prstGeom prst="line">
            <a:avLst/>
          </a:prstGeom>
          <a:noFill/>
          <a:ln w="20320">
            <a:solidFill>
              <a:srgbClr val="38BDF8">
                <a:alpha val="92000"/>
              </a:srgbClr>
            </a:solidFill>
            <a:prstDash val="solid"/>
            <a:tailEnd type="triangle"/>
          </a:ln>
        </p:spPr>
      </p:sp>
      <p:sp>
        <p:nvSpPr>
          <p:cNvPr id="11" name="Shape 9"/>
          <p:cNvSpPr/>
          <p:nvPr/>
        </p:nvSpPr>
        <p:spPr>
          <a:xfrm>
            <a:off x="9528048" y="3072384"/>
            <a:ext cx="-1234440" cy="448056"/>
          </a:xfrm>
          <a:prstGeom prst="line">
            <a:avLst/>
          </a:prstGeom>
          <a:noFill/>
          <a:ln w="20320">
            <a:solidFill>
              <a:srgbClr val="38BDF8">
                <a:alpha val="92000"/>
              </a:srgbClr>
            </a:solidFill>
            <a:prstDash val="solid"/>
            <a:tailEnd type="triangle"/>
          </a:ln>
        </p:spPr>
      </p:sp>
      <p:sp>
        <p:nvSpPr>
          <p:cNvPr id="12" name="Shape 10"/>
          <p:cNvSpPr/>
          <p:nvPr/>
        </p:nvSpPr>
        <p:spPr>
          <a:xfrm>
            <a:off x="8293608" y="4142232"/>
            <a:ext cx="1234440" cy="429768"/>
          </a:xfrm>
          <a:prstGeom prst="line">
            <a:avLst/>
          </a:prstGeom>
          <a:noFill/>
          <a:ln w="20320">
            <a:solidFill>
              <a:srgbClr val="38BDF8">
                <a:alpha val="92000"/>
              </a:srgbClr>
            </a:solidFill>
            <a:prstDash val="solid"/>
            <a:tailEnd type="triangle"/>
          </a:ln>
        </p:spPr>
      </p:sp>
      <p:sp>
        <p:nvSpPr>
          <p:cNvPr id="13" name="Text 11"/>
          <p:cNvSpPr/>
          <p:nvPr/>
        </p:nvSpPr>
        <p:spPr>
          <a:xfrm>
            <a:off x="502920" y="6473952"/>
            <a:ext cx="2926080" cy="164592"/>
          </a:xfrm>
          <a:prstGeom prst="rect">
            <a:avLst/>
          </a:prstGeom>
          <a:noFill/>
          <a:ln/>
        </p:spPr>
        <p:txBody>
          <a:bodyPr wrap="square" lIns="0" tIns="0" rIns="0" bIns="0" rtlCol="0" anchor="ctr"/>
          <a:lstStyle/>
          <a:p>
            <a:pPr indent="0" marL="0">
              <a:buNone/>
            </a:pPr>
            <a:r>
              <a:rPr lang="en-US" sz="780" dirty="0">
                <a:solidFill>
                  <a:srgbClr val="94A3B8"/>
                </a:solidFill>
              </a:rPr>
              <a:t>SentinelMesh final project</a:t>
            </a:r>
            <a:endParaRPr lang="en-US" sz="780" dirty="0"/>
          </a:p>
        </p:txBody>
      </p:sp>
      <p:sp>
        <p:nvSpPr>
          <p:cNvPr id="14" name="Text 12"/>
          <p:cNvSpPr/>
          <p:nvPr/>
        </p:nvSpPr>
        <p:spPr>
          <a:xfrm>
            <a:off x="11384280" y="6446520"/>
            <a:ext cx="320040" cy="201168"/>
          </a:xfrm>
          <a:prstGeom prst="rect">
            <a:avLst/>
          </a:prstGeom>
          <a:noFill/>
          <a:ln/>
        </p:spPr>
        <p:txBody>
          <a:bodyPr wrap="square" lIns="0" tIns="0" rIns="0" bIns="0" rtlCol="0" anchor="ctr"/>
          <a:lstStyle/>
          <a:p>
            <a:pPr algn="r" indent="0" marL="0">
              <a:buNone/>
            </a:pPr>
            <a:r>
              <a:rPr lang="en-US" sz="800" dirty="0">
                <a:solidFill>
                  <a:srgbClr val="94A3B8"/>
                </a:solidFill>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Text 1"/>
          <p:cNvSpPr/>
          <p:nvPr/>
        </p:nvSpPr>
        <p:spPr>
          <a:xfrm>
            <a:off x="502920" y="320040"/>
            <a:ext cx="8138160" cy="502920"/>
          </a:xfrm>
          <a:prstGeom prst="rect">
            <a:avLst/>
          </a:prstGeom>
          <a:noFill/>
          <a:ln/>
        </p:spPr>
        <p:txBody>
          <a:bodyPr wrap="square" lIns="0" tIns="0" rIns="0" bIns="0" rtlCol="0" anchor="ctr"/>
          <a:lstStyle/>
          <a:p>
            <a:pPr indent="0" marL="0">
              <a:buNone/>
            </a:pPr>
            <a:r>
              <a:rPr lang="en-US" sz="3100" b="1" dirty="0">
                <a:solidFill>
                  <a:srgbClr val="F8FAFC"/>
                </a:solidFill>
                <a:latin typeface="Aptos Display" pitchFamily="34" charset="0"/>
                <a:ea typeface="Aptos Display" pitchFamily="34" charset="-122"/>
                <a:cs typeface="Aptos Display" pitchFamily="34" charset="-120"/>
              </a:rPr>
              <a:t>Executive summary</a:t>
            </a:r>
            <a:endParaRPr lang="en-US" sz="3100" dirty="0"/>
          </a:p>
        </p:txBody>
      </p:sp>
      <p:sp>
        <p:nvSpPr>
          <p:cNvPr id="4" name="Text 2"/>
          <p:cNvSpPr/>
          <p:nvPr/>
        </p:nvSpPr>
        <p:spPr>
          <a:xfrm>
            <a:off x="530352" y="868680"/>
            <a:ext cx="8412480" cy="292608"/>
          </a:xfrm>
          <a:prstGeom prst="rect">
            <a:avLst/>
          </a:prstGeom>
          <a:noFill/>
          <a:ln/>
        </p:spPr>
        <p:txBody>
          <a:bodyPr wrap="square" lIns="0" tIns="0" rIns="0" bIns="0" rtlCol="0" anchor="ctr"/>
          <a:lstStyle/>
          <a:p>
            <a:pPr indent="0" marL="0">
              <a:buNone/>
            </a:pPr>
            <a:r>
              <a:rPr lang="en-US" sz="1100" dirty="0">
                <a:solidFill>
                  <a:srgbClr val="94A3B8"/>
                </a:solidFill>
              </a:rPr>
              <a:t>What the final prototype proves</a:t>
            </a:r>
            <a:endParaRPr lang="en-US" sz="1100" dirty="0"/>
          </a:p>
        </p:txBody>
      </p:sp>
      <p:sp>
        <p:nvSpPr>
          <p:cNvPr id="5" name="Shape 3"/>
          <p:cNvSpPr/>
          <p:nvPr/>
        </p:nvSpPr>
        <p:spPr>
          <a:xfrm>
            <a:off x="502920" y="1124712"/>
            <a:ext cx="2971800" cy="0"/>
          </a:xfrm>
          <a:prstGeom prst="line">
            <a:avLst/>
          </a:prstGeom>
          <a:noFill/>
          <a:ln w="16510">
            <a:solidFill>
              <a:srgbClr val="38BDF8">
                <a:alpha val="90000"/>
              </a:srgbClr>
            </a:solidFill>
            <a:prstDash val="solid"/>
          </a:ln>
        </p:spPr>
      </p:sp>
      <p:sp>
        <p:nvSpPr>
          <p:cNvPr id="6" name="Shape 4"/>
          <p:cNvSpPr/>
          <p:nvPr/>
        </p:nvSpPr>
        <p:spPr>
          <a:xfrm>
            <a:off x="594360" y="1600200"/>
            <a:ext cx="3154680" cy="1234440"/>
          </a:xfrm>
          <a:prstGeom prst="roundRect">
            <a:avLst>
              <a:gd name="adj" fmla="val 8889"/>
            </a:avLst>
          </a:prstGeom>
          <a:solidFill>
            <a:srgbClr val="172033"/>
          </a:solidFill>
          <a:ln w="17780">
            <a:solidFill>
              <a:srgbClr val="EF4444"/>
            </a:solidFill>
            <a:prstDash val="solid"/>
          </a:ln>
        </p:spPr>
      </p:sp>
      <p:sp>
        <p:nvSpPr>
          <p:cNvPr id="7" name="Text 5"/>
          <p:cNvSpPr/>
          <p:nvPr/>
        </p:nvSpPr>
        <p:spPr>
          <a:xfrm>
            <a:off x="795528" y="1764792"/>
            <a:ext cx="1371600" cy="411480"/>
          </a:xfrm>
          <a:prstGeom prst="rect">
            <a:avLst/>
          </a:prstGeom>
          <a:noFill/>
          <a:ln/>
        </p:spPr>
        <p:txBody>
          <a:bodyPr wrap="square" lIns="0" tIns="0" rIns="0" bIns="0" rtlCol="0" anchor="ctr"/>
          <a:lstStyle/>
          <a:p>
            <a:pPr indent="0" marL="0">
              <a:buNone/>
            </a:pPr>
            <a:r>
              <a:rPr lang="en-US" sz="2600" b="1" dirty="0">
                <a:solidFill>
                  <a:srgbClr val="EF4444"/>
                </a:solidFill>
              </a:rPr>
              <a:t>17%</a:t>
            </a:r>
            <a:endParaRPr lang="en-US" sz="2600" dirty="0"/>
          </a:p>
        </p:txBody>
      </p:sp>
      <p:sp>
        <p:nvSpPr>
          <p:cNvPr id="8" name="Text 6"/>
          <p:cNvSpPr/>
          <p:nvPr/>
        </p:nvSpPr>
        <p:spPr>
          <a:xfrm>
            <a:off x="795528" y="2286000"/>
            <a:ext cx="2651760" cy="228600"/>
          </a:xfrm>
          <a:prstGeom prst="rect">
            <a:avLst/>
          </a:prstGeom>
          <a:noFill/>
          <a:ln/>
        </p:spPr>
        <p:txBody>
          <a:bodyPr wrap="square" lIns="0" tIns="0" rIns="0" bIns="0" rtlCol="0" anchor="ctr"/>
          <a:lstStyle/>
          <a:p>
            <a:pPr indent="0" marL="0">
              <a:buNone/>
            </a:pPr>
            <a:r>
              <a:rPr lang="en-US" sz="1350" b="1" dirty="0">
                <a:solidFill>
                  <a:srgbClr val="F8FAFC"/>
                </a:solidFill>
              </a:rPr>
              <a:t>Exact family accuracy</a:t>
            </a:r>
            <a:endParaRPr lang="en-US" sz="1350" dirty="0"/>
          </a:p>
        </p:txBody>
      </p:sp>
      <p:sp>
        <p:nvSpPr>
          <p:cNvPr id="9" name="Text 7"/>
          <p:cNvSpPr/>
          <p:nvPr/>
        </p:nvSpPr>
        <p:spPr>
          <a:xfrm>
            <a:off x="795528" y="2542032"/>
            <a:ext cx="2651760" cy="182880"/>
          </a:xfrm>
          <a:prstGeom prst="rect">
            <a:avLst/>
          </a:prstGeom>
          <a:noFill/>
          <a:ln/>
        </p:spPr>
        <p:txBody>
          <a:bodyPr wrap="square" lIns="0" tIns="0" rIns="0" bIns="0" rtlCol="0" anchor="ctr"/>
          <a:lstStyle/>
          <a:p>
            <a:pPr indent="0" marL="0">
              <a:buNone/>
            </a:pPr>
            <a:r>
              <a:rPr lang="en-US" sz="850" dirty="0">
                <a:solidFill>
                  <a:srgbClr val="94A3B8"/>
                </a:solidFill>
              </a:rPr>
              <a:t>Strict 10 family scoring</a:t>
            </a:r>
            <a:endParaRPr lang="en-US" sz="850" dirty="0"/>
          </a:p>
        </p:txBody>
      </p:sp>
      <p:sp>
        <p:nvSpPr>
          <p:cNvPr id="10" name="Shape 8"/>
          <p:cNvSpPr/>
          <p:nvPr/>
        </p:nvSpPr>
        <p:spPr>
          <a:xfrm>
            <a:off x="4480560" y="1600200"/>
            <a:ext cx="3154680" cy="1234440"/>
          </a:xfrm>
          <a:prstGeom prst="roundRect">
            <a:avLst>
              <a:gd name="adj" fmla="val 8889"/>
            </a:avLst>
          </a:prstGeom>
          <a:solidFill>
            <a:srgbClr val="172033"/>
          </a:solidFill>
          <a:ln w="17780">
            <a:solidFill>
              <a:srgbClr val="22C55E"/>
            </a:solidFill>
            <a:prstDash val="solid"/>
          </a:ln>
        </p:spPr>
      </p:sp>
      <p:sp>
        <p:nvSpPr>
          <p:cNvPr id="11" name="Text 9"/>
          <p:cNvSpPr/>
          <p:nvPr/>
        </p:nvSpPr>
        <p:spPr>
          <a:xfrm>
            <a:off x="4681728" y="1764792"/>
            <a:ext cx="1371600" cy="411480"/>
          </a:xfrm>
          <a:prstGeom prst="rect">
            <a:avLst/>
          </a:prstGeom>
          <a:noFill/>
          <a:ln/>
        </p:spPr>
        <p:txBody>
          <a:bodyPr wrap="square" lIns="0" tIns="0" rIns="0" bIns="0" rtlCol="0" anchor="ctr"/>
          <a:lstStyle/>
          <a:p>
            <a:pPr indent="0" marL="0">
              <a:buNone/>
            </a:pPr>
            <a:r>
              <a:rPr lang="en-US" sz="2600" b="1" dirty="0">
                <a:solidFill>
                  <a:srgbClr val="22C55E"/>
                </a:solidFill>
              </a:rPr>
              <a:t>58%</a:t>
            </a:r>
            <a:endParaRPr lang="en-US" sz="2600" dirty="0"/>
          </a:p>
        </p:txBody>
      </p:sp>
      <p:sp>
        <p:nvSpPr>
          <p:cNvPr id="12" name="Text 10"/>
          <p:cNvSpPr/>
          <p:nvPr/>
        </p:nvSpPr>
        <p:spPr>
          <a:xfrm>
            <a:off x="4681728" y="2286000"/>
            <a:ext cx="2651760" cy="228600"/>
          </a:xfrm>
          <a:prstGeom prst="rect">
            <a:avLst/>
          </a:prstGeom>
          <a:noFill/>
          <a:ln/>
        </p:spPr>
        <p:txBody>
          <a:bodyPr wrap="square" lIns="0" tIns="0" rIns="0" bIns="0" rtlCol="0" anchor="ctr"/>
          <a:lstStyle/>
          <a:p>
            <a:pPr indent="0" marL="0">
              <a:buNone/>
            </a:pPr>
            <a:r>
              <a:rPr lang="en-US" sz="1350" b="1" dirty="0">
                <a:solidFill>
                  <a:srgbClr val="F8FAFC"/>
                </a:solidFill>
              </a:rPr>
              <a:t>Coarse triage accuracy</a:t>
            </a:r>
            <a:endParaRPr lang="en-US" sz="1350" dirty="0"/>
          </a:p>
        </p:txBody>
      </p:sp>
      <p:sp>
        <p:nvSpPr>
          <p:cNvPr id="13" name="Text 11"/>
          <p:cNvSpPr/>
          <p:nvPr/>
        </p:nvSpPr>
        <p:spPr>
          <a:xfrm>
            <a:off x="4681728" y="2542032"/>
            <a:ext cx="2651760" cy="182880"/>
          </a:xfrm>
          <a:prstGeom prst="rect">
            <a:avLst/>
          </a:prstGeom>
          <a:noFill/>
          <a:ln/>
        </p:spPr>
        <p:txBody>
          <a:bodyPr wrap="square" lIns="0" tIns="0" rIns="0" bIns="0" rtlCol="0" anchor="ctr"/>
          <a:lstStyle/>
          <a:p>
            <a:pPr indent="0" marL="0">
              <a:buNone/>
            </a:pPr>
            <a:r>
              <a:rPr lang="en-US" sz="850" dirty="0">
                <a:solidFill>
                  <a:srgbClr val="94A3B8"/>
                </a:solidFill>
              </a:rPr>
              <a:t>Operational groups</a:t>
            </a:r>
            <a:endParaRPr lang="en-US" sz="850" dirty="0"/>
          </a:p>
        </p:txBody>
      </p:sp>
      <p:sp>
        <p:nvSpPr>
          <p:cNvPr id="14" name="Shape 12"/>
          <p:cNvSpPr/>
          <p:nvPr/>
        </p:nvSpPr>
        <p:spPr>
          <a:xfrm>
            <a:off x="8366760" y="1600200"/>
            <a:ext cx="3154680" cy="1234440"/>
          </a:xfrm>
          <a:prstGeom prst="roundRect">
            <a:avLst>
              <a:gd name="adj" fmla="val 8889"/>
            </a:avLst>
          </a:prstGeom>
          <a:solidFill>
            <a:srgbClr val="172033"/>
          </a:solidFill>
          <a:ln w="17780">
            <a:solidFill>
              <a:srgbClr val="F59E0B"/>
            </a:solidFill>
            <a:prstDash val="solid"/>
          </a:ln>
        </p:spPr>
      </p:sp>
      <p:sp>
        <p:nvSpPr>
          <p:cNvPr id="15" name="Text 13"/>
          <p:cNvSpPr/>
          <p:nvPr/>
        </p:nvSpPr>
        <p:spPr>
          <a:xfrm>
            <a:off x="8567928" y="1764792"/>
            <a:ext cx="1371600" cy="411480"/>
          </a:xfrm>
          <a:prstGeom prst="rect">
            <a:avLst/>
          </a:prstGeom>
          <a:noFill/>
          <a:ln/>
        </p:spPr>
        <p:txBody>
          <a:bodyPr wrap="square" lIns="0" tIns="0" rIns="0" bIns="0" rtlCol="0" anchor="ctr"/>
          <a:lstStyle/>
          <a:p>
            <a:pPr indent="0" marL="0">
              <a:buNone/>
            </a:pPr>
            <a:r>
              <a:rPr lang="en-US" sz="2600" b="1" dirty="0">
                <a:solidFill>
                  <a:srgbClr val="F59E0B"/>
                </a:solidFill>
              </a:rPr>
              <a:t>25%</a:t>
            </a:r>
            <a:endParaRPr lang="en-US" sz="2600" dirty="0"/>
          </a:p>
        </p:txBody>
      </p:sp>
      <p:sp>
        <p:nvSpPr>
          <p:cNvPr id="16" name="Text 14"/>
          <p:cNvSpPr/>
          <p:nvPr/>
        </p:nvSpPr>
        <p:spPr>
          <a:xfrm>
            <a:off x="8567928" y="2286000"/>
            <a:ext cx="2651760" cy="228600"/>
          </a:xfrm>
          <a:prstGeom prst="rect">
            <a:avLst/>
          </a:prstGeom>
          <a:noFill/>
          <a:ln/>
        </p:spPr>
        <p:txBody>
          <a:bodyPr wrap="square" lIns="0" tIns="0" rIns="0" bIns="0" rtlCol="0" anchor="ctr"/>
          <a:lstStyle/>
          <a:p>
            <a:pPr indent="0" marL="0">
              <a:buNone/>
            </a:pPr>
            <a:r>
              <a:rPr lang="en-US" sz="1350" b="1" dirty="0">
                <a:solidFill>
                  <a:srgbClr val="F8FAFC"/>
                </a:solidFill>
              </a:rPr>
              <a:t>Fallback LLM judge pass rate</a:t>
            </a:r>
            <a:endParaRPr lang="en-US" sz="1350" dirty="0"/>
          </a:p>
        </p:txBody>
      </p:sp>
      <p:sp>
        <p:nvSpPr>
          <p:cNvPr id="17" name="Text 15"/>
          <p:cNvSpPr/>
          <p:nvPr/>
        </p:nvSpPr>
        <p:spPr>
          <a:xfrm>
            <a:off x="8567928" y="2542032"/>
            <a:ext cx="2651760" cy="182880"/>
          </a:xfrm>
          <a:prstGeom prst="rect">
            <a:avLst/>
          </a:prstGeom>
          <a:noFill/>
          <a:ln/>
        </p:spPr>
        <p:txBody>
          <a:bodyPr wrap="square" lIns="0" tIns="0" rIns="0" bIns="0" rtlCol="0" anchor="ctr"/>
          <a:lstStyle/>
          <a:p>
            <a:pPr indent="0" marL="0">
              <a:buNone/>
            </a:pPr>
            <a:r>
              <a:rPr lang="en-US" sz="850" dirty="0">
                <a:solidFill>
                  <a:srgbClr val="94A3B8"/>
                </a:solidFill>
              </a:rPr>
              <a:t>Automated second opinion</a:t>
            </a:r>
            <a:endParaRPr lang="en-US" sz="850" dirty="0"/>
          </a:p>
        </p:txBody>
      </p:sp>
      <p:sp>
        <p:nvSpPr>
          <p:cNvPr id="18" name="Text 16"/>
          <p:cNvSpPr/>
          <p:nvPr/>
        </p:nvSpPr>
        <p:spPr>
          <a:xfrm>
            <a:off x="777240" y="3337560"/>
            <a:ext cx="10607040" cy="594360"/>
          </a:xfrm>
          <a:prstGeom prst="rect">
            <a:avLst/>
          </a:prstGeom>
          <a:noFill/>
          <a:ln/>
        </p:spPr>
        <p:txBody>
          <a:bodyPr wrap="square" lIns="508" tIns="508" rIns="508" bIns="508" rtlCol="0" anchor="ctr">
            <a:normAutofit/>
          </a:bodyPr>
          <a:lstStyle/>
          <a:p>
            <a:pPr algn="ctr" indent="0" marL="0">
              <a:buNone/>
            </a:pPr>
            <a:r>
              <a:rPr lang="en-US" sz="2100" b="1" dirty="0">
                <a:solidFill>
                  <a:srgbClr val="F8FAFC"/>
                </a:solidFill>
              </a:rPr>
              <a:t>SentinelMesh is strongest as a Tier 1 assistant that enriches alerts, explains likely behavior, scores severity, and recommends human approved actions.</a:t>
            </a:r>
            <a:endParaRPr lang="en-US" sz="2100" dirty="0"/>
          </a:p>
        </p:txBody>
      </p:sp>
      <p:sp>
        <p:nvSpPr>
          <p:cNvPr id="19" name="Text 17"/>
          <p:cNvSpPr/>
          <p:nvPr/>
        </p:nvSpPr>
        <p:spPr>
          <a:xfrm>
            <a:off x="1097280" y="4709160"/>
            <a:ext cx="2560320" cy="640080"/>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350" b="1" dirty="0">
                <a:solidFill>
                  <a:srgbClr val="F8FAFC"/>
                </a:solidFill>
              </a:rPr>
              <a:t>Use for routing and enrichment</a:t>
            </a:r>
            <a:endParaRPr lang="en-US" sz="1350" dirty="0"/>
          </a:p>
        </p:txBody>
      </p:sp>
      <p:sp>
        <p:nvSpPr>
          <p:cNvPr id="20" name="Text 18"/>
          <p:cNvSpPr/>
          <p:nvPr/>
        </p:nvSpPr>
        <p:spPr>
          <a:xfrm>
            <a:off x="4800600" y="4709160"/>
            <a:ext cx="2743200" cy="640080"/>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350" b="1" dirty="0">
                <a:solidFill>
                  <a:srgbClr val="F8FAFC"/>
                </a:solidFill>
              </a:rPr>
              <a:t>Do not use for autonomous containment</a:t>
            </a:r>
            <a:endParaRPr lang="en-US" sz="1350" dirty="0"/>
          </a:p>
        </p:txBody>
      </p:sp>
      <p:sp>
        <p:nvSpPr>
          <p:cNvPr id="21" name="Text 19"/>
          <p:cNvSpPr/>
          <p:nvPr/>
        </p:nvSpPr>
        <p:spPr>
          <a:xfrm>
            <a:off x="8641080" y="4709160"/>
            <a:ext cx="2560320" cy="640080"/>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350" b="1" dirty="0">
                <a:solidFill>
                  <a:srgbClr val="F8FAFC"/>
                </a:solidFill>
              </a:rPr>
              <a:t>Improve with classifier or retrieval</a:t>
            </a:r>
            <a:endParaRPr lang="en-US" sz="1350" dirty="0"/>
          </a:p>
        </p:txBody>
      </p:sp>
      <p:sp>
        <p:nvSpPr>
          <p:cNvPr id="22" name="Text 20"/>
          <p:cNvSpPr/>
          <p:nvPr/>
        </p:nvSpPr>
        <p:spPr>
          <a:xfrm>
            <a:off x="502920" y="6473952"/>
            <a:ext cx="2926080" cy="164592"/>
          </a:xfrm>
          <a:prstGeom prst="rect">
            <a:avLst/>
          </a:prstGeom>
          <a:noFill/>
          <a:ln/>
        </p:spPr>
        <p:txBody>
          <a:bodyPr wrap="square" lIns="0" tIns="0" rIns="0" bIns="0" rtlCol="0" anchor="ctr"/>
          <a:lstStyle/>
          <a:p>
            <a:pPr indent="0" marL="0">
              <a:buNone/>
            </a:pPr>
            <a:r>
              <a:rPr lang="en-US" sz="780" dirty="0">
                <a:solidFill>
                  <a:srgbClr val="94A3B8"/>
                </a:solidFill>
              </a:rPr>
              <a:t>SentinelMesh final project</a:t>
            </a:r>
            <a:endParaRPr lang="en-US" sz="780" dirty="0"/>
          </a:p>
        </p:txBody>
      </p:sp>
      <p:sp>
        <p:nvSpPr>
          <p:cNvPr id="23" name="Text 21"/>
          <p:cNvSpPr/>
          <p:nvPr/>
        </p:nvSpPr>
        <p:spPr>
          <a:xfrm>
            <a:off x="11384280" y="6446520"/>
            <a:ext cx="320040" cy="201168"/>
          </a:xfrm>
          <a:prstGeom prst="rect">
            <a:avLst/>
          </a:prstGeom>
          <a:noFill/>
          <a:ln/>
        </p:spPr>
        <p:txBody>
          <a:bodyPr wrap="square" lIns="0" tIns="0" rIns="0" bIns="0" rtlCol="0" anchor="ctr"/>
          <a:lstStyle/>
          <a:p>
            <a:pPr algn="r" indent="0" marL="0">
              <a:buNone/>
            </a:pPr>
            <a:r>
              <a:rPr lang="en-US" sz="800" dirty="0">
                <a:solidFill>
                  <a:srgbClr val="94A3B8"/>
                </a:solidFill>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Text 1"/>
          <p:cNvSpPr/>
          <p:nvPr/>
        </p:nvSpPr>
        <p:spPr>
          <a:xfrm>
            <a:off x="502920" y="320040"/>
            <a:ext cx="8138160" cy="502920"/>
          </a:xfrm>
          <a:prstGeom prst="rect">
            <a:avLst/>
          </a:prstGeom>
          <a:noFill/>
          <a:ln/>
        </p:spPr>
        <p:txBody>
          <a:bodyPr wrap="square" lIns="0" tIns="0" rIns="0" bIns="0" rtlCol="0" anchor="ctr"/>
          <a:lstStyle/>
          <a:p>
            <a:pPr indent="0" marL="0">
              <a:buNone/>
            </a:pPr>
            <a:r>
              <a:rPr lang="en-US" sz="3100" b="1" dirty="0">
                <a:solidFill>
                  <a:srgbClr val="F8FAFC"/>
                </a:solidFill>
                <a:latin typeface="Aptos Display" pitchFamily="34" charset="0"/>
                <a:ea typeface="Aptos Display" pitchFamily="34" charset="-122"/>
                <a:cs typeface="Aptos Display" pitchFamily="34" charset="-120"/>
              </a:rPr>
              <a:t>Problem and use case</a:t>
            </a:r>
            <a:endParaRPr lang="en-US" sz="3100" dirty="0"/>
          </a:p>
        </p:txBody>
      </p:sp>
      <p:sp>
        <p:nvSpPr>
          <p:cNvPr id="4" name="Text 2"/>
          <p:cNvSpPr/>
          <p:nvPr/>
        </p:nvSpPr>
        <p:spPr>
          <a:xfrm>
            <a:off x="530352" y="868680"/>
            <a:ext cx="8412480" cy="292608"/>
          </a:xfrm>
          <a:prstGeom prst="rect">
            <a:avLst/>
          </a:prstGeom>
          <a:noFill/>
          <a:ln/>
        </p:spPr>
        <p:txBody>
          <a:bodyPr wrap="square" lIns="0" tIns="0" rIns="0" bIns="0" rtlCol="0" anchor="ctr"/>
          <a:lstStyle/>
          <a:p>
            <a:pPr indent="0" marL="0">
              <a:buNone/>
            </a:pPr>
            <a:r>
              <a:rPr lang="en-US" sz="1100" dirty="0">
                <a:solidFill>
                  <a:srgbClr val="94A3B8"/>
                </a:solidFill>
              </a:rPr>
              <a:t>IoT alert volume creates Tier 1 SOC bottlenecks</a:t>
            </a:r>
            <a:endParaRPr lang="en-US" sz="1100" dirty="0"/>
          </a:p>
        </p:txBody>
      </p:sp>
      <p:sp>
        <p:nvSpPr>
          <p:cNvPr id="5" name="Shape 3"/>
          <p:cNvSpPr/>
          <p:nvPr/>
        </p:nvSpPr>
        <p:spPr>
          <a:xfrm>
            <a:off x="502920" y="1124712"/>
            <a:ext cx="2971800" cy="0"/>
          </a:xfrm>
          <a:prstGeom prst="line">
            <a:avLst/>
          </a:prstGeom>
          <a:noFill/>
          <a:ln w="16510">
            <a:solidFill>
              <a:srgbClr val="38BDF8">
                <a:alpha val="90000"/>
              </a:srgbClr>
            </a:solidFill>
            <a:prstDash val="solid"/>
          </a:ln>
        </p:spPr>
      </p:sp>
      <p:sp>
        <p:nvSpPr>
          <p:cNvPr id="6" name="Text 4"/>
          <p:cNvSpPr/>
          <p:nvPr/>
        </p:nvSpPr>
        <p:spPr>
          <a:xfrm>
            <a:off x="777240" y="1828800"/>
            <a:ext cx="1920240" cy="640080"/>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500" b="1" dirty="0">
                <a:solidFill>
                  <a:srgbClr val="F8FAFC"/>
                </a:solidFill>
              </a:rPr>
              <a:t>IoT flow logs</a:t>
            </a:r>
            <a:endParaRPr lang="en-US" sz="1500" dirty="0"/>
          </a:p>
        </p:txBody>
      </p:sp>
      <p:sp>
        <p:nvSpPr>
          <p:cNvPr id="7" name="Text 5"/>
          <p:cNvSpPr/>
          <p:nvPr/>
        </p:nvSpPr>
        <p:spPr>
          <a:xfrm>
            <a:off x="3429000" y="1828800"/>
            <a:ext cx="1920240" cy="640080"/>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500" b="1" dirty="0">
                <a:solidFill>
                  <a:srgbClr val="F8FAFC"/>
                </a:solidFill>
              </a:rPr>
              <a:t>Alert overload</a:t>
            </a:r>
            <a:endParaRPr lang="en-US" sz="1500" dirty="0"/>
          </a:p>
        </p:txBody>
      </p:sp>
      <p:sp>
        <p:nvSpPr>
          <p:cNvPr id="8" name="Text 6"/>
          <p:cNvSpPr/>
          <p:nvPr/>
        </p:nvSpPr>
        <p:spPr>
          <a:xfrm>
            <a:off x="6080760" y="1828800"/>
            <a:ext cx="1920240" cy="640080"/>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500" b="1" dirty="0">
                <a:solidFill>
                  <a:srgbClr val="F8FAFC"/>
                </a:solidFill>
              </a:rPr>
              <a:t>Analyst triage</a:t>
            </a:r>
            <a:endParaRPr lang="en-US" sz="1500" dirty="0"/>
          </a:p>
        </p:txBody>
      </p:sp>
      <p:sp>
        <p:nvSpPr>
          <p:cNvPr id="9" name="Text 7"/>
          <p:cNvSpPr/>
          <p:nvPr/>
        </p:nvSpPr>
        <p:spPr>
          <a:xfrm>
            <a:off x="8732520" y="1828800"/>
            <a:ext cx="1920240" cy="640080"/>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500" b="1" dirty="0">
                <a:solidFill>
                  <a:srgbClr val="F8FAFC"/>
                </a:solidFill>
              </a:rPr>
              <a:t>Human decision</a:t>
            </a:r>
            <a:endParaRPr lang="en-US" sz="1500" dirty="0"/>
          </a:p>
        </p:txBody>
      </p:sp>
      <p:sp>
        <p:nvSpPr>
          <p:cNvPr id="10" name="Shape 8"/>
          <p:cNvSpPr/>
          <p:nvPr/>
        </p:nvSpPr>
        <p:spPr>
          <a:xfrm>
            <a:off x="2697480" y="2148840"/>
            <a:ext cx="731520" cy="0"/>
          </a:xfrm>
          <a:prstGeom prst="line">
            <a:avLst/>
          </a:prstGeom>
          <a:noFill/>
          <a:ln w="20320">
            <a:solidFill>
              <a:srgbClr val="38BDF8">
                <a:alpha val="92000"/>
              </a:srgbClr>
            </a:solidFill>
            <a:prstDash val="solid"/>
            <a:tailEnd type="triangle"/>
          </a:ln>
        </p:spPr>
      </p:sp>
      <p:sp>
        <p:nvSpPr>
          <p:cNvPr id="11" name="Shape 9"/>
          <p:cNvSpPr/>
          <p:nvPr/>
        </p:nvSpPr>
        <p:spPr>
          <a:xfrm>
            <a:off x="5349240" y="2148840"/>
            <a:ext cx="731520" cy="0"/>
          </a:xfrm>
          <a:prstGeom prst="line">
            <a:avLst/>
          </a:prstGeom>
          <a:noFill/>
          <a:ln w="20320">
            <a:solidFill>
              <a:srgbClr val="38BDF8">
                <a:alpha val="92000"/>
              </a:srgbClr>
            </a:solidFill>
            <a:prstDash val="solid"/>
            <a:tailEnd type="triangle"/>
          </a:ln>
        </p:spPr>
      </p:sp>
      <p:sp>
        <p:nvSpPr>
          <p:cNvPr id="12" name="Shape 10"/>
          <p:cNvSpPr/>
          <p:nvPr/>
        </p:nvSpPr>
        <p:spPr>
          <a:xfrm>
            <a:off x="8001000" y="2148840"/>
            <a:ext cx="731520" cy="0"/>
          </a:xfrm>
          <a:prstGeom prst="line">
            <a:avLst/>
          </a:prstGeom>
          <a:noFill/>
          <a:ln w="20320">
            <a:solidFill>
              <a:srgbClr val="38BDF8">
                <a:alpha val="92000"/>
              </a:srgbClr>
            </a:solidFill>
            <a:prstDash val="solid"/>
            <a:tailEnd type="triangle"/>
          </a:ln>
        </p:spPr>
      </p:sp>
      <p:sp>
        <p:nvSpPr>
          <p:cNvPr id="13" name="Text 11"/>
          <p:cNvSpPr/>
          <p:nvPr/>
        </p:nvSpPr>
        <p:spPr>
          <a:xfrm>
            <a:off x="1005840" y="3703320"/>
            <a:ext cx="1828800" cy="228600"/>
          </a:xfrm>
          <a:prstGeom prst="rect">
            <a:avLst/>
          </a:prstGeom>
          <a:noFill/>
          <a:ln/>
        </p:spPr>
        <p:txBody>
          <a:bodyPr wrap="square" lIns="508" tIns="508" rIns="508" bIns="508" rtlCol="0" anchor="ctr">
            <a:normAutofit/>
          </a:bodyPr>
          <a:lstStyle/>
          <a:p>
            <a:pPr indent="0" marL="0">
              <a:buNone/>
            </a:pPr>
            <a:r>
              <a:rPr lang="en-US" sz="1200" b="1" dirty="0">
                <a:solidFill>
                  <a:srgbClr val="38BDF8"/>
                </a:solidFill>
              </a:rPr>
              <a:t>Business pressure</a:t>
            </a:r>
            <a:endParaRPr lang="en-US" sz="1200" dirty="0"/>
          </a:p>
        </p:txBody>
      </p:sp>
      <p:sp>
        <p:nvSpPr>
          <p:cNvPr id="14" name="Text 12"/>
          <p:cNvSpPr/>
          <p:nvPr/>
        </p:nvSpPr>
        <p:spPr>
          <a:xfrm>
            <a:off x="1005840" y="4005072"/>
            <a:ext cx="2834640" cy="685800"/>
          </a:xfrm>
          <a:prstGeom prst="rect">
            <a:avLst/>
          </a:prstGeom>
          <a:noFill/>
          <a:ln/>
        </p:spPr>
        <p:txBody>
          <a:bodyPr wrap="square" lIns="508" tIns="508" rIns="508" bIns="508" rtlCol="0" anchor="ctr">
            <a:normAutofit/>
          </a:bodyPr>
          <a:lstStyle/>
          <a:p>
            <a:pPr indent="0" marL="0">
              <a:buNone/>
            </a:pPr>
            <a:r>
              <a:rPr lang="en-US" sz="1350" dirty="0">
                <a:solidFill>
                  <a:srgbClr val="C4CBD8"/>
                </a:solidFill>
              </a:rPr>
              <a:t>Security teams need AI help, but response actions must remain controlled and reviewable.</a:t>
            </a:r>
            <a:endParaRPr lang="en-US" sz="1350" dirty="0"/>
          </a:p>
        </p:txBody>
      </p:sp>
      <p:sp>
        <p:nvSpPr>
          <p:cNvPr id="15" name="Text 13"/>
          <p:cNvSpPr/>
          <p:nvPr/>
        </p:nvSpPr>
        <p:spPr>
          <a:xfrm>
            <a:off x="4663440" y="3703320"/>
            <a:ext cx="2011680" cy="228600"/>
          </a:xfrm>
          <a:prstGeom prst="rect">
            <a:avLst/>
          </a:prstGeom>
          <a:noFill/>
          <a:ln/>
        </p:spPr>
        <p:txBody>
          <a:bodyPr wrap="square" lIns="508" tIns="508" rIns="508" bIns="508" rtlCol="0" anchor="ctr">
            <a:normAutofit/>
          </a:bodyPr>
          <a:lstStyle/>
          <a:p>
            <a:pPr indent="0" marL="0">
              <a:buNone/>
            </a:pPr>
            <a:r>
              <a:rPr lang="en-US" sz="1200" b="1" dirty="0">
                <a:solidFill>
                  <a:srgbClr val="38BDF8"/>
                </a:solidFill>
              </a:rPr>
              <a:t>Technical challenge</a:t>
            </a:r>
            <a:endParaRPr lang="en-US" sz="1200" dirty="0"/>
          </a:p>
        </p:txBody>
      </p:sp>
      <p:sp>
        <p:nvSpPr>
          <p:cNvPr id="16" name="Text 14"/>
          <p:cNvSpPr/>
          <p:nvPr/>
        </p:nvSpPr>
        <p:spPr>
          <a:xfrm>
            <a:off x="4663440" y="4005072"/>
            <a:ext cx="2834640" cy="685800"/>
          </a:xfrm>
          <a:prstGeom prst="rect">
            <a:avLst/>
          </a:prstGeom>
          <a:noFill/>
          <a:ln/>
        </p:spPr>
        <p:txBody>
          <a:bodyPr wrap="square" lIns="508" tIns="508" rIns="508" bIns="508" rtlCol="0" anchor="ctr">
            <a:normAutofit/>
          </a:bodyPr>
          <a:lstStyle/>
          <a:p>
            <a:pPr indent="0" marL="0">
              <a:buNone/>
            </a:pPr>
            <a:r>
              <a:rPr lang="en-US" sz="1350" dirty="0">
                <a:solidFill>
                  <a:srgbClr val="C4CBD8"/>
                </a:solidFill>
              </a:rPr>
              <a:t>The agent must reason over compressed flow evidence and avoid hallucinated threat claims.</a:t>
            </a:r>
            <a:endParaRPr lang="en-US" sz="1350" dirty="0"/>
          </a:p>
        </p:txBody>
      </p:sp>
      <p:sp>
        <p:nvSpPr>
          <p:cNvPr id="17" name="Text 15"/>
          <p:cNvSpPr/>
          <p:nvPr/>
        </p:nvSpPr>
        <p:spPr>
          <a:xfrm>
            <a:off x="8229600" y="3703320"/>
            <a:ext cx="2011680" cy="228600"/>
          </a:xfrm>
          <a:prstGeom prst="rect">
            <a:avLst/>
          </a:prstGeom>
          <a:noFill/>
          <a:ln/>
        </p:spPr>
        <p:txBody>
          <a:bodyPr wrap="square" lIns="508" tIns="508" rIns="508" bIns="508" rtlCol="0" anchor="ctr">
            <a:normAutofit/>
          </a:bodyPr>
          <a:lstStyle/>
          <a:p>
            <a:pPr indent="0" marL="0">
              <a:buNone/>
            </a:pPr>
            <a:r>
              <a:rPr lang="en-US" sz="1200" b="1" dirty="0">
                <a:solidFill>
                  <a:srgbClr val="38BDF8"/>
                </a:solidFill>
              </a:rPr>
              <a:t>Safety requirement</a:t>
            </a:r>
            <a:endParaRPr lang="en-US" sz="1200" dirty="0"/>
          </a:p>
        </p:txBody>
      </p:sp>
      <p:sp>
        <p:nvSpPr>
          <p:cNvPr id="18" name="Text 16"/>
          <p:cNvSpPr/>
          <p:nvPr/>
        </p:nvSpPr>
        <p:spPr>
          <a:xfrm>
            <a:off x="8229600" y="4005072"/>
            <a:ext cx="2834640" cy="685800"/>
          </a:xfrm>
          <a:prstGeom prst="rect">
            <a:avLst/>
          </a:prstGeom>
          <a:noFill/>
          <a:ln/>
        </p:spPr>
        <p:txBody>
          <a:bodyPr wrap="square" lIns="508" tIns="508" rIns="508" bIns="508" rtlCol="0" anchor="ctr">
            <a:normAutofit/>
          </a:bodyPr>
          <a:lstStyle/>
          <a:p>
            <a:pPr indent="0" marL="0">
              <a:buNone/>
            </a:pPr>
            <a:r>
              <a:rPr lang="en-US" sz="1350" dirty="0">
                <a:solidFill>
                  <a:srgbClr val="C4CBD8"/>
                </a:solidFill>
              </a:rPr>
              <a:t>Recommendations are advisory only. Analysts approve containment actions before execution.</a:t>
            </a:r>
            <a:endParaRPr lang="en-US" sz="1350" dirty="0"/>
          </a:p>
        </p:txBody>
      </p:sp>
      <p:sp>
        <p:nvSpPr>
          <p:cNvPr id="19" name="Text 17"/>
          <p:cNvSpPr/>
          <p:nvPr/>
        </p:nvSpPr>
        <p:spPr>
          <a:xfrm>
            <a:off x="502920" y="6473952"/>
            <a:ext cx="2926080" cy="164592"/>
          </a:xfrm>
          <a:prstGeom prst="rect">
            <a:avLst/>
          </a:prstGeom>
          <a:noFill/>
          <a:ln/>
        </p:spPr>
        <p:txBody>
          <a:bodyPr wrap="square" lIns="0" tIns="0" rIns="0" bIns="0" rtlCol="0" anchor="ctr"/>
          <a:lstStyle/>
          <a:p>
            <a:pPr indent="0" marL="0">
              <a:buNone/>
            </a:pPr>
            <a:r>
              <a:rPr lang="en-US" sz="780" dirty="0">
                <a:solidFill>
                  <a:srgbClr val="94A3B8"/>
                </a:solidFill>
              </a:rPr>
              <a:t>SentinelMesh final project</a:t>
            </a:r>
            <a:endParaRPr lang="en-US" sz="780" dirty="0"/>
          </a:p>
        </p:txBody>
      </p:sp>
      <p:sp>
        <p:nvSpPr>
          <p:cNvPr id="20" name="Text 18"/>
          <p:cNvSpPr/>
          <p:nvPr/>
        </p:nvSpPr>
        <p:spPr>
          <a:xfrm>
            <a:off x="11384280" y="6446520"/>
            <a:ext cx="320040" cy="201168"/>
          </a:xfrm>
          <a:prstGeom prst="rect">
            <a:avLst/>
          </a:prstGeom>
          <a:noFill/>
          <a:ln/>
        </p:spPr>
        <p:txBody>
          <a:bodyPr wrap="square" lIns="0" tIns="0" rIns="0" bIns="0" rtlCol="0" anchor="ctr"/>
          <a:lstStyle/>
          <a:p>
            <a:pPr algn="r" indent="0" marL="0">
              <a:buNone/>
            </a:pPr>
            <a:r>
              <a:rPr lang="en-US" sz="800" dirty="0">
                <a:solidFill>
                  <a:srgbClr val="94A3B8"/>
                </a:solidFill>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Text 1"/>
          <p:cNvSpPr/>
          <p:nvPr/>
        </p:nvSpPr>
        <p:spPr>
          <a:xfrm>
            <a:off x="502920" y="320040"/>
            <a:ext cx="8138160" cy="502920"/>
          </a:xfrm>
          <a:prstGeom prst="rect">
            <a:avLst/>
          </a:prstGeom>
          <a:noFill/>
          <a:ln/>
        </p:spPr>
        <p:txBody>
          <a:bodyPr wrap="square" lIns="0" tIns="0" rIns="0" bIns="0" rtlCol="0" anchor="ctr"/>
          <a:lstStyle/>
          <a:p>
            <a:pPr indent="0" marL="0">
              <a:buNone/>
            </a:pPr>
            <a:r>
              <a:rPr lang="en-US" sz="3100" b="1" dirty="0">
                <a:solidFill>
                  <a:srgbClr val="F8FAFC"/>
                </a:solidFill>
                <a:latin typeface="Aptos Display" pitchFamily="34" charset="0"/>
                <a:ea typeface="Aptos Display" pitchFamily="34" charset="-122"/>
                <a:cs typeface="Aptos Display" pitchFamily="34" charset="-120"/>
              </a:rPr>
              <a:t>Deliverables covered</a:t>
            </a:r>
            <a:endParaRPr lang="en-US" sz="3100" dirty="0"/>
          </a:p>
        </p:txBody>
      </p:sp>
      <p:sp>
        <p:nvSpPr>
          <p:cNvPr id="4" name="Text 2"/>
          <p:cNvSpPr/>
          <p:nvPr/>
        </p:nvSpPr>
        <p:spPr>
          <a:xfrm>
            <a:off x="530352" y="868680"/>
            <a:ext cx="8412480" cy="292608"/>
          </a:xfrm>
          <a:prstGeom prst="rect">
            <a:avLst/>
          </a:prstGeom>
          <a:noFill/>
          <a:ln/>
        </p:spPr>
        <p:txBody>
          <a:bodyPr wrap="square" lIns="0" tIns="0" rIns="0" bIns="0" rtlCol="0" anchor="ctr"/>
          <a:lstStyle/>
          <a:p>
            <a:pPr indent="0" marL="0">
              <a:buNone/>
            </a:pPr>
            <a:r>
              <a:rPr lang="en-US" sz="1100" dirty="0">
                <a:solidFill>
                  <a:srgbClr val="94A3B8"/>
                </a:solidFill>
              </a:rPr>
              <a:t>How the project maps to the requested artifacts</a:t>
            </a:r>
            <a:endParaRPr lang="en-US" sz="1100" dirty="0"/>
          </a:p>
        </p:txBody>
      </p:sp>
      <p:sp>
        <p:nvSpPr>
          <p:cNvPr id="5" name="Shape 3"/>
          <p:cNvSpPr/>
          <p:nvPr/>
        </p:nvSpPr>
        <p:spPr>
          <a:xfrm>
            <a:off x="502920" y="1124712"/>
            <a:ext cx="2971800" cy="0"/>
          </a:xfrm>
          <a:prstGeom prst="line">
            <a:avLst/>
          </a:prstGeom>
          <a:noFill/>
          <a:ln w="16510">
            <a:solidFill>
              <a:srgbClr val="38BDF8">
                <a:alpha val="90000"/>
              </a:srgbClr>
            </a:solidFill>
            <a:prstDash val="solid"/>
          </a:ln>
        </p:spPr>
      </p:sp>
      <p:sp>
        <p:nvSpPr>
          <p:cNvPr id="6" name="Text 4"/>
          <p:cNvSpPr/>
          <p:nvPr/>
        </p:nvSpPr>
        <p:spPr>
          <a:xfrm>
            <a:off x="777240" y="1600200"/>
            <a:ext cx="548640" cy="438912"/>
          </a:xfrm>
          <a:prstGeom prst="rect">
            <a:avLst/>
          </a:prstGeom>
          <a:solidFill>
            <a:srgbClr val="38BDF8"/>
          </a:solidFill>
          <a:ln w="11430">
            <a:solidFill>
              <a:srgbClr val="334155"/>
            </a:solidFill>
          </a:ln>
        </p:spPr>
        <p:txBody>
          <a:bodyPr wrap="square" lIns="762" tIns="762" rIns="762" bIns="762" rtlCol="0" anchor="ctr">
            <a:normAutofit/>
          </a:bodyPr>
          <a:lstStyle/>
          <a:p>
            <a:pPr algn="ctr" indent="0" marL="0">
              <a:buNone/>
            </a:pPr>
            <a:r>
              <a:rPr lang="en-US" sz="1500" b="1" dirty="0">
                <a:solidFill>
                  <a:srgbClr val="0B1220"/>
                </a:solidFill>
              </a:rPr>
              <a:t>01</a:t>
            </a:r>
            <a:endParaRPr lang="en-US" sz="1500" dirty="0"/>
          </a:p>
        </p:txBody>
      </p:sp>
      <p:sp>
        <p:nvSpPr>
          <p:cNvPr id="7" name="Text 5"/>
          <p:cNvSpPr/>
          <p:nvPr/>
        </p:nvSpPr>
        <p:spPr>
          <a:xfrm>
            <a:off x="1508760" y="1536192"/>
            <a:ext cx="2240280" cy="274320"/>
          </a:xfrm>
          <a:prstGeom prst="rect">
            <a:avLst/>
          </a:prstGeom>
          <a:noFill/>
          <a:ln/>
        </p:spPr>
        <p:txBody>
          <a:bodyPr wrap="square" lIns="508" tIns="508" rIns="508" bIns="508" rtlCol="0" anchor="ctr">
            <a:normAutofit/>
          </a:bodyPr>
          <a:lstStyle/>
          <a:p>
            <a:pPr indent="0" marL="0">
              <a:buNone/>
            </a:pPr>
            <a:r>
              <a:rPr lang="en-US" sz="1600" b="1" dirty="0">
                <a:solidFill>
                  <a:srgbClr val="F8FAFC"/>
                </a:solidFill>
              </a:rPr>
              <a:t>01 data pipeline</a:t>
            </a:r>
            <a:endParaRPr lang="en-US" sz="1600" dirty="0"/>
          </a:p>
        </p:txBody>
      </p:sp>
      <p:sp>
        <p:nvSpPr>
          <p:cNvPr id="8" name="Text 6"/>
          <p:cNvSpPr/>
          <p:nvPr/>
        </p:nvSpPr>
        <p:spPr>
          <a:xfrm>
            <a:off x="4526280" y="1536192"/>
            <a:ext cx="6263640" cy="411480"/>
          </a:xfrm>
          <a:prstGeom prst="rect">
            <a:avLst/>
          </a:prstGeom>
          <a:noFill/>
          <a:ln/>
        </p:spPr>
        <p:txBody>
          <a:bodyPr wrap="square" lIns="508" tIns="508" rIns="508" bIns="508" rtlCol="0" anchor="ctr">
            <a:normAutofit/>
          </a:bodyPr>
          <a:lstStyle/>
          <a:p>
            <a:pPr indent="0" marL="0">
              <a:buNone/>
            </a:pPr>
            <a:r>
              <a:rPr lang="en-US" sz="1320" dirty="0">
                <a:solidFill>
                  <a:srgbClr val="C4CBD8"/>
                </a:solidFill>
              </a:rPr>
              <a:t>Loads CIC IoT data, creates stratified sample, renders alert text, persists Unity Catalog tables</a:t>
            </a:r>
            <a:endParaRPr lang="en-US" sz="1320" dirty="0"/>
          </a:p>
        </p:txBody>
      </p:sp>
      <p:sp>
        <p:nvSpPr>
          <p:cNvPr id="9" name="Text 7"/>
          <p:cNvSpPr/>
          <p:nvPr/>
        </p:nvSpPr>
        <p:spPr>
          <a:xfrm>
            <a:off x="777240" y="2651760"/>
            <a:ext cx="548640" cy="438912"/>
          </a:xfrm>
          <a:prstGeom prst="rect">
            <a:avLst/>
          </a:prstGeom>
          <a:solidFill>
            <a:srgbClr val="A78BFA"/>
          </a:solidFill>
          <a:ln w="11430">
            <a:solidFill>
              <a:srgbClr val="334155"/>
            </a:solidFill>
          </a:ln>
        </p:spPr>
        <p:txBody>
          <a:bodyPr wrap="square" lIns="762" tIns="762" rIns="762" bIns="762" rtlCol="0" anchor="ctr">
            <a:normAutofit/>
          </a:bodyPr>
          <a:lstStyle/>
          <a:p>
            <a:pPr algn="ctr" indent="0" marL="0">
              <a:buNone/>
            </a:pPr>
            <a:r>
              <a:rPr lang="en-US" sz="1500" b="1" dirty="0">
                <a:solidFill>
                  <a:srgbClr val="0B1220"/>
                </a:solidFill>
              </a:rPr>
              <a:t>02</a:t>
            </a:r>
            <a:endParaRPr lang="en-US" sz="1500" dirty="0"/>
          </a:p>
        </p:txBody>
      </p:sp>
      <p:sp>
        <p:nvSpPr>
          <p:cNvPr id="10" name="Text 8"/>
          <p:cNvSpPr/>
          <p:nvPr/>
        </p:nvSpPr>
        <p:spPr>
          <a:xfrm>
            <a:off x="1508760" y="2587752"/>
            <a:ext cx="2240280" cy="274320"/>
          </a:xfrm>
          <a:prstGeom prst="rect">
            <a:avLst/>
          </a:prstGeom>
          <a:noFill/>
          <a:ln/>
        </p:spPr>
        <p:txBody>
          <a:bodyPr wrap="square" lIns="508" tIns="508" rIns="508" bIns="508" rtlCol="0" anchor="ctr">
            <a:normAutofit/>
          </a:bodyPr>
          <a:lstStyle/>
          <a:p>
            <a:pPr indent="0" marL="0">
              <a:buNone/>
            </a:pPr>
            <a:r>
              <a:rPr lang="en-US" sz="1600" b="1" dirty="0">
                <a:solidFill>
                  <a:srgbClr val="F8FAFC"/>
                </a:solidFill>
              </a:rPr>
              <a:t>sentinelmesh_agent.py</a:t>
            </a:r>
            <a:endParaRPr lang="en-US" sz="1600" dirty="0"/>
          </a:p>
        </p:txBody>
      </p:sp>
      <p:sp>
        <p:nvSpPr>
          <p:cNvPr id="11" name="Text 9"/>
          <p:cNvSpPr/>
          <p:nvPr/>
        </p:nvSpPr>
        <p:spPr>
          <a:xfrm>
            <a:off x="4526280" y="2587752"/>
            <a:ext cx="6263640" cy="411480"/>
          </a:xfrm>
          <a:prstGeom prst="rect">
            <a:avLst/>
          </a:prstGeom>
          <a:noFill/>
          <a:ln/>
        </p:spPr>
        <p:txBody>
          <a:bodyPr wrap="square" lIns="508" tIns="508" rIns="508" bIns="508" rtlCol="0" anchor="ctr">
            <a:normAutofit/>
          </a:bodyPr>
          <a:lstStyle/>
          <a:p>
            <a:pPr indent="0" marL="0">
              <a:buNone/>
            </a:pPr>
            <a:r>
              <a:rPr lang="en-US" sz="1320" dirty="0">
                <a:solidFill>
                  <a:srgbClr val="C4CBD8"/>
                </a:solidFill>
              </a:rPr>
              <a:t>Reusable agent logic, model endpoints, prompt, tools, tool loop, error handling</a:t>
            </a:r>
            <a:endParaRPr lang="en-US" sz="1320" dirty="0"/>
          </a:p>
        </p:txBody>
      </p:sp>
      <p:sp>
        <p:nvSpPr>
          <p:cNvPr id="12" name="Text 10"/>
          <p:cNvSpPr/>
          <p:nvPr/>
        </p:nvSpPr>
        <p:spPr>
          <a:xfrm>
            <a:off x="777240" y="3703320"/>
            <a:ext cx="548640" cy="438912"/>
          </a:xfrm>
          <a:prstGeom prst="rect">
            <a:avLst/>
          </a:prstGeom>
          <a:solidFill>
            <a:srgbClr val="22C55E"/>
          </a:solidFill>
          <a:ln w="11430">
            <a:solidFill>
              <a:srgbClr val="334155"/>
            </a:solidFill>
          </a:ln>
        </p:spPr>
        <p:txBody>
          <a:bodyPr wrap="square" lIns="762" tIns="762" rIns="762" bIns="762" rtlCol="0" anchor="ctr">
            <a:normAutofit/>
          </a:bodyPr>
          <a:lstStyle/>
          <a:p>
            <a:pPr algn="ctr" indent="0" marL="0">
              <a:buNone/>
            </a:pPr>
            <a:r>
              <a:rPr lang="en-US" sz="1500" b="1" dirty="0">
                <a:solidFill>
                  <a:srgbClr val="0B1220"/>
                </a:solidFill>
              </a:rPr>
              <a:t>03</a:t>
            </a:r>
            <a:endParaRPr lang="en-US" sz="1500" dirty="0"/>
          </a:p>
        </p:txBody>
      </p:sp>
      <p:sp>
        <p:nvSpPr>
          <p:cNvPr id="13" name="Text 11"/>
          <p:cNvSpPr/>
          <p:nvPr/>
        </p:nvSpPr>
        <p:spPr>
          <a:xfrm>
            <a:off x="1508760" y="3639312"/>
            <a:ext cx="2240280" cy="274320"/>
          </a:xfrm>
          <a:prstGeom prst="rect">
            <a:avLst/>
          </a:prstGeom>
          <a:noFill/>
          <a:ln/>
        </p:spPr>
        <p:txBody>
          <a:bodyPr wrap="square" lIns="508" tIns="508" rIns="508" bIns="508" rtlCol="0" anchor="ctr">
            <a:normAutofit/>
          </a:bodyPr>
          <a:lstStyle/>
          <a:p>
            <a:pPr indent="0" marL="0">
              <a:buNone/>
            </a:pPr>
            <a:r>
              <a:rPr lang="en-US" sz="1600" b="1" dirty="0">
                <a:solidFill>
                  <a:srgbClr val="F8FAFC"/>
                </a:solidFill>
              </a:rPr>
              <a:t>02 agent definition and traces</a:t>
            </a:r>
            <a:endParaRPr lang="en-US" sz="1600" dirty="0"/>
          </a:p>
        </p:txBody>
      </p:sp>
      <p:sp>
        <p:nvSpPr>
          <p:cNvPr id="14" name="Text 12"/>
          <p:cNvSpPr/>
          <p:nvPr/>
        </p:nvSpPr>
        <p:spPr>
          <a:xfrm>
            <a:off x="4526280" y="3639312"/>
            <a:ext cx="6263640" cy="411480"/>
          </a:xfrm>
          <a:prstGeom prst="rect">
            <a:avLst/>
          </a:prstGeom>
          <a:noFill/>
          <a:ln/>
        </p:spPr>
        <p:txBody>
          <a:bodyPr wrap="square" lIns="508" tIns="508" rIns="508" bIns="508" rtlCol="0" anchor="ctr">
            <a:normAutofit/>
          </a:bodyPr>
          <a:lstStyle/>
          <a:p>
            <a:pPr indent="0" marL="0">
              <a:buNone/>
            </a:pPr>
            <a:r>
              <a:rPr lang="en-US" sz="1320" dirty="0">
                <a:solidFill>
                  <a:srgbClr val="C4CBD8"/>
                </a:solidFill>
              </a:rPr>
              <a:t>Five traces, two graceful rejections, two model comparison, deterministic demo scoring</a:t>
            </a:r>
            <a:endParaRPr lang="en-US" sz="1320" dirty="0"/>
          </a:p>
        </p:txBody>
      </p:sp>
      <p:sp>
        <p:nvSpPr>
          <p:cNvPr id="15" name="Text 13"/>
          <p:cNvSpPr/>
          <p:nvPr/>
        </p:nvSpPr>
        <p:spPr>
          <a:xfrm>
            <a:off x="777240" y="4754880"/>
            <a:ext cx="548640" cy="438912"/>
          </a:xfrm>
          <a:prstGeom prst="rect">
            <a:avLst/>
          </a:prstGeom>
          <a:solidFill>
            <a:srgbClr val="F59E0B"/>
          </a:solidFill>
          <a:ln w="11430">
            <a:solidFill>
              <a:srgbClr val="334155"/>
            </a:solidFill>
          </a:ln>
        </p:spPr>
        <p:txBody>
          <a:bodyPr wrap="square" lIns="762" tIns="762" rIns="762" bIns="762" rtlCol="0" anchor="ctr">
            <a:normAutofit/>
          </a:bodyPr>
          <a:lstStyle/>
          <a:p>
            <a:pPr algn="ctr" indent="0" marL="0">
              <a:buNone/>
            </a:pPr>
            <a:r>
              <a:rPr lang="en-US" sz="1500" b="1" dirty="0">
                <a:solidFill>
                  <a:srgbClr val="0B1220"/>
                </a:solidFill>
              </a:rPr>
              <a:t>04</a:t>
            </a:r>
            <a:endParaRPr lang="en-US" sz="1500" dirty="0"/>
          </a:p>
        </p:txBody>
      </p:sp>
      <p:sp>
        <p:nvSpPr>
          <p:cNvPr id="16" name="Text 14"/>
          <p:cNvSpPr/>
          <p:nvPr/>
        </p:nvSpPr>
        <p:spPr>
          <a:xfrm>
            <a:off x="1508760" y="4690872"/>
            <a:ext cx="2240280" cy="274320"/>
          </a:xfrm>
          <a:prstGeom prst="rect">
            <a:avLst/>
          </a:prstGeom>
          <a:noFill/>
          <a:ln/>
        </p:spPr>
        <p:txBody>
          <a:bodyPr wrap="square" lIns="508" tIns="508" rIns="508" bIns="508" rtlCol="0" anchor="ctr">
            <a:normAutofit/>
          </a:bodyPr>
          <a:lstStyle/>
          <a:p>
            <a:pPr indent="0" marL="0">
              <a:buNone/>
            </a:pPr>
            <a:r>
              <a:rPr lang="en-US" sz="1600" b="1" dirty="0">
                <a:solidFill>
                  <a:srgbClr val="F8FAFC"/>
                </a:solidFill>
              </a:rPr>
              <a:t>03 evaluation</a:t>
            </a:r>
            <a:endParaRPr lang="en-US" sz="1600" dirty="0"/>
          </a:p>
        </p:txBody>
      </p:sp>
      <p:sp>
        <p:nvSpPr>
          <p:cNvPr id="17" name="Text 15"/>
          <p:cNvSpPr/>
          <p:nvPr/>
        </p:nvSpPr>
        <p:spPr>
          <a:xfrm>
            <a:off x="4526280" y="4690872"/>
            <a:ext cx="6263640" cy="411480"/>
          </a:xfrm>
          <a:prstGeom prst="rect">
            <a:avLst/>
          </a:prstGeom>
          <a:noFill/>
          <a:ln/>
        </p:spPr>
        <p:txBody>
          <a:bodyPr wrap="square" lIns="508" tIns="508" rIns="508" bIns="508" rtlCol="0" anchor="ctr">
            <a:normAutofit/>
          </a:bodyPr>
          <a:lstStyle/>
          <a:p>
            <a:pPr indent="0" marL="0">
              <a:buNone/>
            </a:pPr>
            <a:r>
              <a:rPr lang="en-US" sz="1320" dirty="0">
                <a:solidFill>
                  <a:srgbClr val="C4CBD8"/>
                </a:solidFill>
              </a:rPr>
              <a:t>Answer sheet, fallback LLM judge, manual deterministic judge, human review, metrics logging</a:t>
            </a:r>
            <a:endParaRPr lang="en-US" sz="1320" dirty="0"/>
          </a:p>
        </p:txBody>
      </p:sp>
      <p:sp>
        <p:nvSpPr>
          <p:cNvPr id="18" name="Text 16"/>
          <p:cNvSpPr/>
          <p:nvPr/>
        </p:nvSpPr>
        <p:spPr>
          <a:xfrm>
            <a:off x="502920" y="6473952"/>
            <a:ext cx="2926080" cy="164592"/>
          </a:xfrm>
          <a:prstGeom prst="rect">
            <a:avLst/>
          </a:prstGeom>
          <a:noFill/>
          <a:ln/>
        </p:spPr>
        <p:txBody>
          <a:bodyPr wrap="square" lIns="0" tIns="0" rIns="0" bIns="0" rtlCol="0" anchor="ctr"/>
          <a:lstStyle/>
          <a:p>
            <a:pPr indent="0" marL="0">
              <a:buNone/>
            </a:pPr>
            <a:r>
              <a:rPr lang="en-US" sz="780" dirty="0">
                <a:solidFill>
                  <a:srgbClr val="94A3B8"/>
                </a:solidFill>
              </a:rPr>
              <a:t>SentinelMesh final project</a:t>
            </a:r>
            <a:endParaRPr lang="en-US" sz="780" dirty="0"/>
          </a:p>
        </p:txBody>
      </p:sp>
      <p:sp>
        <p:nvSpPr>
          <p:cNvPr id="19" name="Text 17"/>
          <p:cNvSpPr/>
          <p:nvPr/>
        </p:nvSpPr>
        <p:spPr>
          <a:xfrm>
            <a:off x="11384280" y="6446520"/>
            <a:ext cx="320040" cy="201168"/>
          </a:xfrm>
          <a:prstGeom prst="rect">
            <a:avLst/>
          </a:prstGeom>
          <a:noFill/>
          <a:ln/>
        </p:spPr>
        <p:txBody>
          <a:bodyPr wrap="square" lIns="0" tIns="0" rIns="0" bIns="0" rtlCol="0" anchor="ctr"/>
          <a:lstStyle/>
          <a:p>
            <a:pPr algn="r" indent="0" marL="0">
              <a:buNone/>
            </a:pPr>
            <a:r>
              <a:rPr lang="en-US" sz="800" dirty="0">
                <a:solidFill>
                  <a:srgbClr val="94A3B8"/>
                </a:solidFill>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Text 1"/>
          <p:cNvSpPr/>
          <p:nvPr/>
        </p:nvSpPr>
        <p:spPr>
          <a:xfrm>
            <a:off x="502920" y="320040"/>
            <a:ext cx="8138160" cy="502920"/>
          </a:xfrm>
          <a:prstGeom prst="rect">
            <a:avLst/>
          </a:prstGeom>
          <a:noFill/>
          <a:ln/>
        </p:spPr>
        <p:txBody>
          <a:bodyPr wrap="square" lIns="0" tIns="0" rIns="0" bIns="0" rtlCol="0" anchor="ctr"/>
          <a:lstStyle/>
          <a:p>
            <a:pPr indent="0" marL="0">
              <a:buNone/>
            </a:pPr>
            <a:r>
              <a:rPr lang="en-US" sz="3100" b="1" dirty="0">
                <a:solidFill>
                  <a:srgbClr val="F8FAFC"/>
                </a:solidFill>
                <a:latin typeface="Aptos Display" pitchFamily="34" charset="0"/>
                <a:ea typeface="Aptos Display" pitchFamily="34" charset="-122"/>
                <a:cs typeface="Aptos Display" pitchFamily="34" charset="-120"/>
              </a:rPr>
              <a:t>Data pipeline</a:t>
            </a:r>
            <a:endParaRPr lang="en-US" sz="3100" dirty="0"/>
          </a:p>
        </p:txBody>
      </p:sp>
      <p:sp>
        <p:nvSpPr>
          <p:cNvPr id="4" name="Text 2"/>
          <p:cNvSpPr/>
          <p:nvPr/>
        </p:nvSpPr>
        <p:spPr>
          <a:xfrm>
            <a:off x="530352" y="868680"/>
            <a:ext cx="8412480" cy="292608"/>
          </a:xfrm>
          <a:prstGeom prst="rect">
            <a:avLst/>
          </a:prstGeom>
          <a:noFill/>
          <a:ln/>
        </p:spPr>
        <p:txBody>
          <a:bodyPr wrap="square" lIns="0" tIns="0" rIns="0" bIns="0" rtlCol="0" anchor="ctr"/>
          <a:lstStyle/>
          <a:p>
            <a:pPr indent="0" marL="0">
              <a:buNone/>
            </a:pPr>
            <a:r>
              <a:rPr lang="en-US" sz="1100" dirty="0">
                <a:solidFill>
                  <a:srgbClr val="94A3B8"/>
                </a:solidFill>
              </a:rPr>
              <a:t>From CIC IoT flows to governed alert examples</a:t>
            </a:r>
            <a:endParaRPr lang="en-US" sz="1100" dirty="0"/>
          </a:p>
        </p:txBody>
      </p:sp>
      <p:sp>
        <p:nvSpPr>
          <p:cNvPr id="5" name="Shape 3"/>
          <p:cNvSpPr/>
          <p:nvPr/>
        </p:nvSpPr>
        <p:spPr>
          <a:xfrm>
            <a:off x="502920" y="1124712"/>
            <a:ext cx="2971800" cy="0"/>
          </a:xfrm>
          <a:prstGeom prst="line">
            <a:avLst/>
          </a:prstGeom>
          <a:noFill/>
          <a:ln w="16510">
            <a:solidFill>
              <a:srgbClr val="38BDF8">
                <a:alpha val="90000"/>
              </a:srgbClr>
            </a:solidFill>
            <a:prstDash val="solid"/>
          </a:ln>
        </p:spPr>
      </p:sp>
      <p:sp>
        <p:nvSpPr>
          <p:cNvPr id="6" name="Text 4"/>
          <p:cNvSpPr/>
          <p:nvPr/>
        </p:nvSpPr>
        <p:spPr>
          <a:xfrm>
            <a:off x="640080" y="2057400"/>
            <a:ext cx="1664208" cy="566928"/>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250" b="1" dirty="0">
                <a:solidFill>
                  <a:srgbClr val="F8FAFC"/>
                </a:solidFill>
              </a:rPr>
              <a:t>Raw CSV</a:t>
            </a:r>
            <a:endParaRPr lang="en-US" sz="1250" dirty="0"/>
          </a:p>
        </p:txBody>
      </p:sp>
      <p:sp>
        <p:nvSpPr>
          <p:cNvPr id="7" name="Shape 5"/>
          <p:cNvSpPr/>
          <p:nvPr/>
        </p:nvSpPr>
        <p:spPr>
          <a:xfrm>
            <a:off x="2304288" y="2340864"/>
            <a:ext cx="576072" cy="0"/>
          </a:xfrm>
          <a:prstGeom prst="line">
            <a:avLst/>
          </a:prstGeom>
          <a:noFill/>
          <a:ln w="20320">
            <a:solidFill>
              <a:srgbClr val="38BDF8">
                <a:alpha val="92000"/>
              </a:srgbClr>
            </a:solidFill>
            <a:prstDash val="solid"/>
            <a:tailEnd type="triangle"/>
          </a:ln>
        </p:spPr>
      </p:sp>
      <p:sp>
        <p:nvSpPr>
          <p:cNvPr id="8" name="Text 6"/>
          <p:cNvSpPr/>
          <p:nvPr/>
        </p:nvSpPr>
        <p:spPr>
          <a:xfrm>
            <a:off x="2880360" y="2057400"/>
            <a:ext cx="1664208" cy="566928"/>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250" b="1" dirty="0">
                <a:solidFill>
                  <a:srgbClr val="F8FAFC"/>
                </a:solidFill>
              </a:rPr>
              <a:t>Unity Catalog raw table</a:t>
            </a:r>
            <a:endParaRPr lang="en-US" sz="1250" dirty="0"/>
          </a:p>
        </p:txBody>
      </p:sp>
      <p:sp>
        <p:nvSpPr>
          <p:cNvPr id="9" name="Shape 7"/>
          <p:cNvSpPr/>
          <p:nvPr/>
        </p:nvSpPr>
        <p:spPr>
          <a:xfrm>
            <a:off x="4544568" y="2340864"/>
            <a:ext cx="576072" cy="0"/>
          </a:xfrm>
          <a:prstGeom prst="line">
            <a:avLst/>
          </a:prstGeom>
          <a:noFill/>
          <a:ln w="20320">
            <a:solidFill>
              <a:srgbClr val="38BDF8">
                <a:alpha val="92000"/>
              </a:srgbClr>
            </a:solidFill>
            <a:prstDash val="solid"/>
            <a:tailEnd type="triangle"/>
          </a:ln>
        </p:spPr>
      </p:sp>
      <p:sp>
        <p:nvSpPr>
          <p:cNvPr id="10" name="Text 8"/>
          <p:cNvSpPr/>
          <p:nvPr/>
        </p:nvSpPr>
        <p:spPr>
          <a:xfrm>
            <a:off x="5120640" y="2057400"/>
            <a:ext cx="1664208" cy="566928"/>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250" b="1" dirty="0">
                <a:solidFill>
                  <a:srgbClr val="F8FAFC"/>
                </a:solidFill>
              </a:rPr>
              <a:t>Stratified sample</a:t>
            </a:r>
            <a:endParaRPr lang="en-US" sz="1250" dirty="0"/>
          </a:p>
        </p:txBody>
      </p:sp>
      <p:sp>
        <p:nvSpPr>
          <p:cNvPr id="11" name="Shape 9"/>
          <p:cNvSpPr/>
          <p:nvPr/>
        </p:nvSpPr>
        <p:spPr>
          <a:xfrm>
            <a:off x="6784848" y="2340864"/>
            <a:ext cx="576072" cy="0"/>
          </a:xfrm>
          <a:prstGeom prst="line">
            <a:avLst/>
          </a:prstGeom>
          <a:noFill/>
          <a:ln w="20320">
            <a:solidFill>
              <a:srgbClr val="38BDF8">
                <a:alpha val="92000"/>
              </a:srgbClr>
            </a:solidFill>
            <a:prstDash val="solid"/>
            <a:tailEnd type="triangle"/>
          </a:ln>
        </p:spPr>
      </p:sp>
      <p:sp>
        <p:nvSpPr>
          <p:cNvPr id="12" name="Text 10"/>
          <p:cNvSpPr/>
          <p:nvPr/>
        </p:nvSpPr>
        <p:spPr>
          <a:xfrm>
            <a:off x="7360920" y="2057400"/>
            <a:ext cx="1664208" cy="566928"/>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250" b="1" dirty="0">
                <a:solidFill>
                  <a:srgbClr val="F8FAFC"/>
                </a:solidFill>
              </a:rPr>
              <a:t>Rich alert text</a:t>
            </a:r>
            <a:endParaRPr lang="en-US" sz="1250" dirty="0"/>
          </a:p>
        </p:txBody>
      </p:sp>
      <p:sp>
        <p:nvSpPr>
          <p:cNvPr id="13" name="Shape 11"/>
          <p:cNvSpPr/>
          <p:nvPr/>
        </p:nvSpPr>
        <p:spPr>
          <a:xfrm>
            <a:off x="9025128" y="2340864"/>
            <a:ext cx="576072" cy="0"/>
          </a:xfrm>
          <a:prstGeom prst="line">
            <a:avLst/>
          </a:prstGeom>
          <a:noFill/>
          <a:ln w="20320">
            <a:solidFill>
              <a:srgbClr val="38BDF8">
                <a:alpha val="92000"/>
              </a:srgbClr>
            </a:solidFill>
            <a:prstDash val="solid"/>
            <a:tailEnd type="triangle"/>
          </a:ln>
        </p:spPr>
      </p:sp>
      <p:sp>
        <p:nvSpPr>
          <p:cNvPr id="14" name="Text 12"/>
          <p:cNvSpPr/>
          <p:nvPr/>
        </p:nvSpPr>
        <p:spPr>
          <a:xfrm>
            <a:off x="9601200" y="2057400"/>
            <a:ext cx="1664208" cy="566928"/>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250" b="1" dirty="0">
                <a:solidFill>
                  <a:srgbClr val="F8FAFC"/>
                </a:solidFill>
              </a:rPr>
              <a:t>Reusable eval table</a:t>
            </a:r>
            <a:endParaRPr lang="en-US" sz="1250" dirty="0"/>
          </a:p>
        </p:txBody>
      </p:sp>
      <p:sp>
        <p:nvSpPr>
          <p:cNvPr id="15" name="Text 13"/>
          <p:cNvSpPr/>
          <p:nvPr/>
        </p:nvSpPr>
        <p:spPr>
          <a:xfrm>
            <a:off x="777240" y="3154680"/>
            <a:ext cx="1371600" cy="228600"/>
          </a:xfrm>
          <a:prstGeom prst="rect">
            <a:avLst/>
          </a:prstGeom>
          <a:noFill/>
          <a:ln/>
        </p:spPr>
        <p:txBody>
          <a:bodyPr wrap="square" lIns="508" tIns="508" rIns="508" bIns="508" rtlCol="0" anchor="ctr">
            <a:normAutofit/>
          </a:bodyPr>
          <a:lstStyle/>
          <a:p>
            <a:pPr indent="0" marL="0">
              <a:buNone/>
            </a:pPr>
            <a:r>
              <a:rPr lang="en-US" sz="1300" b="1" dirty="0">
                <a:solidFill>
                  <a:srgbClr val="38BDF8"/>
                </a:solidFill>
              </a:rPr>
              <a:t>240,000 rows</a:t>
            </a:r>
            <a:endParaRPr lang="en-US" sz="1300" dirty="0"/>
          </a:p>
        </p:txBody>
      </p:sp>
      <p:sp>
        <p:nvSpPr>
          <p:cNvPr id="16" name="Text 14"/>
          <p:cNvSpPr/>
          <p:nvPr/>
        </p:nvSpPr>
        <p:spPr>
          <a:xfrm>
            <a:off x="2697480" y="3154680"/>
            <a:ext cx="1371600" cy="228600"/>
          </a:xfrm>
          <a:prstGeom prst="rect">
            <a:avLst/>
          </a:prstGeom>
          <a:noFill/>
          <a:ln/>
        </p:spPr>
        <p:txBody>
          <a:bodyPr wrap="square" lIns="508" tIns="508" rIns="508" bIns="508" rtlCol="0" anchor="ctr">
            <a:normAutofit/>
          </a:bodyPr>
          <a:lstStyle/>
          <a:p>
            <a:pPr indent="0" marL="0">
              <a:buNone/>
            </a:pPr>
            <a:r>
              <a:rPr lang="en-US" sz="1300" b="1" dirty="0">
                <a:solidFill>
                  <a:srgbClr val="38BDF8"/>
                </a:solidFill>
              </a:rPr>
              <a:t>41 columns</a:t>
            </a:r>
            <a:endParaRPr lang="en-US" sz="1300" dirty="0"/>
          </a:p>
        </p:txBody>
      </p:sp>
      <p:sp>
        <p:nvSpPr>
          <p:cNvPr id="17" name="Text 15"/>
          <p:cNvSpPr/>
          <p:nvPr/>
        </p:nvSpPr>
        <p:spPr>
          <a:xfrm>
            <a:off x="4800600" y="3154680"/>
            <a:ext cx="1371600" cy="228600"/>
          </a:xfrm>
          <a:prstGeom prst="rect">
            <a:avLst/>
          </a:prstGeom>
          <a:noFill/>
          <a:ln/>
        </p:spPr>
        <p:txBody>
          <a:bodyPr wrap="square" lIns="508" tIns="508" rIns="508" bIns="508" rtlCol="0" anchor="ctr">
            <a:normAutofit/>
          </a:bodyPr>
          <a:lstStyle/>
          <a:p>
            <a:pPr indent="0" marL="0">
              <a:buNone/>
            </a:pPr>
            <a:r>
              <a:rPr lang="en-US" sz="1300" b="1" dirty="0">
                <a:solidFill>
                  <a:srgbClr val="38BDF8"/>
                </a:solidFill>
              </a:rPr>
              <a:t>34 labels</a:t>
            </a:r>
            <a:endParaRPr lang="en-US" sz="1300" dirty="0"/>
          </a:p>
        </p:txBody>
      </p:sp>
      <p:sp>
        <p:nvSpPr>
          <p:cNvPr id="18" name="Text 16"/>
          <p:cNvSpPr/>
          <p:nvPr/>
        </p:nvSpPr>
        <p:spPr>
          <a:xfrm>
            <a:off x="6720840" y="3154680"/>
            <a:ext cx="1828800" cy="228600"/>
          </a:xfrm>
          <a:prstGeom prst="rect">
            <a:avLst/>
          </a:prstGeom>
          <a:noFill/>
          <a:ln/>
        </p:spPr>
        <p:txBody>
          <a:bodyPr wrap="square" lIns="508" tIns="508" rIns="508" bIns="508" rtlCol="0" anchor="ctr">
            <a:normAutofit/>
          </a:bodyPr>
          <a:lstStyle/>
          <a:p>
            <a:pPr indent="0" marL="0">
              <a:buNone/>
            </a:pPr>
            <a:r>
              <a:rPr lang="en-US" sz="1300" b="1" dirty="0">
                <a:solidFill>
                  <a:srgbClr val="38BDF8"/>
                </a:solidFill>
              </a:rPr>
              <a:t>168 alert sample</a:t>
            </a:r>
            <a:endParaRPr lang="en-US" sz="1300" dirty="0"/>
          </a:p>
        </p:txBody>
      </p:sp>
      <p:sp>
        <p:nvSpPr>
          <p:cNvPr id="19" name="Text 17"/>
          <p:cNvSpPr/>
          <p:nvPr/>
        </p:nvSpPr>
        <p:spPr>
          <a:xfrm>
            <a:off x="9144000" y="3154680"/>
            <a:ext cx="1371600" cy="228600"/>
          </a:xfrm>
          <a:prstGeom prst="rect">
            <a:avLst/>
          </a:prstGeom>
          <a:noFill/>
          <a:ln/>
        </p:spPr>
        <p:txBody>
          <a:bodyPr wrap="square" lIns="508" tIns="508" rIns="508" bIns="508" rtlCol="0" anchor="ctr">
            <a:normAutofit/>
          </a:bodyPr>
          <a:lstStyle/>
          <a:p>
            <a:pPr indent="0" marL="0">
              <a:buNone/>
            </a:pPr>
            <a:r>
              <a:rPr lang="en-US" sz="1300" b="1" dirty="0">
                <a:solidFill>
                  <a:srgbClr val="38BDF8"/>
                </a:solidFill>
              </a:rPr>
              <a:t>10 families</a:t>
            </a:r>
            <a:endParaRPr lang="en-US" sz="1300" dirty="0"/>
          </a:p>
        </p:txBody>
      </p:sp>
      <p:sp>
        <p:nvSpPr>
          <p:cNvPr id="20" name="Text 18"/>
          <p:cNvSpPr/>
          <p:nvPr/>
        </p:nvSpPr>
        <p:spPr>
          <a:xfrm>
            <a:off x="914400" y="4572000"/>
            <a:ext cx="10332720" cy="548640"/>
          </a:xfrm>
          <a:prstGeom prst="rect">
            <a:avLst/>
          </a:prstGeom>
          <a:noFill/>
          <a:ln/>
        </p:spPr>
        <p:txBody>
          <a:bodyPr wrap="square" lIns="508" tIns="508" rIns="508" bIns="508" rtlCol="0" anchor="ctr">
            <a:normAutofit/>
          </a:bodyPr>
          <a:lstStyle/>
          <a:p>
            <a:pPr algn="ctr" indent="0" marL="0">
              <a:buNone/>
            </a:pPr>
            <a:r>
              <a:rPr lang="en-US" sz="1700" dirty="0">
                <a:solidFill>
                  <a:srgbClr val="C4CBD8"/>
                </a:solidFill>
              </a:rPr>
              <a:t>The sample caps each label at five examples so common flood classes do not drown out rare labels such as malware, upload attack, and web attack.</a:t>
            </a:r>
            <a:endParaRPr lang="en-US" sz="1700" dirty="0"/>
          </a:p>
        </p:txBody>
      </p:sp>
      <p:sp>
        <p:nvSpPr>
          <p:cNvPr id="21" name="Text 19"/>
          <p:cNvSpPr/>
          <p:nvPr/>
        </p:nvSpPr>
        <p:spPr>
          <a:xfrm>
            <a:off x="502920" y="6473952"/>
            <a:ext cx="2926080" cy="164592"/>
          </a:xfrm>
          <a:prstGeom prst="rect">
            <a:avLst/>
          </a:prstGeom>
          <a:noFill/>
          <a:ln/>
        </p:spPr>
        <p:txBody>
          <a:bodyPr wrap="square" lIns="0" tIns="0" rIns="0" bIns="0" rtlCol="0" anchor="ctr"/>
          <a:lstStyle/>
          <a:p>
            <a:pPr indent="0" marL="0">
              <a:buNone/>
            </a:pPr>
            <a:r>
              <a:rPr lang="en-US" sz="780" dirty="0">
                <a:solidFill>
                  <a:srgbClr val="94A3B8"/>
                </a:solidFill>
              </a:rPr>
              <a:t>SentinelMesh final project</a:t>
            </a:r>
            <a:endParaRPr lang="en-US" sz="780" dirty="0"/>
          </a:p>
        </p:txBody>
      </p:sp>
      <p:sp>
        <p:nvSpPr>
          <p:cNvPr id="22" name="Text 20"/>
          <p:cNvSpPr/>
          <p:nvPr/>
        </p:nvSpPr>
        <p:spPr>
          <a:xfrm>
            <a:off x="11384280" y="6446520"/>
            <a:ext cx="320040" cy="201168"/>
          </a:xfrm>
          <a:prstGeom prst="rect">
            <a:avLst/>
          </a:prstGeom>
          <a:noFill/>
          <a:ln/>
        </p:spPr>
        <p:txBody>
          <a:bodyPr wrap="square" lIns="0" tIns="0" rIns="0" bIns="0" rtlCol="0" anchor="ctr"/>
          <a:lstStyle/>
          <a:p>
            <a:pPr algn="r" indent="0" marL="0">
              <a:buNone/>
            </a:pPr>
            <a:r>
              <a:rPr lang="en-US" sz="800" dirty="0">
                <a:solidFill>
                  <a:srgbClr val="94A3B8"/>
                </a:solidFill>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Text 1"/>
          <p:cNvSpPr/>
          <p:nvPr/>
        </p:nvSpPr>
        <p:spPr>
          <a:xfrm>
            <a:off x="502920" y="320040"/>
            <a:ext cx="8138160" cy="502920"/>
          </a:xfrm>
          <a:prstGeom prst="rect">
            <a:avLst/>
          </a:prstGeom>
          <a:noFill/>
          <a:ln/>
        </p:spPr>
        <p:txBody>
          <a:bodyPr wrap="square" lIns="0" tIns="0" rIns="0" bIns="0" rtlCol="0" anchor="ctr"/>
          <a:lstStyle/>
          <a:p>
            <a:pPr indent="0" marL="0">
              <a:buNone/>
            </a:pPr>
            <a:r>
              <a:rPr lang="en-US" sz="3100" b="1" dirty="0">
                <a:solidFill>
                  <a:srgbClr val="F8FAFC"/>
                </a:solidFill>
                <a:latin typeface="Aptos Display" pitchFamily="34" charset="0"/>
                <a:ea typeface="Aptos Display" pitchFamily="34" charset="-122"/>
                <a:cs typeface="Aptos Display" pitchFamily="34" charset="-120"/>
              </a:rPr>
              <a:t>Alert rendering was the key bottleneck</a:t>
            </a:r>
            <a:endParaRPr lang="en-US" sz="3100" dirty="0"/>
          </a:p>
        </p:txBody>
      </p:sp>
      <p:sp>
        <p:nvSpPr>
          <p:cNvPr id="4" name="Text 2"/>
          <p:cNvSpPr/>
          <p:nvPr/>
        </p:nvSpPr>
        <p:spPr>
          <a:xfrm>
            <a:off x="530352" y="868680"/>
            <a:ext cx="8412480" cy="292608"/>
          </a:xfrm>
          <a:prstGeom prst="rect">
            <a:avLst/>
          </a:prstGeom>
          <a:noFill/>
          <a:ln/>
        </p:spPr>
        <p:txBody>
          <a:bodyPr wrap="square" lIns="0" tIns="0" rIns="0" bIns="0" rtlCol="0" anchor="ctr"/>
          <a:lstStyle/>
          <a:p>
            <a:pPr indent="0" marL="0">
              <a:buNone/>
            </a:pPr>
            <a:r>
              <a:rPr lang="en-US" sz="1100" dirty="0">
                <a:solidFill>
                  <a:srgbClr val="94A3B8"/>
                </a:solidFill>
              </a:rPr>
              <a:t>The input text determines what the agent can infer</a:t>
            </a:r>
            <a:endParaRPr lang="en-US" sz="1100" dirty="0"/>
          </a:p>
        </p:txBody>
      </p:sp>
      <p:sp>
        <p:nvSpPr>
          <p:cNvPr id="5" name="Shape 3"/>
          <p:cNvSpPr/>
          <p:nvPr/>
        </p:nvSpPr>
        <p:spPr>
          <a:xfrm>
            <a:off x="502920" y="1124712"/>
            <a:ext cx="2971800" cy="0"/>
          </a:xfrm>
          <a:prstGeom prst="line">
            <a:avLst/>
          </a:prstGeom>
          <a:noFill/>
          <a:ln w="16510">
            <a:solidFill>
              <a:srgbClr val="38BDF8">
                <a:alpha val="90000"/>
              </a:srgbClr>
            </a:solidFill>
            <a:prstDash val="solid"/>
          </a:ln>
        </p:spPr>
      </p:sp>
      <p:sp>
        <p:nvSpPr>
          <p:cNvPr id="6" name="Text 4"/>
          <p:cNvSpPr/>
          <p:nvPr/>
        </p:nvSpPr>
        <p:spPr>
          <a:xfrm>
            <a:off x="822960" y="1828800"/>
            <a:ext cx="2834640" cy="685800"/>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400" b="1" dirty="0">
                <a:solidFill>
                  <a:srgbClr val="F8FAFC"/>
                </a:solidFill>
              </a:rPr>
              <a:t>Initial one sentence alert</a:t>
            </a:r>
            <a:endParaRPr lang="en-US" sz="1400" dirty="0"/>
          </a:p>
        </p:txBody>
      </p:sp>
      <p:sp>
        <p:nvSpPr>
          <p:cNvPr id="7" name="Text 5"/>
          <p:cNvSpPr/>
          <p:nvPr/>
        </p:nvSpPr>
        <p:spPr>
          <a:xfrm>
            <a:off x="1005840" y="2697480"/>
            <a:ext cx="2468880" cy="502920"/>
          </a:xfrm>
          <a:prstGeom prst="rect">
            <a:avLst/>
          </a:prstGeom>
          <a:noFill/>
          <a:ln/>
        </p:spPr>
        <p:txBody>
          <a:bodyPr wrap="square" lIns="508" tIns="508" rIns="508" bIns="508" rtlCol="0" anchor="ctr">
            <a:normAutofit/>
          </a:bodyPr>
          <a:lstStyle/>
          <a:p>
            <a:pPr algn="ctr" indent="0" marL="0">
              <a:buNone/>
            </a:pPr>
            <a:r>
              <a:rPr lang="en-US" sz="1300" dirty="0">
                <a:solidFill>
                  <a:srgbClr val="C4CBD8"/>
                </a:solidFill>
              </a:rPr>
              <a:t>Protocol, rate, packet size, flags, inter arrival time</a:t>
            </a:r>
            <a:endParaRPr lang="en-US" sz="1300" dirty="0"/>
          </a:p>
        </p:txBody>
      </p:sp>
      <p:sp>
        <p:nvSpPr>
          <p:cNvPr id="8" name="Shape 6"/>
          <p:cNvSpPr/>
          <p:nvPr/>
        </p:nvSpPr>
        <p:spPr>
          <a:xfrm>
            <a:off x="3822192" y="2176272"/>
            <a:ext cx="749808" cy="0"/>
          </a:xfrm>
          <a:prstGeom prst="line">
            <a:avLst/>
          </a:prstGeom>
          <a:noFill/>
          <a:ln w="20320">
            <a:solidFill>
              <a:srgbClr val="F59E0B">
                <a:alpha val="92000"/>
              </a:srgbClr>
            </a:solidFill>
            <a:prstDash val="solid"/>
            <a:tailEnd type="triangle"/>
          </a:ln>
        </p:spPr>
      </p:sp>
      <p:sp>
        <p:nvSpPr>
          <p:cNvPr id="9" name="Text 7"/>
          <p:cNvSpPr/>
          <p:nvPr/>
        </p:nvSpPr>
        <p:spPr>
          <a:xfrm>
            <a:off x="4617720" y="1828800"/>
            <a:ext cx="2834640" cy="685800"/>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400" b="1" dirty="0">
                <a:solidFill>
                  <a:srgbClr val="F8FAFC"/>
                </a:solidFill>
              </a:rPr>
              <a:t>Richer flow summary</a:t>
            </a:r>
            <a:endParaRPr lang="en-US" sz="1400" dirty="0"/>
          </a:p>
        </p:txBody>
      </p:sp>
      <p:sp>
        <p:nvSpPr>
          <p:cNvPr id="10" name="Text 8"/>
          <p:cNvSpPr/>
          <p:nvPr/>
        </p:nvSpPr>
        <p:spPr>
          <a:xfrm>
            <a:off x="4800600" y="2697480"/>
            <a:ext cx="2468880" cy="594360"/>
          </a:xfrm>
          <a:prstGeom prst="rect">
            <a:avLst/>
          </a:prstGeom>
          <a:noFill/>
          <a:ln/>
        </p:spPr>
        <p:txBody>
          <a:bodyPr wrap="square" lIns="508" tIns="508" rIns="508" bIns="508" rtlCol="0" anchor="ctr">
            <a:normAutofit/>
          </a:bodyPr>
          <a:lstStyle/>
          <a:p>
            <a:pPr algn="ctr" indent="0" marL="0">
              <a:buNone/>
            </a:pPr>
            <a:r>
              <a:rPr lang="en-US" sz="1300" dirty="0">
                <a:solidFill>
                  <a:srgbClr val="C4CBD8"/>
                </a:solidFill>
              </a:rPr>
              <a:t>Adds counts, min and max size, TTL, variance, flag counts, total size</a:t>
            </a:r>
            <a:endParaRPr lang="en-US" sz="1300" dirty="0"/>
          </a:p>
        </p:txBody>
      </p:sp>
      <p:sp>
        <p:nvSpPr>
          <p:cNvPr id="11" name="Shape 9"/>
          <p:cNvSpPr/>
          <p:nvPr/>
        </p:nvSpPr>
        <p:spPr>
          <a:xfrm>
            <a:off x="7635240" y="2176272"/>
            <a:ext cx="731520" cy="0"/>
          </a:xfrm>
          <a:prstGeom prst="line">
            <a:avLst/>
          </a:prstGeom>
          <a:noFill/>
          <a:ln w="20320">
            <a:solidFill>
              <a:srgbClr val="22C55E">
                <a:alpha val="92000"/>
              </a:srgbClr>
            </a:solidFill>
            <a:prstDash val="solid"/>
            <a:tailEnd type="triangle"/>
          </a:ln>
        </p:spPr>
      </p:sp>
      <p:sp>
        <p:nvSpPr>
          <p:cNvPr id="12" name="Text 10"/>
          <p:cNvSpPr/>
          <p:nvPr/>
        </p:nvSpPr>
        <p:spPr>
          <a:xfrm>
            <a:off x="8412480" y="1828800"/>
            <a:ext cx="2834640" cy="685800"/>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400" b="1" dirty="0">
                <a:solidFill>
                  <a:srgbClr val="F8FAFC"/>
                </a:solidFill>
              </a:rPr>
              <a:t>More defensible evaluation</a:t>
            </a:r>
            <a:endParaRPr lang="en-US" sz="1400" dirty="0"/>
          </a:p>
        </p:txBody>
      </p:sp>
      <p:sp>
        <p:nvSpPr>
          <p:cNvPr id="13" name="Text 11"/>
          <p:cNvSpPr/>
          <p:nvPr/>
        </p:nvSpPr>
        <p:spPr>
          <a:xfrm>
            <a:off x="8595360" y="2697480"/>
            <a:ext cx="2468880" cy="502920"/>
          </a:xfrm>
          <a:prstGeom prst="rect">
            <a:avLst/>
          </a:prstGeom>
          <a:noFill/>
          <a:ln/>
        </p:spPr>
        <p:txBody>
          <a:bodyPr wrap="square" lIns="508" tIns="508" rIns="508" bIns="508" rtlCol="0" anchor="ctr">
            <a:normAutofit/>
          </a:bodyPr>
          <a:lstStyle/>
          <a:p>
            <a:pPr algn="ctr" indent="0" marL="0">
              <a:buNone/>
            </a:pPr>
            <a:r>
              <a:rPr lang="en-US" sz="1300" dirty="0">
                <a:solidFill>
                  <a:srgbClr val="C4CBD8"/>
                </a:solidFill>
              </a:rPr>
              <a:t>Still hides ground truth label from the agent</a:t>
            </a:r>
            <a:endParaRPr lang="en-US" sz="1300" dirty="0"/>
          </a:p>
        </p:txBody>
      </p:sp>
      <p:sp>
        <p:nvSpPr>
          <p:cNvPr id="14" name="Text 12"/>
          <p:cNvSpPr/>
          <p:nvPr/>
        </p:nvSpPr>
        <p:spPr>
          <a:xfrm>
            <a:off x="914400" y="4754880"/>
            <a:ext cx="10241280" cy="411480"/>
          </a:xfrm>
          <a:prstGeom prst="rect">
            <a:avLst/>
          </a:prstGeom>
          <a:noFill/>
          <a:ln/>
        </p:spPr>
        <p:txBody>
          <a:bodyPr wrap="square" lIns="508" tIns="508" rIns="508" bIns="508" rtlCol="0" anchor="ctr">
            <a:normAutofit/>
          </a:bodyPr>
          <a:lstStyle/>
          <a:p>
            <a:pPr algn="ctr" indent="0" marL="0">
              <a:buNone/>
            </a:pPr>
            <a:r>
              <a:rPr lang="en-US" sz="1900" b="1" dirty="0">
                <a:solidFill>
                  <a:srgbClr val="F8FAFC"/>
                </a:solidFill>
              </a:rPr>
              <a:t>Finding: better alert text helps, but flow summaries still cannot reliably separate every exact attack family.</a:t>
            </a:r>
            <a:endParaRPr lang="en-US" sz="1900" dirty="0"/>
          </a:p>
        </p:txBody>
      </p:sp>
      <p:sp>
        <p:nvSpPr>
          <p:cNvPr id="15" name="Text 13"/>
          <p:cNvSpPr/>
          <p:nvPr/>
        </p:nvSpPr>
        <p:spPr>
          <a:xfrm>
            <a:off x="502920" y="6473952"/>
            <a:ext cx="2926080" cy="164592"/>
          </a:xfrm>
          <a:prstGeom prst="rect">
            <a:avLst/>
          </a:prstGeom>
          <a:noFill/>
          <a:ln/>
        </p:spPr>
        <p:txBody>
          <a:bodyPr wrap="square" lIns="0" tIns="0" rIns="0" bIns="0" rtlCol="0" anchor="ctr"/>
          <a:lstStyle/>
          <a:p>
            <a:pPr indent="0" marL="0">
              <a:buNone/>
            </a:pPr>
            <a:r>
              <a:rPr lang="en-US" sz="780" dirty="0">
                <a:solidFill>
                  <a:srgbClr val="94A3B8"/>
                </a:solidFill>
              </a:rPr>
              <a:t>SentinelMesh final project</a:t>
            </a:r>
            <a:endParaRPr lang="en-US" sz="780" dirty="0"/>
          </a:p>
        </p:txBody>
      </p:sp>
      <p:sp>
        <p:nvSpPr>
          <p:cNvPr id="16" name="Text 14"/>
          <p:cNvSpPr/>
          <p:nvPr/>
        </p:nvSpPr>
        <p:spPr>
          <a:xfrm>
            <a:off x="11384280" y="6446520"/>
            <a:ext cx="320040" cy="201168"/>
          </a:xfrm>
          <a:prstGeom prst="rect">
            <a:avLst/>
          </a:prstGeom>
          <a:noFill/>
          <a:ln/>
        </p:spPr>
        <p:txBody>
          <a:bodyPr wrap="square" lIns="0" tIns="0" rIns="0" bIns="0" rtlCol="0" anchor="ctr"/>
          <a:lstStyle/>
          <a:p>
            <a:pPr algn="r" indent="0" marL="0">
              <a:buNone/>
            </a:pPr>
            <a:r>
              <a:rPr lang="en-US" sz="800" dirty="0">
                <a:solidFill>
                  <a:srgbClr val="94A3B8"/>
                </a:solidFill>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Text 1"/>
          <p:cNvSpPr/>
          <p:nvPr/>
        </p:nvSpPr>
        <p:spPr>
          <a:xfrm>
            <a:off x="502920" y="320040"/>
            <a:ext cx="8138160" cy="502920"/>
          </a:xfrm>
          <a:prstGeom prst="rect">
            <a:avLst/>
          </a:prstGeom>
          <a:noFill/>
          <a:ln/>
        </p:spPr>
        <p:txBody>
          <a:bodyPr wrap="square" lIns="0" tIns="0" rIns="0" bIns="0" rtlCol="0" anchor="ctr"/>
          <a:lstStyle/>
          <a:p>
            <a:pPr indent="0" marL="0">
              <a:buNone/>
            </a:pPr>
            <a:r>
              <a:rPr lang="en-US" sz="3100" b="1" dirty="0">
                <a:solidFill>
                  <a:srgbClr val="F8FAFC"/>
                </a:solidFill>
                <a:latin typeface="Aptos Display" pitchFamily="34" charset="0"/>
                <a:ea typeface="Aptos Display" pitchFamily="34" charset="-122"/>
                <a:cs typeface="Aptos Display" pitchFamily="34" charset="-120"/>
              </a:rPr>
              <a:t>Agent architecture</a:t>
            </a:r>
            <a:endParaRPr lang="en-US" sz="3100" dirty="0"/>
          </a:p>
        </p:txBody>
      </p:sp>
      <p:sp>
        <p:nvSpPr>
          <p:cNvPr id="4" name="Text 2"/>
          <p:cNvSpPr/>
          <p:nvPr/>
        </p:nvSpPr>
        <p:spPr>
          <a:xfrm>
            <a:off x="530352" y="868680"/>
            <a:ext cx="8412480" cy="292608"/>
          </a:xfrm>
          <a:prstGeom prst="rect">
            <a:avLst/>
          </a:prstGeom>
          <a:noFill/>
          <a:ln/>
        </p:spPr>
        <p:txBody>
          <a:bodyPr wrap="square" lIns="0" tIns="0" rIns="0" bIns="0" rtlCol="0" anchor="ctr"/>
          <a:lstStyle/>
          <a:p>
            <a:pPr indent="0" marL="0">
              <a:buNone/>
            </a:pPr>
            <a:r>
              <a:rPr lang="en-US" sz="1100" dirty="0">
                <a:solidFill>
                  <a:srgbClr val="94A3B8"/>
                </a:solidFill>
              </a:rPr>
              <a:t>LLM reasoning plus governed tools</a:t>
            </a:r>
            <a:endParaRPr lang="en-US" sz="1100" dirty="0"/>
          </a:p>
        </p:txBody>
      </p:sp>
      <p:sp>
        <p:nvSpPr>
          <p:cNvPr id="5" name="Shape 3"/>
          <p:cNvSpPr/>
          <p:nvPr/>
        </p:nvSpPr>
        <p:spPr>
          <a:xfrm>
            <a:off x="502920" y="1124712"/>
            <a:ext cx="2971800" cy="0"/>
          </a:xfrm>
          <a:prstGeom prst="line">
            <a:avLst/>
          </a:prstGeom>
          <a:noFill/>
          <a:ln w="16510">
            <a:solidFill>
              <a:srgbClr val="38BDF8">
                <a:alpha val="90000"/>
              </a:srgbClr>
            </a:solidFill>
            <a:prstDash val="solid"/>
          </a:ln>
        </p:spPr>
      </p:sp>
      <p:sp>
        <p:nvSpPr>
          <p:cNvPr id="6" name="Text 4"/>
          <p:cNvSpPr/>
          <p:nvPr/>
        </p:nvSpPr>
        <p:spPr>
          <a:xfrm>
            <a:off x="685800" y="1965960"/>
            <a:ext cx="1645920" cy="566928"/>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350" b="1" dirty="0">
                <a:solidFill>
                  <a:srgbClr val="F8FAFC"/>
                </a:solidFill>
              </a:rPr>
              <a:t>Alert text</a:t>
            </a:r>
            <a:endParaRPr lang="en-US" sz="1350" dirty="0"/>
          </a:p>
        </p:txBody>
      </p:sp>
      <p:sp>
        <p:nvSpPr>
          <p:cNvPr id="7" name="Text 5"/>
          <p:cNvSpPr/>
          <p:nvPr/>
        </p:nvSpPr>
        <p:spPr>
          <a:xfrm>
            <a:off x="2880360" y="1965960"/>
            <a:ext cx="1645920" cy="566928"/>
          </a:xfrm>
          <a:prstGeom prst="rect">
            <a:avLst/>
          </a:prstGeom>
          <a:solidFill>
            <a:srgbClr val="38BDF8"/>
          </a:solidFill>
          <a:ln w="11430">
            <a:solidFill>
              <a:srgbClr val="334155"/>
            </a:solidFill>
          </a:ln>
        </p:spPr>
        <p:txBody>
          <a:bodyPr wrap="square" lIns="762" tIns="762" rIns="762" bIns="762" rtlCol="0" anchor="ctr">
            <a:normAutofit/>
          </a:bodyPr>
          <a:lstStyle/>
          <a:p>
            <a:pPr algn="ctr" indent="0" marL="0">
              <a:buNone/>
            </a:pPr>
            <a:r>
              <a:rPr lang="en-US" sz="1350" b="1" dirty="0">
                <a:solidFill>
                  <a:srgbClr val="0B1220"/>
                </a:solidFill>
              </a:rPr>
              <a:t>LLM agent</a:t>
            </a:r>
            <a:endParaRPr lang="en-US" sz="1350" dirty="0"/>
          </a:p>
        </p:txBody>
      </p:sp>
      <p:sp>
        <p:nvSpPr>
          <p:cNvPr id="8" name="Text 6"/>
          <p:cNvSpPr/>
          <p:nvPr/>
        </p:nvSpPr>
        <p:spPr>
          <a:xfrm>
            <a:off x="5166360" y="1417320"/>
            <a:ext cx="1691640" cy="566928"/>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250" b="1" dirty="0">
                <a:solidFill>
                  <a:srgbClr val="F8FAFC"/>
                </a:solidFill>
              </a:rPr>
              <a:t>MITRE lookup</a:t>
            </a:r>
            <a:endParaRPr lang="en-US" sz="1250" dirty="0"/>
          </a:p>
        </p:txBody>
      </p:sp>
      <p:sp>
        <p:nvSpPr>
          <p:cNvPr id="9" name="Text 7"/>
          <p:cNvSpPr/>
          <p:nvPr/>
        </p:nvSpPr>
        <p:spPr>
          <a:xfrm>
            <a:off x="5166360" y="2240280"/>
            <a:ext cx="1691640" cy="566928"/>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250" b="1" dirty="0">
                <a:solidFill>
                  <a:srgbClr val="F8FAFC"/>
                </a:solidFill>
              </a:rPr>
              <a:t>Severity score</a:t>
            </a:r>
            <a:endParaRPr lang="en-US" sz="1250" dirty="0"/>
          </a:p>
        </p:txBody>
      </p:sp>
      <p:sp>
        <p:nvSpPr>
          <p:cNvPr id="10" name="Text 8"/>
          <p:cNvSpPr/>
          <p:nvPr/>
        </p:nvSpPr>
        <p:spPr>
          <a:xfrm>
            <a:off x="5166360" y="3063240"/>
            <a:ext cx="1691640" cy="566928"/>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250" b="1" dirty="0">
                <a:solidFill>
                  <a:srgbClr val="F8FAFC"/>
                </a:solidFill>
              </a:rPr>
              <a:t>Action recommendation</a:t>
            </a:r>
            <a:endParaRPr lang="en-US" sz="1250" dirty="0"/>
          </a:p>
        </p:txBody>
      </p:sp>
      <p:sp>
        <p:nvSpPr>
          <p:cNvPr id="11" name="Text 9"/>
          <p:cNvSpPr/>
          <p:nvPr/>
        </p:nvSpPr>
        <p:spPr>
          <a:xfrm>
            <a:off x="8732520" y="2240280"/>
            <a:ext cx="1874520" cy="685800"/>
          </a:xfrm>
          <a:prstGeom prst="rect">
            <a:avLst/>
          </a:prstGeom>
          <a:solidFill>
            <a:srgbClr val="22C55E"/>
          </a:solidFill>
          <a:ln w="11430">
            <a:solidFill>
              <a:srgbClr val="334155"/>
            </a:solidFill>
          </a:ln>
        </p:spPr>
        <p:txBody>
          <a:bodyPr wrap="square" lIns="762" tIns="762" rIns="762" bIns="762" rtlCol="0" anchor="ctr">
            <a:normAutofit/>
          </a:bodyPr>
          <a:lstStyle/>
          <a:p>
            <a:pPr algn="ctr" indent="0" marL="0">
              <a:buNone/>
            </a:pPr>
            <a:r>
              <a:rPr lang="en-US" sz="1350" b="1" dirty="0">
                <a:solidFill>
                  <a:srgbClr val="0B1220"/>
                </a:solidFill>
              </a:rPr>
              <a:t>Analyst review</a:t>
            </a:r>
            <a:endParaRPr lang="en-US" sz="1350" dirty="0"/>
          </a:p>
        </p:txBody>
      </p:sp>
      <p:sp>
        <p:nvSpPr>
          <p:cNvPr id="12" name="Shape 10"/>
          <p:cNvSpPr/>
          <p:nvPr/>
        </p:nvSpPr>
        <p:spPr>
          <a:xfrm>
            <a:off x="2331720" y="2249424"/>
            <a:ext cx="548640" cy="0"/>
          </a:xfrm>
          <a:prstGeom prst="line">
            <a:avLst/>
          </a:prstGeom>
          <a:noFill/>
          <a:ln w="20320">
            <a:solidFill>
              <a:srgbClr val="38BDF8">
                <a:alpha val="92000"/>
              </a:srgbClr>
            </a:solidFill>
            <a:prstDash val="solid"/>
            <a:tailEnd type="triangle"/>
          </a:ln>
        </p:spPr>
      </p:sp>
      <p:sp>
        <p:nvSpPr>
          <p:cNvPr id="13" name="Shape 11"/>
          <p:cNvSpPr/>
          <p:nvPr/>
        </p:nvSpPr>
        <p:spPr>
          <a:xfrm>
            <a:off x="4526280" y="2249424"/>
            <a:ext cx="640080" cy="-548640"/>
          </a:xfrm>
          <a:prstGeom prst="line">
            <a:avLst/>
          </a:prstGeom>
          <a:noFill/>
          <a:ln w="20320">
            <a:solidFill>
              <a:srgbClr val="38BDF8">
                <a:alpha val="92000"/>
              </a:srgbClr>
            </a:solidFill>
            <a:prstDash val="solid"/>
            <a:tailEnd type="triangle"/>
          </a:ln>
        </p:spPr>
      </p:sp>
      <p:sp>
        <p:nvSpPr>
          <p:cNvPr id="14" name="Shape 12"/>
          <p:cNvSpPr/>
          <p:nvPr/>
        </p:nvSpPr>
        <p:spPr>
          <a:xfrm>
            <a:off x="4526280" y="2249424"/>
            <a:ext cx="640080" cy="274320"/>
          </a:xfrm>
          <a:prstGeom prst="line">
            <a:avLst/>
          </a:prstGeom>
          <a:noFill/>
          <a:ln w="20320">
            <a:solidFill>
              <a:srgbClr val="38BDF8">
                <a:alpha val="92000"/>
              </a:srgbClr>
            </a:solidFill>
            <a:prstDash val="solid"/>
            <a:tailEnd type="triangle"/>
          </a:ln>
        </p:spPr>
      </p:sp>
      <p:sp>
        <p:nvSpPr>
          <p:cNvPr id="15" name="Shape 13"/>
          <p:cNvSpPr/>
          <p:nvPr/>
        </p:nvSpPr>
        <p:spPr>
          <a:xfrm>
            <a:off x="4526280" y="2249424"/>
            <a:ext cx="640080" cy="1097280"/>
          </a:xfrm>
          <a:prstGeom prst="line">
            <a:avLst/>
          </a:prstGeom>
          <a:noFill/>
          <a:ln w="20320">
            <a:solidFill>
              <a:srgbClr val="38BDF8">
                <a:alpha val="92000"/>
              </a:srgbClr>
            </a:solidFill>
            <a:prstDash val="solid"/>
            <a:tailEnd type="triangle"/>
          </a:ln>
        </p:spPr>
      </p:sp>
      <p:sp>
        <p:nvSpPr>
          <p:cNvPr id="16" name="Shape 14"/>
          <p:cNvSpPr/>
          <p:nvPr/>
        </p:nvSpPr>
        <p:spPr>
          <a:xfrm>
            <a:off x="6858000" y="2523744"/>
            <a:ext cx="1874520" cy="54864"/>
          </a:xfrm>
          <a:prstGeom prst="line">
            <a:avLst/>
          </a:prstGeom>
          <a:noFill/>
          <a:ln w="20320">
            <a:solidFill>
              <a:srgbClr val="38BDF8">
                <a:alpha val="92000"/>
              </a:srgbClr>
            </a:solidFill>
            <a:prstDash val="solid"/>
            <a:tailEnd type="triangle"/>
          </a:ln>
        </p:spPr>
      </p:sp>
      <p:sp>
        <p:nvSpPr>
          <p:cNvPr id="17" name="Text 15"/>
          <p:cNvSpPr/>
          <p:nvPr/>
        </p:nvSpPr>
        <p:spPr>
          <a:xfrm>
            <a:off x="914400" y="4800600"/>
            <a:ext cx="10241280" cy="548640"/>
          </a:xfrm>
          <a:prstGeom prst="rect">
            <a:avLst/>
          </a:prstGeom>
          <a:noFill/>
          <a:ln/>
        </p:spPr>
        <p:txBody>
          <a:bodyPr wrap="square" lIns="508" tIns="508" rIns="508" bIns="508" rtlCol="0" anchor="ctr">
            <a:normAutofit/>
          </a:bodyPr>
          <a:lstStyle/>
          <a:p>
            <a:pPr algn="ctr" indent="0" marL="0">
              <a:buNone/>
            </a:pPr>
            <a:r>
              <a:rPr lang="en-US" sz="1700" dirty="0">
                <a:solidFill>
                  <a:srgbClr val="C4CBD8"/>
                </a:solidFill>
              </a:rPr>
              <a:t>The tools ground threat context, risk scoring, and response language. The LLM still makes the initial family judgment from observable flow text.</a:t>
            </a:r>
            <a:endParaRPr lang="en-US" sz="1700" dirty="0"/>
          </a:p>
        </p:txBody>
      </p:sp>
      <p:sp>
        <p:nvSpPr>
          <p:cNvPr id="18" name="Text 16"/>
          <p:cNvSpPr/>
          <p:nvPr/>
        </p:nvSpPr>
        <p:spPr>
          <a:xfrm>
            <a:off x="502920" y="6473952"/>
            <a:ext cx="2926080" cy="164592"/>
          </a:xfrm>
          <a:prstGeom prst="rect">
            <a:avLst/>
          </a:prstGeom>
          <a:noFill/>
          <a:ln/>
        </p:spPr>
        <p:txBody>
          <a:bodyPr wrap="square" lIns="0" tIns="0" rIns="0" bIns="0" rtlCol="0" anchor="ctr"/>
          <a:lstStyle/>
          <a:p>
            <a:pPr indent="0" marL="0">
              <a:buNone/>
            </a:pPr>
            <a:r>
              <a:rPr lang="en-US" sz="780" dirty="0">
                <a:solidFill>
                  <a:srgbClr val="94A3B8"/>
                </a:solidFill>
              </a:rPr>
              <a:t>SentinelMesh final project</a:t>
            </a:r>
            <a:endParaRPr lang="en-US" sz="780" dirty="0"/>
          </a:p>
        </p:txBody>
      </p:sp>
      <p:sp>
        <p:nvSpPr>
          <p:cNvPr id="19" name="Text 17"/>
          <p:cNvSpPr/>
          <p:nvPr/>
        </p:nvSpPr>
        <p:spPr>
          <a:xfrm>
            <a:off x="11384280" y="6446520"/>
            <a:ext cx="320040" cy="201168"/>
          </a:xfrm>
          <a:prstGeom prst="rect">
            <a:avLst/>
          </a:prstGeom>
          <a:noFill/>
          <a:ln/>
        </p:spPr>
        <p:txBody>
          <a:bodyPr wrap="square" lIns="0" tIns="0" rIns="0" bIns="0" rtlCol="0" anchor="ctr"/>
          <a:lstStyle/>
          <a:p>
            <a:pPr algn="r" indent="0" marL="0">
              <a:buNone/>
            </a:pPr>
            <a:r>
              <a:rPr lang="en-US" sz="800" dirty="0">
                <a:solidFill>
                  <a:srgbClr val="94A3B8"/>
                </a:solidFill>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Text 1"/>
          <p:cNvSpPr/>
          <p:nvPr/>
        </p:nvSpPr>
        <p:spPr>
          <a:xfrm>
            <a:off x="502920" y="320040"/>
            <a:ext cx="8138160" cy="502920"/>
          </a:xfrm>
          <a:prstGeom prst="rect">
            <a:avLst/>
          </a:prstGeom>
          <a:noFill/>
          <a:ln/>
        </p:spPr>
        <p:txBody>
          <a:bodyPr wrap="square" lIns="0" tIns="0" rIns="0" bIns="0" rtlCol="0" anchor="ctr"/>
          <a:lstStyle/>
          <a:p>
            <a:pPr indent="0" marL="0">
              <a:buNone/>
            </a:pPr>
            <a:r>
              <a:rPr lang="en-US" sz="3100" b="1" dirty="0">
                <a:solidFill>
                  <a:srgbClr val="F8FAFC"/>
                </a:solidFill>
                <a:latin typeface="Aptos Display" pitchFamily="34" charset="0"/>
                <a:ea typeface="Aptos Display" pitchFamily="34" charset="-122"/>
                <a:cs typeface="Aptos Display" pitchFamily="34" charset="-120"/>
              </a:rPr>
              <a:t>Tooling and guardrails</a:t>
            </a:r>
            <a:endParaRPr lang="en-US" sz="3100" dirty="0"/>
          </a:p>
        </p:txBody>
      </p:sp>
      <p:sp>
        <p:nvSpPr>
          <p:cNvPr id="4" name="Text 2"/>
          <p:cNvSpPr/>
          <p:nvPr/>
        </p:nvSpPr>
        <p:spPr>
          <a:xfrm>
            <a:off x="530352" y="868680"/>
            <a:ext cx="8412480" cy="292608"/>
          </a:xfrm>
          <a:prstGeom prst="rect">
            <a:avLst/>
          </a:prstGeom>
          <a:noFill/>
          <a:ln/>
        </p:spPr>
        <p:txBody>
          <a:bodyPr wrap="square" lIns="0" tIns="0" rIns="0" bIns="0" rtlCol="0" anchor="ctr"/>
          <a:lstStyle/>
          <a:p>
            <a:pPr indent="0" marL="0">
              <a:buNone/>
            </a:pPr>
            <a:r>
              <a:rPr lang="en-US" sz="1100" dirty="0">
                <a:solidFill>
                  <a:srgbClr val="94A3B8"/>
                </a:solidFill>
              </a:rPr>
              <a:t>The agent uses three tools and explicit refusal behavior</a:t>
            </a:r>
            <a:endParaRPr lang="en-US" sz="1100" dirty="0"/>
          </a:p>
        </p:txBody>
      </p:sp>
      <p:sp>
        <p:nvSpPr>
          <p:cNvPr id="5" name="Shape 3"/>
          <p:cNvSpPr/>
          <p:nvPr/>
        </p:nvSpPr>
        <p:spPr>
          <a:xfrm>
            <a:off x="502920" y="1124712"/>
            <a:ext cx="2971800" cy="0"/>
          </a:xfrm>
          <a:prstGeom prst="line">
            <a:avLst/>
          </a:prstGeom>
          <a:noFill/>
          <a:ln w="16510">
            <a:solidFill>
              <a:srgbClr val="38BDF8">
                <a:alpha val="90000"/>
              </a:srgbClr>
            </a:solidFill>
            <a:prstDash val="solid"/>
          </a:ln>
        </p:spPr>
      </p:sp>
      <p:sp>
        <p:nvSpPr>
          <p:cNvPr id="6" name="Text 4"/>
          <p:cNvSpPr/>
          <p:nvPr/>
        </p:nvSpPr>
        <p:spPr>
          <a:xfrm>
            <a:off x="822960" y="1600200"/>
            <a:ext cx="2834640" cy="566928"/>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350" b="1" dirty="0">
                <a:solidFill>
                  <a:srgbClr val="F8FAFC"/>
                </a:solidFill>
              </a:rPr>
              <a:t>lookup_mitre_context</a:t>
            </a:r>
            <a:endParaRPr lang="en-US" sz="1350" dirty="0"/>
          </a:p>
        </p:txBody>
      </p:sp>
      <p:sp>
        <p:nvSpPr>
          <p:cNvPr id="7" name="Text 5"/>
          <p:cNvSpPr/>
          <p:nvPr/>
        </p:nvSpPr>
        <p:spPr>
          <a:xfrm>
            <a:off x="1005840" y="2286000"/>
            <a:ext cx="2514600" cy="685800"/>
          </a:xfrm>
          <a:prstGeom prst="rect">
            <a:avLst/>
          </a:prstGeom>
          <a:noFill/>
          <a:ln/>
        </p:spPr>
        <p:txBody>
          <a:bodyPr wrap="square" lIns="508" tIns="508" rIns="508" bIns="508" rtlCol="0" anchor="ctr">
            <a:normAutofit/>
          </a:bodyPr>
          <a:lstStyle/>
          <a:p>
            <a:pPr algn="ctr" indent="0" marL="0">
              <a:buNone/>
            </a:pPr>
            <a:r>
              <a:rPr lang="en-US" sz="1300" dirty="0">
                <a:solidFill>
                  <a:srgbClr val="C4CBD8"/>
                </a:solidFill>
              </a:rPr>
              <a:t>Queries the governed MITRE reference table for technique, detection idea, and mitigation.</a:t>
            </a:r>
            <a:endParaRPr lang="en-US" sz="1300" dirty="0"/>
          </a:p>
        </p:txBody>
      </p:sp>
      <p:sp>
        <p:nvSpPr>
          <p:cNvPr id="8" name="Text 6"/>
          <p:cNvSpPr/>
          <p:nvPr/>
        </p:nvSpPr>
        <p:spPr>
          <a:xfrm>
            <a:off x="4663440" y="1600200"/>
            <a:ext cx="2834640" cy="566928"/>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350" b="1" dirty="0">
                <a:solidFill>
                  <a:srgbClr val="F8FAFC"/>
                </a:solidFill>
              </a:rPr>
              <a:t>score_severity</a:t>
            </a:r>
            <a:endParaRPr lang="en-US" sz="1350" dirty="0"/>
          </a:p>
        </p:txBody>
      </p:sp>
      <p:sp>
        <p:nvSpPr>
          <p:cNvPr id="9" name="Text 7"/>
          <p:cNvSpPr/>
          <p:nvPr/>
        </p:nvSpPr>
        <p:spPr>
          <a:xfrm>
            <a:off x="4846320" y="2286000"/>
            <a:ext cx="2514600" cy="685800"/>
          </a:xfrm>
          <a:prstGeom prst="rect">
            <a:avLst/>
          </a:prstGeom>
          <a:noFill/>
          <a:ln/>
        </p:spPr>
        <p:txBody>
          <a:bodyPr wrap="square" lIns="508" tIns="508" rIns="508" bIns="508" rtlCol="0" anchor="ctr">
            <a:normAutofit/>
          </a:bodyPr>
          <a:lstStyle/>
          <a:p>
            <a:pPr algn="ctr" indent="0" marL="0">
              <a:buNone/>
            </a:pPr>
            <a:r>
              <a:rPr lang="en-US" sz="1300" dirty="0">
                <a:solidFill>
                  <a:srgbClr val="C4CBD8"/>
                </a:solidFill>
              </a:rPr>
              <a:t>Combines family baseline with traffic intensity to produce a 1 to 10 severity score.</a:t>
            </a:r>
            <a:endParaRPr lang="en-US" sz="1300" dirty="0"/>
          </a:p>
        </p:txBody>
      </p:sp>
      <p:sp>
        <p:nvSpPr>
          <p:cNvPr id="10" name="Text 8"/>
          <p:cNvSpPr/>
          <p:nvPr/>
        </p:nvSpPr>
        <p:spPr>
          <a:xfrm>
            <a:off x="8503920" y="1600200"/>
            <a:ext cx="2834640" cy="566928"/>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350" b="1" dirty="0">
                <a:solidFill>
                  <a:srgbClr val="F8FAFC"/>
                </a:solidFill>
              </a:rPr>
              <a:t>recommend_action</a:t>
            </a:r>
            <a:endParaRPr lang="en-US" sz="1350" dirty="0"/>
          </a:p>
        </p:txBody>
      </p:sp>
      <p:sp>
        <p:nvSpPr>
          <p:cNvPr id="11" name="Text 9"/>
          <p:cNvSpPr/>
          <p:nvPr/>
        </p:nvSpPr>
        <p:spPr>
          <a:xfrm>
            <a:off x="8686800" y="2286000"/>
            <a:ext cx="2514600" cy="685800"/>
          </a:xfrm>
          <a:prstGeom prst="rect">
            <a:avLst/>
          </a:prstGeom>
          <a:noFill/>
          <a:ln/>
        </p:spPr>
        <p:txBody>
          <a:bodyPr wrap="square" lIns="508" tIns="508" rIns="508" bIns="508" rtlCol="0" anchor="ctr">
            <a:normAutofit/>
          </a:bodyPr>
          <a:lstStyle/>
          <a:p>
            <a:pPr algn="ctr" indent="0" marL="0">
              <a:buNone/>
            </a:pPr>
            <a:r>
              <a:rPr lang="en-US" sz="1300" dirty="0">
                <a:solidFill>
                  <a:srgbClr val="C4CBD8"/>
                </a:solidFill>
              </a:rPr>
              <a:t>Creates a human approved SOC response recommendation using MITRE mitigation context.</a:t>
            </a:r>
            <a:endParaRPr lang="en-US" sz="1300" dirty="0"/>
          </a:p>
        </p:txBody>
      </p:sp>
      <p:sp>
        <p:nvSpPr>
          <p:cNvPr id="12" name="Text 10"/>
          <p:cNvSpPr/>
          <p:nvPr/>
        </p:nvSpPr>
        <p:spPr>
          <a:xfrm>
            <a:off x="914400" y="4343400"/>
            <a:ext cx="10332720" cy="411480"/>
          </a:xfrm>
          <a:prstGeom prst="rect">
            <a:avLst/>
          </a:prstGeom>
          <a:noFill/>
          <a:ln/>
        </p:spPr>
        <p:txBody>
          <a:bodyPr wrap="square" lIns="508" tIns="508" rIns="508" bIns="508" rtlCol="0" anchor="ctr">
            <a:normAutofit/>
          </a:bodyPr>
          <a:lstStyle/>
          <a:p>
            <a:pPr algn="ctr" indent="0" marL="0">
              <a:buNone/>
            </a:pPr>
            <a:r>
              <a:rPr lang="en-US" sz="1700" b="1" dirty="0">
                <a:solidFill>
                  <a:srgbClr val="F8FAFC"/>
                </a:solidFill>
              </a:rPr>
              <a:t>Error handling: unknown tool requests, bad arguments, and tool failures return controlled messages instead of crashing the agent.</a:t>
            </a:r>
            <a:endParaRPr lang="en-US" sz="1700" dirty="0"/>
          </a:p>
        </p:txBody>
      </p:sp>
      <p:sp>
        <p:nvSpPr>
          <p:cNvPr id="13" name="Text 11"/>
          <p:cNvSpPr/>
          <p:nvPr/>
        </p:nvSpPr>
        <p:spPr>
          <a:xfrm>
            <a:off x="914400" y="4956048"/>
            <a:ext cx="10332720" cy="320040"/>
          </a:xfrm>
          <a:prstGeom prst="rect">
            <a:avLst/>
          </a:prstGeom>
          <a:noFill/>
          <a:ln/>
        </p:spPr>
        <p:txBody>
          <a:bodyPr wrap="square" lIns="508" tIns="508" rIns="508" bIns="508" rtlCol="0" anchor="ctr">
            <a:normAutofit/>
          </a:bodyPr>
          <a:lstStyle/>
          <a:p>
            <a:pPr algn="ctr" indent="0" marL="0">
              <a:buNone/>
            </a:pPr>
            <a:r>
              <a:rPr lang="en-US" sz="1500" dirty="0">
                <a:solidFill>
                  <a:srgbClr val="C4CBD8"/>
                </a:solidFill>
              </a:rPr>
              <a:t>Scope control: recipe and coding requests are rejected because they are not network security alerts.</a:t>
            </a:r>
            <a:endParaRPr lang="en-US" sz="1500" dirty="0"/>
          </a:p>
        </p:txBody>
      </p:sp>
      <p:sp>
        <p:nvSpPr>
          <p:cNvPr id="14" name="Text 12"/>
          <p:cNvSpPr/>
          <p:nvPr/>
        </p:nvSpPr>
        <p:spPr>
          <a:xfrm>
            <a:off x="502920" y="6473952"/>
            <a:ext cx="2926080" cy="164592"/>
          </a:xfrm>
          <a:prstGeom prst="rect">
            <a:avLst/>
          </a:prstGeom>
          <a:noFill/>
          <a:ln/>
        </p:spPr>
        <p:txBody>
          <a:bodyPr wrap="square" lIns="0" tIns="0" rIns="0" bIns="0" rtlCol="0" anchor="ctr"/>
          <a:lstStyle/>
          <a:p>
            <a:pPr indent="0" marL="0">
              <a:buNone/>
            </a:pPr>
            <a:r>
              <a:rPr lang="en-US" sz="780" dirty="0">
                <a:solidFill>
                  <a:srgbClr val="94A3B8"/>
                </a:solidFill>
              </a:rPr>
              <a:t>SentinelMesh final project</a:t>
            </a:r>
            <a:endParaRPr lang="en-US" sz="780" dirty="0"/>
          </a:p>
        </p:txBody>
      </p:sp>
      <p:sp>
        <p:nvSpPr>
          <p:cNvPr id="15" name="Text 13"/>
          <p:cNvSpPr/>
          <p:nvPr/>
        </p:nvSpPr>
        <p:spPr>
          <a:xfrm>
            <a:off x="11384280" y="6446520"/>
            <a:ext cx="320040" cy="201168"/>
          </a:xfrm>
          <a:prstGeom prst="rect">
            <a:avLst/>
          </a:prstGeom>
          <a:noFill/>
          <a:ln/>
        </p:spPr>
        <p:txBody>
          <a:bodyPr wrap="square" lIns="0" tIns="0" rIns="0" bIns="0" rtlCol="0" anchor="ctr"/>
          <a:lstStyle/>
          <a:p>
            <a:pPr algn="r" indent="0" marL="0">
              <a:buNone/>
            </a:pPr>
            <a:r>
              <a:rPr lang="en-US" sz="800" dirty="0">
                <a:solidFill>
                  <a:srgbClr val="94A3B8"/>
                </a:solidFill>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Text 1"/>
          <p:cNvSpPr/>
          <p:nvPr/>
        </p:nvSpPr>
        <p:spPr>
          <a:xfrm>
            <a:off x="502920" y="320040"/>
            <a:ext cx="8138160" cy="502920"/>
          </a:xfrm>
          <a:prstGeom prst="rect">
            <a:avLst/>
          </a:prstGeom>
          <a:noFill/>
          <a:ln/>
        </p:spPr>
        <p:txBody>
          <a:bodyPr wrap="square" lIns="0" tIns="0" rIns="0" bIns="0" rtlCol="0" anchor="ctr"/>
          <a:lstStyle/>
          <a:p>
            <a:pPr indent="0" marL="0">
              <a:buNone/>
            </a:pPr>
            <a:r>
              <a:rPr lang="en-US" sz="3100" b="1" dirty="0">
                <a:solidFill>
                  <a:srgbClr val="F8FAFC"/>
                </a:solidFill>
                <a:latin typeface="Aptos Display" pitchFamily="34" charset="0"/>
                <a:ea typeface="Aptos Display" pitchFamily="34" charset="-122"/>
                <a:cs typeface="Aptos Display" pitchFamily="34" charset="-120"/>
              </a:rPr>
              <a:t>Trace evidence</a:t>
            </a:r>
            <a:endParaRPr lang="en-US" sz="3100" dirty="0"/>
          </a:p>
        </p:txBody>
      </p:sp>
      <p:sp>
        <p:nvSpPr>
          <p:cNvPr id="4" name="Text 2"/>
          <p:cNvSpPr/>
          <p:nvPr/>
        </p:nvSpPr>
        <p:spPr>
          <a:xfrm>
            <a:off x="530352" y="868680"/>
            <a:ext cx="8412480" cy="292608"/>
          </a:xfrm>
          <a:prstGeom prst="rect">
            <a:avLst/>
          </a:prstGeom>
          <a:noFill/>
          <a:ln/>
        </p:spPr>
        <p:txBody>
          <a:bodyPr wrap="square" lIns="0" tIns="0" rIns="0" bIns="0" rtlCol="0" anchor="ctr"/>
          <a:lstStyle/>
          <a:p>
            <a:pPr indent="0" marL="0">
              <a:buNone/>
            </a:pPr>
            <a:r>
              <a:rPr lang="en-US" sz="1100" dirty="0">
                <a:solidFill>
                  <a:srgbClr val="94A3B8"/>
                </a:solidFill>
              </a:rPr>
              <a:t>Five traces demonstrate normal, comparative, and refusal behavior</a:t>
            </a:r>
            <a:endParaRPr lang="en-US" sz="1100" dirty="0"/>
          </a:p>
        </p:txBody>
      </p:sp>
      <p:sp>
        <p:nvSpPr>
          <p:cNvPr id="5" name="Shape 3"/>
          <p:cNvSpPr/>
          <p:nvPr/>
        </p:nvSpPr>
        <p:spPr>
          <a:xfrm>
            <a:off x="502920" y="1124712"/>
            <a:ext cx="2971800" cy="0"/>
          </a:xfrm>
          <a:prstGeom prst="line">
            <a:avLst/>
          </a:prstGeom>
          <a:noFill/>
          <a:ln w="16510">
            <a:solidFill>
              <a:srgbClr val="38BDF8">
                <a:alpha val="90000"/>
              </a:srgbClr>
            </a:solidFill>
            <a:prstDash val="solid"/>
          </a:ln>
        </p:spPr>
      </p:sp>
      <p:sp>
        <p:nvSpPr>
          <p:cNvPr id="6" name="Text 4"/>
          <p:cNvSpPr/>
          <p:nvPr/>
        </p:nvSpPr>
        <p:spPr>
          <a:xfrm>
            <a:off x="868680" y="1508760"/>
            <a:ext cx="914400" cy="347472"/>
          </a:xfrm>
          <a:prstGeom prst="rect">
            <a:avLst/>
          </a:prstGeom>
          <a:solidFill>
            <a:srgbClr val="22C55E"/>
          </a:solidFill>
          <a:ln w="11430">
            <a:solidFill>
              <a:srgbClr val="334155"/>
            </a:solidFill>
          </a:ln>
        </p:spPr>
        <p:txBody>
          <a:bodyPr wrap="square" lIns="762" tIns="762" rIns="762" bIns="762" rtlCol="0" anchor="ctr">
            <a:normAutofit/>
          </a:bodyPr>
          <a:lstStyle/>
          <a:p>
            <a:pPr algn="ctr" indent="0" marL="0">
              <a:buNone/>
            </a:pPr>
            <a:r>
              <a:rPr lang="en-US" sz="1150" b="1" dirty="0">
                <a:solidFill>
                  <a:srgbClr val="0B1220"/>
                </a:solidFill>
              </a:rPr>
              <a:t>Trace 1</a:t>
            </a:r>
            <a:endParaRPr lang="en-US" sz="1150" dirty="0"/>
          </a:p>
        </p:txBody>
      </p:sp>
      <p:sp>
        <p:nvSpPr>
          <p:cNvPr id="7" name="Text 5"/>
          <p:cNvSpPr/>
          <p:nvPr/>
        </p:nvSpPr>
        <p:spPr>
          <a:xfrm>
            <a:off x="2011680" y="1527048"/>
            <a:ext cx="5669280" cy="292608"/>
          </a:xfrm>
          <a:prstGeom prst="rect">
            <a:avLst/>
          </a:prstGeom>
          <a:noFill/>
          <a:ln/>
        </p:spPr>
        <p:txBody>
          <a:bodyPr wrap="square" lIns="508" tIns="508" rIns="508" bIns="508" rtlCol="0" anchor="ctr">
            <a:normAutofit/>
          </a:bodyPr>
          <a:lstStyle/>
          <a:p>
            <a:pPr indent="0" marL="0">
              <a:buNone/>
            </a:pPr>
            <a:r>
              <a:rPr lang="en-US" sz="1400" dirty="0">
                <a:solidFill>
                  <a:srgbClr val="F8FAFC"/>
                </a:solidFill>
              </a:rPr>
              <a:t>DDoS flood triage</a:t>
            </a:r>
            <a:endParaRPr lang="en-US" sz="1400" dirty="0"/>
          </a:p>
        </p:txBody>
      </p:sp>
      <p:sp>
        <p:nvSpPr>
          <p:cNvPr id="8" name="Text 6"/>
          <p:cNvSpPr/>
          <p:nvPr/>
        </p:nvSpPr>
        <p:spPr>
          <a:xfrm>
            <a:off x="868680" y="2286000"/>
            <a:ext cx="914400" cy="347472"/>
          </a:xfrm>
          <a:prstGeom prst="rect">
            <a:avLst/>
          </a:prstGeom>
          <a:solidFill>
            <a:srgbClr val="F59E0B"/>
          </a:solidFill>
          <a:ln w="11430">
            <a:solidFill>
              <a:srgbClr val="334155"/>
            </a:solidFill>
          </a:ln>
        </p:spPr>
        <p:txBody>
          <a:bodyPr wrap="square" lIns="762" tIns="762" rIns="762" bIns="762" rtlCol="0" anchor="ctr">
            <a:normAutofit/>
          </a:bodyPr>
          <a:lstStyle/>
          <a:p>
            <a:pPr algn="ctr" indent="0" marL="0">
              <a:buNone/>
            </a:pPr>
            <a:r>
              <a:rPr lang="en-US" sz="1150" b="1" dirty="0">
                <a:solidFill>
                  <a:srgbClr val="0B1220"/>
                </a:solidFill>
              </a:rPr>
              <a:t>Trace 2</a:t>
            </a:r>
            <a:endParaRPr lang="en-US" sz="1150" dirty="0"/>
          </a:p>
        </p:txBody>
      </p:sp>
      <p:sp>
        <p:nvSpPr>
          <p:cNvPr id="9" name="Text 7"/>
          <p:cNvSpPr/>
          <p:nvPr/>
        </p:nvSpPr>
        <p:spPr>
          <a:xfrm>
            <a:off x="2011680" y="2304288"/>
            <a:ext cx="5669280" cy="292608"/>
          </a:xfrm>
          <a:prstGeom prst="rect">
            <a:avLst/>
          </a:prstGeom>
          <a:noFill/>
          <a:ln/>
        </p:spPr>
        <p:txBody>
          <a:bodyPr wrap="square" lIns="508" tIns="508" rIns="508" bIns="508" rtlCol="0" anchor="ctr">
            <a:normAutofit/>
          </a:bodyPr>
          <a:lstStyle/>
          <a:p>
            <a:pPr indent="0" marL="0">
              <a:buNone/>
            </a:pPr>
            <a:r>
              <a:rPr lang="en-US" sz="1400" dirty="0">
                <a:solidFill>
                  <a:srgbClr val="F8FAFC"/>
                </a:solidFill>
              </a:rPr>
              <a:t>Recon style alert</a:t>
            </a:r>
            <a:endParaRPr lang="en-US" sz="1400" dirty="0"/>
          </a:p>
        </p:txBody>
      </p:sp>
      <p:sp>
        <p:nvSpPr>
          <p:cNvPr id="10" name="Text 8"/>
          <p:cNvSpPr/>
          <p:nvPr/>
        </p:nvSpPr>
        <p:spPr>
          <a:xfrm>
            <a:off x="868680" y="3063240"/>
            <a:ext cx="914400" cy="347472"/>
          </a:xfrm>
          <a:prstGeom prst="rect">
            <a:avLst/>
          </a:prstGeom>
          <a:solidFill>
            <a:srgbClr val="38BDF8"/>
          </a:solidFill>
          <a:ln w="11430">
            <a:solidFill>
              <a:srgbClr val="334155"/>
            </a:solidFill>
          </a:ln>
        </p:spPr>
        <p:txBody>
          <a:bodyPr wrap="square" lIns="762" tIns="762" rIns="762" bIns="762" rtlCol="0" anchor="ctr">
            <a:normAutofit/>
          </a:bodyPr>
          <a:lstStyle/>
          <a:p>
            <a:pPr algn="ctr" indent="0" marL="0">
              <a:buNone/>
            </a:pPr>
            <a:r>
              <a:rPr lang="en-US" sz="1150" b="1" dirty="0">
                <a:solidFill>
                  <a:srgbClr val="0B1220"/>
                </a:solidFill>
              </a:rPr>
              <a:t>Trace 3</a:t>
            </a:r>
            <a:endParaRPr lang="en-US" sz="1150" dirty="0"/>
          </a:p>
        </p:txBody>
      </p:sp>
      <p:sp>
        <p:nvSpPr>
          <p:cNvPr id="11" name="Text 9"/>
          <p:cNvSpPr/>
          <p:nvPr/>
        </p:nvSpPr>
        <p:spPr>
          <a:xfrm>
            <a:off x="2011680" y="3081528"/>
            <a:ext cx="5669280" cy="292608"/>
          </a:xfrm>
          <a:prstGeom prst="rect">
            <a:avLst/>
          </a:prstGeom>
          <a:noFill/>
          <a:ln/>
        </p:spPr>
        <p:txBody>
          <a:bodyPr wrap="square" lIns="508" tIns="508" rIns="508" bIns="508" rtlCol="0" anchor="ctr">
            <a:normAutofit/>
          </a:bodyPr>
          <a:lstStyle/>
          <a:p>
            <a:pPr indent="0" marL="0">
              <a:buNone/>
            </a:pPr>
            <a:r>
              <a:rPr lang="en-US" sz="1400" dirty="0">
                <a:solidFill>
                  <a:srgbClr val="F8FAFC"/>
                </a:solidFill>
              </a:rPr>
              <a:t>Two model comparison</a:t>
            </a:r>
            <a:endParaRPr lang="en-US" sz="1400" dirty="0"/>
          </a:p>
        </p:txBody>
      </p:sp>
      <p:sp>
        <p:nvSpPr>
          <p:cNvPr id="12" name="Text 10"/>
          <p:cNvSpPr/>
          <p:nvPr/>
        </p:nvSpPr>
        <p:spPr>
          <a:xfrm>
            <a:off x="868680" y="3840480"/>
            <a:ext cx="914400" cy="347472"/>
          </a:xfrm>
          <a:prstGeom prst="rect">
            <a:avLst/>
          </a:prstGeom>
          <a:solidFill>
            <a:srgbClr val="A78BFA"/>
          </a:solidFill>
          <a:ln w="11430">
            <a:solidFill>
              <a:srgbClr val="334155"/>
            </a:solidFill>
          </a:ln>
        </p:spPr>
        <p:txBody>
          <a:bodyPr wrap="square" lIns="762" tIns="762" rIns="762" bIns="762" rtlCol="0" anchor="ctr">
            <a:normAutofit/>
          </a:bodyPr>
          <a:lstStyle/>
          <a:p>
            <a:pPr algn="ctr" indent="0" marL="0">
              <a:buNone/>
            </a:pPr>
            <a:r>
              <a:rPr lang="en-US" sz="1150" b="1" dirty="0">
                <a:solidFill>
                  <a:srgbClr val="0B1220"/>
                </a:solidFill>
              </a:rPr>
              <a:t>Trace 4</a:t>
            </a:r>
            <a:endParaRPr lang="en-US" sz="1150" dirty="0"/>
          </a:p>
        </p:txBody>
      </p:sp>
      <p:sp>
        <p:nvSpPr>
          <p:cNvPr id="13" name="Text 11"/>
          <p:cNvSpPr/>
          <p:nvPr/>
        </p:nvSpPr>
        <p:spPr>
          <a:xfrm>
            <a:off x="2011680" y="3858768"/>
            <a:ext cx="5669280" cy="292608"/>
          </a:xfrm>
          <a:prstGeom prst="rect">
            <a:avLst/>
          </a:prstGeom>
          <a:noFill/>
          <a:ln/>
        </p:spPr>
        <p:txBody>
          <a:bodyPr wrap="square" lIns="508" tIns="508" rIns="508" bIns="508" rtlCol="0" anchor="ctr">
            <a:normAutofit/>
          </a:bodyPr>
          <a:lstStyle/>
          <a:p>
            <a:pPr indent="0" marL="0">
              <a:buNone/>
            </a:pPr>
            <a:r>
              <a:rPr lang="en-US" sz="1400" dirty="0">
                <a:solidFill>
                  <a:srgbClr val="F8FAFC"/>
                </a:solidFill>
              </a:rPr>
              <a:t>Recipe request refused</a:t>
            </a:r>
            <a:endParaRPr lang="en-US" sz="1400" dirty="0"/>
          </a:p>
        </p:txBody>
      </p:sp>
      <p:sp>
        <p:nvSpPr>
          <p:cNvPr id="14" name="Text 12"/>
          <p:cNvSpPr/>
          <p:nvPr/>
        </p:nvSpPr>
        <p:spPr>
          <a:xfrm>
            <a:off x="868680" y="4617720"/>
            <a:ext cx="914400" cy="347472"/>
          </a:xfrm>
          <a:prstGeom prst="rect">
            <a:avLst/>
          </a:prstGeom>
          <a:solidFill>
            <a:srgbClr val="A78BFA"/>
          </a:solidFill>
          <a:ln w="11430">
            <a:solidFill>
              <a:srgbClr val="334155"/>
            </a:solidFill>
          </a:ln>
        </p:spPr>
        <p:txBody>
          <a:bodyPr wrap="square" lIns="762" tIns="762" rIns="762" bIns="762" rtlCol="0" anchor="ctr">
            <a:normAutofit/>
          </a:bodyPr>
          <a:lstStyle/>
          <a:p>
            <a:pPr algn="ctr" indent="0" marL="0">
              <a:buNone/>
            </a:pPr>
            <a:r>
              <a:rPr lang="en-US" sz="1150" b="1" dirty="0">
                <a:solidFill>
                  <a:srgbClr val="0B1220"/>
                </a:solidFill>
              </a:rPr>
              <a:t>Trace 5</a:t>
            </a:r>
            <a:endParaRPr lang="en-US" sz="1150" dirty="0"/>
          </a:p>
        </p:txBody>
      </p:sp>
      <p:sp>
        <p:nvSpPr>
          <p:cNvPr id="15" name="Text 13"/>
          <p:cNvSpPr/>
          <p:nvPr/>
        </p:nvSpPr>
        <p:spPr>
          <a:xfrm>
            <a:off x="2011680" y="4636008"/>
            <a:ext cx="5669280" cy="292608"/>
          </a:xfrm>
          <a:prstGeom prst="rect">
            <a:avLst/>
          </a:prstGeom>
          <a:noFill/>
          <a:ln/>
        </p:spPr>
        <p:txBody>
          <a:bodyPr wrap="square" lIns="508" tIns="508" rIns="508" bIns="508" rtlCol="0" anchor="ctr">
            <a:normAutofit/>
          </a:bodyPr>
          <a:lstStyle/>
          <a:p>
            <a:pPr indent="0" marL="0">
              <a:buNone/>
            </a:pPr>
            <a:r>
              <a:rPr lang="en-US" sz="1400" dirty="0">
                <a:solidFill>
                  <a:srgbClr val="F8FAFC"/>
                </a:solidFill>
              </a:rPr>
              <a:t>Coding request refused</a:t>
            </a:r>
            <a:endParaRPr lang="en-US" sz="1400" dirty="0"/>
          </a:p>
        </p:txBody>
      </p:sp>
      <p:sp>
        <p:nvSpPr>
          <p:cNvPr id="16" name="Text 14"/>
          <p:cNvSpPr/>
          <p:nvPr/>
        </p:nvSpPr>
        <p:spPr>
          <a:xfrm>
            <a:off x="914400" y="5623560"/>
            <a:ext cx="10241280" cy="365760"/>
          </a:xfrm>
          <a:prstGeom prst="rect">
            <a:avLst/>
          </a:prstGeom>
          <a:noFill/>
          <a:ln/>
        </p:spPr>
        <p:txBody>
          <a:bodyPr wrap="square" lIns="508" tIns="508" rIns="508" bIns="508" rtlCol="0" anchor="ctr">
            <a:normAutofit/>
          </a:bodyPr>
          <a:lstStyle/>
          <a:p>
            <a:pPr algn="ctr" indent="0" marL="0">
              <a:buNone/>
            </a:pPr>
            <a:r>
              <a:rPr lang="en-US" sz="1700" dirty="0">
                <a:solidFill>
                  <a:srgbClr val="C4CBD8"/>
                </a:solidFill>
              </a:rPr>
              <a:t>MLflow tracing records LLM calls and tool calls so the grader can inspect how each output was produced.</a:t>
            </a:r>
            <a:endParaRPr lang="en-US" sz="1700" dirty="0"/>
          </a:p>
        </p:txBody>
      </p:sp>
      <p:sp>
        <p:nvSpPr>
          <p:cNvPr id="17" name="Text 15"/>
          <p:cNvSpPr/>
          <p:nvPr/>
        </p:nvSpPr>
        <p:spPr>
          <a:xfrm>
            <a:off x="502920" y="6473952"/>
            <a:ext cx="2926080" cy="164592"/>
          </a:xfrm>
          <a:prstGeom prst="rect">
            <a:avLst/>
          </a:prstGeom>
          <a:noFill/>
          <a:ln/>
        </p:spPr>
        <p:txBody>
          <a:bodyPr wrap="square" lIns="0" tIns="0" rIns="0" bIns="0" rtlCol="0" anchor="ctr"/>
          <a:lstStyle/>
          <a:p>
            <a:pPr indent="0" marL="0">
              <a:buNone/>
            </a:pPr>
            <a:r>
              <a:rPr lang="en-US" sz="780" dirty="0">
                <a:solidFill>
                  <a:srgbClr val="94A3B8"/>
                </a:solidFill>
              </a:rPr>
              <a:t>SentinelMesh final project</a:t>
            </a:r>
            <a:endParaRPr lang="en-US" sz="780" dirty="0"/>
          </a:p>
        </p:txBody>
      </p:sp>
      <p:sp>
        <p:nvSpPr>
          <p:cNvPr id="18" name="Text 16"/>
          <p:cNvSpPr/>
          <p:nvPr/>
        </p:nvSpPr>
        <p:spPr>
          <a:xfrm>
            <a:off x="11384280" y="6446520"/>
            <a:ext cx="320040" cy="201168"/>
          </a:xfrm>
          <a:prstGeom prst="rect">
            <a:avLst/>
          </a:prstGeom>
          <a:noFill/>
          <a:ln/>
        </p:spPr>
        <p:txBody>
          <a:bodyPr wrap="square" lIns="0" tIns="0" rIns="0" bIns="0" rtlCol="0" anchor="ctr"/>
          <a:lstStyle/>
          <a:p>
            <a:pPr algn="r" indent="0" marL="0">
              <a:buNone/>
            </a:pPr>
            <a:r>
              <a:rPr lang="en-US" sz="800" dirty="0">
                <a:solidFill>
                  <a:srgbClr val="94A3B8"/>
                </a:solidFill>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Text 1"/>
          <p:cNvSpPr/>
          <p:nvPr/>
        </p:nvSpPr>
        <p:spPr>
          <a:xfrm>
            <a:off x="502920" y="320040"/>
            <a:ext cx="8138160" cy="502920"/>
          </a:xfrm>
          <a:prstGeom prst="rect">
            <a:avLst/>
          </a:prstGeom>
          <a:noFill/>
          <a:ln/>
        </p:spPr>
        <p:txBody>
          <a:bodyPr wrap="square" lIns="0" tIns="0" rIns="0" bIns="0" rtlCol="0" anchor="ctr"/>
          <a:lstStyle/>
          <a:p>
            <a:pPr indent="0" marL="0">
              <a:buNone/>
            </a:pPr>
            <a:r>
              <a:rPr lang="en-US" sz="3100" b="1" dirty="0">
                <a:solidFill>
                  <a:srgbClr val="F8FAFC"/>
                </a:solidFill>
                <a:latin typeface="Aptos Display" pitchFamily="34" charset="0"/>
                <a:ea typeface="Aptos Display" pitchFamily="34" charset="-122"/>
                <a:cs typeface="Aptos Display" pitchFamily="34" charset="-120"/>
              </a:rPr>
              <a:t>Model comparison</a:t>
            </a:r>
            <a:endParaRPr lang="en-US" sz="3100" dirty="0"/>
          </a:p>
        </p:txBody>
      </p:sp>
      <p:sp>
        <p:nvSpPr>
          <p:cNvPr id="4" name="Text 2"/>
          <p:cNvSpPr/>
          <p:nvPr/>
        </p:nvSpPr>
        <p:spPr>
          <a:xfrm>
            <a:off x="530352" y="868680"/>
            <a:ext cx="8412480" cy="292608"/>
          </a:xfrm>
          <a:prstGeom prst="rect">
            <a:avLst/>
          </a:prstGeom>
          <a:noFill/>
          <a:ln/>
        </p:spPr>
        <p:txBody>
          <a:bodyPr wrap="square" lIns="0" tIns="0" rIns="0" bIns="0" rtlCol="0" anchor="ctr"/>
          <a:lstStyle/>
          <a:p>
            <a:pPr indent="0" marL="0">
              <a:buNone/>
            </a:pPr>
            <a:r>
              <a:rPr lang="en-US" sz="1100" dirty="0">
                <a:solidFill>
                  <a:srgbClr val="94A3B8"/>
                </a:solidFill>
              </a:rPr>
              <a:t>Lower cost does not help if tool calling breaks</a:t>
            </a:r>
            <a:endParaRPr lang="en-US" sz="1100" dirty="0"/>
          </a:p>
        </p:txBody>
      </p:sp>
      <p:sp>
        <p:nvSpPr>
          <p:cNvPr id="5" name="Shape 3"/>
          <p:cNvSpPr/>
          <p:nvPr/>
        </p:nvSpPr>
        <p:spPr>
          <a:xfrm>
            <a:off x="502920" y="1124712"/>
            <a:ext cx="2971800" cy="0"/>
          </a:xfrm>
          <a:prstGeom prst="line">
            <a:avLst/>
          </a:prstGeom>
          <a:noFill/>
          <a:ln w="16510">
            <a:solidFill>
              <a:srgbClr val="38BDF8">
                <a:alpha val="90000"/>
              </a:srgbClr>
            </a:solidFill>
            <a:prstDash val="solid"/>
          </a:ln>
        </p:spPr>
      </p:sp>
      <p:sp>
        <p:nvSpPr>
          <p:cNvPr id="6" name="Text 4"/>
          <p:cNvSpPr/>
          <p:nvPr/>
        </p:nvSpPr>
        <p:spPr>
          <a:xfrm>
            <a:off x="822960" y="1828800"/>
            <a:ext cx="2971800" cy="640080"/>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400" b="1" dirty="0">
                <a:solidFill>
                  <a:srgbClr val="F8FAFC"/>
                </a:solidFill>
              </a:rPr>
              <a:t>databricks gpt oss 120b</a:t>
            </a:r>
            <a:endParaRPr lang="en-US" sz="1400" dirty="0"/>
          </a:p>
        </p:txBody>
      </p:sp>
      <p:sp>
        <p:nvSpPr>
          <p:cNvPr id="7" name="Text 5"/>
          <p:cNvSpPr/>
          <p:nvPr/>
        </p:nvSpPr>
        <p:spPr>
          <a:xfrm>
            <a:off x="1024128" y="2606040"/>
            <a:ext cx="2560320" cy="685800"/>
          </a:xfrm>
          <a:prstGeom prst="rect">
            <a:avLst/>
          </a:prstGeom>
          <a:noFill/>
          <a:ln/>
        </p:spPr>
        <p:txBody>
          <a:bodyPr wrap="square" lIns="508" tIns="508" rIns="508" bIns="508" rtlCol="0" anchor="ctr">
            <a:normAutofit/>
          </a:bodyPr>
          <a:lstStyle/>
          <a:p>
            <a:pPr algn="ctr" indent="0" marL="0">
              <a:buNone/>
            </a:pPr>
            <a:r>
              <a:rPr lang="en-US" sz="1300" dirty="0">
                <a:solidFill>
                  <a:srgbClr val="C4CBD8"/>
                </a:solidFill>
              </a:rPr>
              <a:t>Completed richer tool based triage but hit workspace QPS limits during repeated evaluation.</a:t>
            </a:r>
            <a:endParaRPr lang="en-US" sz="1300" dirty="0"/>
          </a:p>
        </p:txBody>
      </p:sp>
      <p:sp>
        <p:nvSpPr>
          <p:cNvPr id="8" name="Text 6"/>
          <p:cNvSpPr/>
          <p:nvPr/>
        </p:nvSpPr>
        <p:spPr>
          <a:xfrm>
            <a:off x="4572000" y="1828800"/>
            <a:ext cx="2971800" cy="640080"/>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400" b="1" dirty="0">
                <a:solidFill>
                  <a:srgbClr val="F8FAFC"/>
                </a:solidFill>
              </a:rPr>
              <a:t>databricks gpt oss 20b</a:t>
            </a:r>
            <a:endParaRPr lang="en-US" sz="1400" dirty="0"/>
          </a:p>
        </p:txBody>
      </p:sp>
      <p:sp>
        <p:nvSpPr>
          <p:cNvPr id="9" name="Text 7"/>
          <p:cNvSpPr/>
          <p:nvPr/>
        </p:nvSpPr>
        <p:spPr>
          <a:xfrm>
            <a:off x="4773168" y="2606040"/>
            <a:ext cx="2560320" cy="685800"/>
          </a:xfrm>
          <a:prstGeom prst="rect">
            <a:avLst/>
          </a:prstGeom>
          <a:noFill/>
          <a:ln/>
        </p:spPr>
        <p:txBody>
          <a:bodyPr wrap="square" lIns="508" tIns="508" rIns="508" bIns="508" rtlCol="0" anchor="ctr">
            <a:normAutofit/>
          </a:bodyPr>
          <a:lstStyle/>
          <a:p>
            <a:pPr algn="ctr" indent="0" marL="0">
              <a:buNone/>
            </a:pPr>
            <a:r>
              <a:rPr lang="en-US" sz="1300" dirty="0">
                <a:solidFill>
                  <a:srgbClr val="C4CBD8"/>
                </a:solidFill>
              </a:rPr>
              <a:t>Produced incomplete tool sequence in the comparison trace, which reduced reliability.</a:t>
            </a:r>
            <a:endParaRPr lang="en-US" sz="1300" dirty="0"/>
          </a:p>
        </p:txBody>
      </p:sp>
      <p:sp>
        <p:nvSpPr>
          <p:cNvPr id="10" name="Text 8"/>
          <p:cNvSpPr/>
          <p:nvPr/>
        </p:nvSpPr>
        <p:spPr>
          <a:xfrm>
            <a:off x="8321040" y="1828800"/>
            <a:ext cx="2971800" cy="640080"/>
          </a:xfrm>
          <a:prstGeom prst="rect">
            <a:avLst/>
          </a:prstGeom>
          <a:solidFill>
            <a:srgbClr val="22C55E"/>
          </a:solidFill>
          <a:ln w="11430">
            <a:solidFill>
              <a:srgbClr val="334155"/>
            </a:solidFill>
          </a:ln>
        </p:spPr>
        <p:txBody>
          <a:bodyPr wrap="square" lIns="762" tIns="762" rIns="762" bIns="762" rtlCol="0" anchor="ctr">
            <a:normAutofit/>
          </a:bodyPr>
          <a:lstStyle/>
          <a:p>
            <a:pPr algn="ctr" indent="0" marL="0">
              <a:buNone/>
            </a:pPr>
            <a:r>
              <a:rPr lang="en-US" sz="1400" b="1" dirty="0">
                <a:solidFill>
                  <a:srgbClr val="0B1220"/>
                </a:solidFill>
              </a:rPr>
              <a:t>anthropic claude sonnet 4</a:t>
            </a:r>
            <a:endParaRPr lang="en-US" sz="1400" dirty="0"/>
          </a:p>
        </p:txBody>
      </p:sp>
      <p:sp>
        <p:nvSpPr>
          <p:cNvPr id="11" name="Text 9"/>
          <p:cNvSpPr/>
          <p:nvPr/>
        </p:nvSpPr>
        <p:spPr>
          <a:xfrm>
            <a:off x="8522208" y="2606040"/>
            <a:ext cx="2560320" cy="685800"/>
          </a:xfrm>
          <a:prstGeom prst="rect">
            <a:avLst/>
          </a:prstGeom>
          <a:noFill/>
          <a:ln/>
        </p:spPr>
        <p:txBody>
          <a:bodyPr wrap="square" lIns="508" tIns="508" rIns="508" bIns="508" rtlCol="0" anchor="ctr">
            <a:normAutofit/>
          </a:bodyPr>
          <a:lstStyle/>
          <a:p>
            <a:pPr algn="ctr" indent="0" marL="0">
              <a:buNone/>
            </a:pPr>
            <a:r>
              <a:rPr lang="en-US" sz="1300" dirty="0">
                <a:solidFill>
                  <a:srgbClr val="C4CBD8"/>
                </a:solidFill>
              </a:rPr>
              <a:t>Completed the final answer sheet generation without the same rate limit issue.</a:t>
            </a:r>
            <a:endParaRPr lang="en-US" sz="1300" dirty="0"/>
          </a:p>
        </p:txBody>
      </p:sp>
      <p:sp>
        <p:nvSpPr>
          <p:cNvPr id="12" name="Text 10"/>
          <p:cNvSpPr/>
          <p:nvPr/>
        </p:nvSpPr>
        <p:spPr>
          <a:xfrm>
            <a:off x="914400" y="4937760"/>
            <a:ext cx="10241280" cy="411480"/>
          </a:xfrm>
          <a:prstGeom prst="rect">
            <a:avLst/>
          </a:prstGeom>
          <a:noFill/>
          <a:ln/>
        </p:spPr>
        <p:txBody>
          <a:bodyPr wrap="square" lIns="508" tIns="508" rIns="508" bIns="508" rtlCol="0" anchor="ctr">
            <a:normAutofit/>
          </a:bodyPr>
          <a:lstStyle/>
          <a:p>
            <a:pPr algn="ctr" indent="0" marL="0">
              <a:buNone/>
            </a:pPr>
            <a:r>
              <a:rPr lang="en-US" sz="1800" b="1" dirty="0">
                <a:solidFill>
                  <a:srgbClr val="F8FAFC"/>
                </a:solidFill>
              </a:rPr>
              <a:t>Recommendation: use Sonnet for final evaluation style triage and keep smaller models only for simple low risk workflows after testing.</a:t>
            </a:r>
            <a:endParaRPr lang="en-US" sz="1800" dirty="0"/>
          </a:p>
        </p:txBody>
      </p:sp>
      <p:sp>
        <p:nvSpPr>
          <p:cNvPr id="13" name="Text 11"/>
          <p:cNvSpPr/>
          <p:nvPr/>
        </p:nvSpPr>
        <p:spPr>
          <a:xfrm>
            <a:off x="502920" y="6473952"/>
            <a:ext cx="2926080" cy="164592"/>
          </a:xfrm>
          <a:prstGeom prst="rect">
            <a:avLst/>
          </a:prstGeom>
          <a:noFill/>
          <a:ln/>
        </p:spPr>
        <p:txBody>
          <a:bodyPr wrap="square" lIns="0" tIns="0" rIns="0" bIns="0" rtlCol="0" anchor="ctr"/>
          <a:lstStyle/>
          <a:p>
            <a:pPr indent="0" marL="0">
              <a:buNone/>
            </a:pPr>
            <a:r>
              <a:rPr lang="en-US" sz="780" dirty="0">
                <a:solidFill>
                  <a:srgbClr val="94A3B8"/>
                </a:solidFill>
              </a:rPr>
              <a:t>SentinelMesh final project</a:t>
            </a:r>
            <a:endParaRPr lang="en-US" sz="780" dirty="0"/>
          </a:p>
        </p:txBody>
      </p:sp>
      <p:sp>
        <p:nvSpPr>
          <p:cNvPr id="14" name="Text 12"/>
          <p:cNvSpPr/>
          <p:nvPr/>
        </p:nvSpPr>
        <p:spPr>
          <a:xfrm>
            <a:off x="11384280" y="6446520"/>
            <a:ext cx="320040" cy="201168"/>
          </a:xfrm>
          <a:prstGeom prst="rect">
            <a:avLst/>
          </a:prstGeom>
          <a:noFill/>
          <a:ln/>
        </p:spPr>
        <p:txBody>
          <a:bodyPr wrap="square" lIns="0" tIns="0" rIns="0" bIns="0" rtlCol="0" anchor="ctr"/>
          <a:lstStyle/>
          <a:p>
            <a:pPr algn="r" indent="0" marL="0">
              <a:buNone/>
            </a:pPr>
            <a:r>
              <a:rPr lang="en-US" sz="800" dirty="0">
                <a:solidFill>
                  <a:srgbClr val="94A3B8"/>
                </a:solidFill>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Text 1"/>
          <p:cNvSpPr/>
          <p:nvPr/>
        </p:nvSpPr>
        <p:spPr>
          <a:xfrm>
            <a:off x="502920" y="320040"/>
            <a:ext cx="8138160" cy="502920"/>
          </a:xfrm>
          <a:prstGeom prst="rect">
            <a:avLst/>
          </a:prstGeom>
          <a:noFill/>
          <a:ln/>
        </p:spPr>
        <p:txBody>
          <a:bodyPr wrap="square" lIns="0" tIns="0" rIns="0" bIns="0" rtlCol="0" anchor="ctr"/>
          <a:lstStyle/>
          <a:p>
            <a:pPr indent="0" marL="0">
              <a:buNone/>
            </a:pPr>
            <a:r>
              <a:rPr lang="en-US" sz="3100" b="1" dirty="0">
                <a:solidFill>
                  <a:srgbClr val="F8FAFC"/>
                </a:solidFill>
                <a:latin typeface="Aptos Display" pitchFamily="34" charset="0"/>
                <a:ea typeface="Aptos Display" pitchFamily="34" charset="-122"/>
                <a:cs typeface="Aptos Display" pitchFamily="34" charset="-120"/>
              </a:rPr>
              <a:t>Evaluation design</a:t>
            </a:r>
            <a:endParaRPr lang="en-US" sz="3100" dirty="0"/>
          </a:p>
        </p:txBody>
      </p:sp>
      <p:sp>
        <p:nvSpPr>
          <p:cNvPr id="4" name="Text 2"/>
          <p:cNvSpPr/>
          <p:nvPr/>
        </p:nvSpPr>
        <p:spPr>
          <a:xfrm>
            <a:off x="530352" y="868680"/>
            <a:ext cx="8412480" cy="292608"/>
          </a:xfrm>
          <a:prstGeom prst="rect">
            <a:avLst/>
          </a:prstGeom>
          <a:noFill/>
          <a:ln/>
        </p:spPr>
        <p:txBody>
          <a:bodyPr wrap="square" lIns="0" tIns="0" rIns="0" bIns="0" rtlCol="0" anchor="ctr"/>
          <a:lstStyle/>
          <a:p>
            <a:pPr indent="0" marL="0">
              <a:buNone/>
            </a:pPr>
            <a:r>
              <a:rPr lang="en-US" sz="1100" dirty="0">
                <a:solidFill>
                  <a:srgbClr val="94A3B8"/>
                </a:solidFill>
              </a:rPr>
              <a:t>Separated answer generation from scoring</a:t>
            </a:r>
            <a:endParaRPr lang="en-US" sz="1100" dirty="0"/>
          </a:p>
        </p:txBody>
      </p:sp>
      <p:sp>
        <p:nvSpPr>
          <p:cNvPr id="5" name="Shape 3"/>
          <p:cNvSpPr/>
          <p:nvPr/>
        </p:nvSpPr>
        <p:spPr>
          <a:xfrm>
            <a:off x="502920" y="1124712"/>
            <a:ext cx="2971800" cy="0"/>
          </a:xfrm>
          <a:prstGeom prst="line">
            <a:avLst/>
          </a:prstGeom>
          <a:noFill/>
          <a:ln w="16510">
            <a:solidFill>
              <a:srgbClr val="38BDF8">
                <a:alpha val="90000"/>
              </a:srgbClr>
            </a:solidFill>
            <a:prstDash val="solid"/>
          </a:ln>
        </p:spPr>
      </p:sp>
      <p:sp>
        <p:nvSpPr>
          <p:cNvPr id="6" name="Text 4"/>
          <p:cNvSpPr/>
          <p:nvPr/>
        </p:nvSpPr>
        <p:spPr>
          <a:xfrm>
            <a:off x="914400" y="1554480"/>
            <a:ext cx="2011680" cy="566928"/>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400" b="1" dirty="0">
                <a:solidFill>
                  <a:srgbClr val="F8FAFC"/>
                </a:solidFill>
              </a:rPr>
              <a:t>Answer sheet</a:t>
            </a:r>
            <a:endParaRPr lang="en-US" sz="1400" dirty="0"/>
          </a:p>
        </p:txBody>
      </p:sp>
      <p:sp>
        <p:nvSpPr>
          <p:cNvPr id="7" name="Text 5"/>
          <p:cNvSpPr/>
          <p:nvPr/>
        </p:nvSpPr>
        <p:spPr>
          <a:xfrm>
            <a:off x="3703320" y="1554480"/>
            <a:ext cx="2194560" cy="566928"/>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400" b="1" dirty="0">
                <a:solidFill>
                  <a:srgbClr val="F8FAFC"/>
                </a:solidFill>
              </a:rPr>
              <a:t>Fallback LLM judge</a:t>
            </a:r>
            <a:endParaRPr lang="en-US" sz="1400" dirty="0"/>
          </a:p>
        </p:txBody>
      </p:sp>
      <p:sp>
        <p:nvSpPr>
          <p:cNvPr id="8" name="Text 6"/>
          <p:cNvSpPr/>
          <p:nvPr/>
        </p:nvSpPr>
        <p:spPr>
          <a:xfrm>
            <a:off x="6629400" y="1554480"/>
            <a:ext cx="2468880" cy="566928"/>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400" b="1" dirty="0">
                <a:solidFill>
                  <a:srgbClr val="F8FAFC"/>
                </a:solidFill>
              </a:rPr>
              <a:t>Manual deterministic judge</a:t>
            </a:r>
            <a:endParaRPr lang="en-US" sz="1400" dirty="0"/>
          </a:p>
        </p:txBody>
      </p:sp>
      <p:sp>
        <p:nvSpPr>
          <p:cNvPr id="9" name="Text 7"/>
          <p:cNvSpPr/>
          <p:nvPr/>
        </p:nvSpPr>
        <p:spPr>
          <a:xfrm>
            <a:off x="9692640" y="1554480"/>
            <a:ext cx="1645920" cy="566928"/>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300" b="1" dirty="0">
                <a:solidFill>
                  <a:srgbClr val="F8FAFC"/>
                </a:solidFill>
              </a:rPr>
              <a:t>Human review table</a:t>
            </a:r>
            <a:endParaRPr lang="en-US" sz="1300" dirty="0"/>
          </a:p>
        </p:txBody>
      </p:sp>
      <p:sp>
        <p:nvSpPr>
          <p:cNvPr id="10" name="Shape 8"/>
          <p:cNvSpPr/>
          <p:nvPr/>
        </p:nvSpPr>
        <p:spPr>
          <a:xfrm>
            <a:off x="2926080" y="1837944"/>
            <a:ext cx="777240" cy="0"/>
          </a:xfrm>
          <a:prstGeom prst="line">
            <a:avLst/>
          </a:prstGeom>
          <a:noFill/>
          <a:ln w="20320">
            <a:solidFill>
              <a:srgbClr val="38BDF8">
                <a:alpha val="92000"/>
              </a:srgbClr>
            </a:solidFill>
            <a:prstDash val="solid"/>
            <a:tailEnd type="triangle"/>
          </a:ln>
        </p:spPr>
      </p:sp>
      <p:sp>
        <p:nvSpPr>
          <p:cNvPr id="11" name="Shape 9"/>
          <p:cNvSpPr/>
          <p:nvPr/>
        </p:nvSpPr>
        <p:spPr>
          <a:xfrm>
            <a:off x="5897880" y="1837944"/>
            <a:ext cx="731520" cy="0"/>
          </a:xfrm>
          <a:prstGeom prst="line">
            <a:avLst/>
          </a:prstGeom>
          <a:noFill/>
          <a:ln w="20320">
            <a:solidFill>
              <a:srgbClr val="38BDF8">
                <a:alpha val="92000"/>
              </a:srgbClr>
            </a:solidFill>
            <a:prstDash val="solid"/>
            <a:tailEnd type="triangle"/>
          </a:ln>
        </p:spPr>
      </p:sp>
      <p:sp>
        <p:nvSpPr>
          <p:cNvPr id="12" name="Shape 10"/>
          <p:cNvSpPr/>
          <p:nvPr/>
        </p:nvSpPr>
        <p:spPr>
          <a:xfrm>
            <a:off x="9098280" y="1837944"/>
            <a:ext cx="594360" cy="0"/>
          </a:xfrm>
          <a:prstGeom prst="line">
            <a:avLst/>
          </a:prstGeom>
          <a:noFill/>
          <a:ln w="20320">
            <a:solidFill>
              <a:srgbClr val="38BDF8">
                <a:alpha val="92000"/>
              </a:srgbClr>
            </a:solidFill>
            <a:prstDash val="solid"/>
            <a:tailEnd type="triangle"/>
          </a:ln>
        </p:spPr>
      </p:sp>
      <p:sp>
        <p:nvSpPr>
          <p:cNvPr id="13" name="Text 11"/>
          <p:cNvSpPr/>
          <p:nvPr/>
        </p:nvSpPr>
        <p:spPr>
          <a:xfrm>
            <a:off x="914400" y="3246120"/>
            <a:ext cx="2377440" cy="274320"/>
          </a:xfrm>
          <a:prstGeom prst="rect">
            <a:avLst/>
          </a:prstGeom>
          <a:noFill/>
          <a:ln/>
        </p:spPr>
        <p:txBody>
          <a:bodyPr wrap="square" lIns="508" tIns="508" rIns="508" bIns="508" rtlCol="0" anchor="ctr">
            <a:normAutofit/>
          </a:bodyPr>
          <a:lstStyle/>
          <a:p>
            <a:pPr indent="0" marL="0">
              <a:buNone/>
            </a:pPr>
            <a:r>
              <a:rPr lang="en-US" sz="1400" b="1" dirty="0">
                <a:solidFill>
                  <a:srgbClr val="38BDF8"/>
                </a:solidFill>
              </a:rPr>
              <a:t>Why this structure matters</a:t>
            </a:r>
            <a:endParaRPr lang="en-US" sz="1400" dirty="0"/>
          </a:p>
        </p:txBody>
      </p:sp>
      <p:sp>
        <p:nvSpPr>
          <p:cNvPr id="14" name="Text 12"/>
          <p:cNvSpPr/>
          <p:nvPr/>
        </p:nvSpPr>
        <p:spPr>
          <a:xfrm>
            <a:off x="914400" y="3584448"/>
            <a:ext cx="10241280" cy="594360"/>
          </a:xfrm>
          <a:prstGeom prst="rect">
            <a:avLst/>
          </a:prstGeom>
          <a:noFill/>
          <a:ln/>
        </p:spPr>
        <p:txBody>
          <a:bodyPr wrap="square" lIns="508" tIns="508" rIns="508" bIns="508" rtlCol="0" anchor="ctr">
            <a:normAutofit/>
          </a:bodyPr>
          <a:lstStyle/>
          <a:p>
            <a:pPr indent="0" marL="0">
              <a:buNone/>
            </a:pPr>
            <a:r>
              <a:rPr lang="en-US" sz="1500" dirty="0">
                <a:solidFill>
                  <a:srgbClr val="C4CBD8"/>
                </a:solidFill>
              </a:rPr>
              <a:t>Agent execution is fixed first. Scorers then evaluate the same visible outputs. This prevents repeated agent calls from changing the result and makes evaluation auditable.</a:t>
            </a:r>
            <a:endParaRPr lang="en-US" sz="1500" dirty="0"/>
          </a:p>
        </p:txBody>
      </p:sp>
      <p:sp>
        <p:nvSpPr>
          <p:cNvPr id="15" name="Text 13"/>
          <p:cNvSpPr/>
          <p:nvPr/>
        </p:nvSpPr>
        <p:spPr>
          <a:xfrm>
            <a:off x="914400" y="4617720"/>
            <a:ext cx="10241280" cy="502920"/>
          </a:xfrm>
          <a:prstGeom prst="rect">
            <a:avLst/>
          </a:prstGeom>
          <a:noFill/>
          <a:ln/>
        </p:spPr>
        <p:txBody>
          <a:bodyPr wrap="square" lIns="508" tIns="508" rIns="508" bIns="508" rtlCol="0" anchor="ctr">
            <a:normAutofit/>
          </a:bodyPr>
          <a:lstStyle/>
          <a:p>
            <a:pPr indent="0" marL="0">
              <a:buNone/>
            </a:pPr>
            <a:r>
              <a:rPr lang="en-US" sz="1500" dirty="0">
                <a:solidFill>
                  <a:srgbClr val="C4CBD8"/>
                </a:solidFill>
              </a:rPr>
              <a:t>The MLflow make_judge path was attempted, but available endpoints produced rate limits, disabled endpoint responses, or response_schema compatibility errors.</a:t>
            </a:r>
            <a:endParaRPr lang="en-US" sz="1500" dirty="0"/>
          </a:p>
        </p:txBody>
      </p:sp>
      <p:sp>
        <p:nvSpPr>
          <p:cNvPr id="16" name="Text 14"/>
          <p:cNvSpPr/>
          <p:nvPr/>
        </p:nvSpPr>
        <p:spPr>
          <a:xfrm>
            <a:off x="502920" y="6473952"/>
            <a:ext cx="2926080" cy="164592"/>
          </a:xfrm>
          <a:prstGeom prst="rect">
            <a:avLst/>
          </a:prstGeom>
          <a:noFill/>
          <a:ln/>
        </p:spPr>
        <p:txBody>
          <a:bodyPr wrap="square" lIns="0" tIns="0" rIns="0" bIns="0" rtlCol="0" anchor="ctr"/>
          <a:lstStyle/>
          <a:p>
            <a:pPr indent="0" marL="0">
              <a:buNone/>
            </a:pPr>
            <a:r>
              <a:rPr lang="en-US" sz="780" dirty="0">
                <a:solidFill>
                  <a:srgbClr val="94A3B8"/>
                </a:solidFill>
              </a:rPr>
              <a:t>SentinelMesh final project</a:t>
            </a:r>
            <a:endParaRPr lang="en-US" sz="780" dirty="0"/>
          </a:p>
        </p:txBody>
      </p:sp>
      <p:sp>
        <p:nvSpPr>
          <p:cNvPr id="17" name="Text 15"/>
          <p:cNvSpPr/>
          <p:nvPr/>
        </p:nvSpPr>
        <p:spPr>
          <a:xfrm>
            <a:off x="11384280" y="6446520"/>
            <a:ext cx="320040" cy="201168"/>
          </a:xfrm>
          <a:prstGeom prst="rect">
            <a:avLst/>
          </a:prstGeom>
          <a:noFill/>
          <a:ln/>
        </p:spPr>
        <p:txBody>
          <a:bodyPr wrap="square" lIns="0" tIns="0" rIns="0" bIns="0" rtlCol="0" anchor="ctr"/>
          <a:lstStyle/>
          <a:p>
            <a:pPr algn="r" indent="0" marL="0">
              <a:buNone/>
            </a:pPr>
            <a:r>
              <a:rPr lang="en-US" sz="800" dirty="0">
                <a:solidFill>
                  <a:srgbClr val="94A3B8"/>
                </a:solidFill>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Text 1"/>
          <p:cNvSpPr/>
          <p:nvPr/>
        </p:nvSpPr>
        <p:spPr>
          <a:xfrm>
            <a:off x="502920" y="320040"/>
            <a:ext cx="8138160" cy="502920"/>
          </a:xfrm>
          <a:prstGeom prst="rect">
            <a:avLst/>
          </a:prstGeom>
          <a:noFill/>
          <a:ln/>
        </p:spPr>
        <p:txBody>
          <a:bodyPr wrap="square" lIns="0" tIns="0" rIns="0" bIns="0" rtlCol="0" anchor="ctr"/>
          <a:lstStyle/>
          <a:p>
            <a:pPr indent="0" marL="0">
              <a:buNone/>
            </a:pPr>
            <a:r>
              <a:rPr lang="en-US" sz="3100" b="1" dirty="0">
                <a:solidFill>
                  <a:srgbClr val="F8FAFC"/>
                </a:solidFill>
                <a:latin typeface="Aptos Display" pitchFamily="34" charset="0"/>
                <a:ea typeface="Aptos Display" pitchFamily="34" charset="-122"/>
                <a:cs typeface="Aptos Display" pitchFamily="34" charset="-120"/>
              </a:rPr>
              <a:t>Evaluation results</a:t>
            </a:r>
            <a:endParaRPr lang="en-US" sz="3100" dirty="0"/>
          </a:p>
        </p:txBody>
      </p:sp>
      <p:sp>
        <p:nvSpPr>
          <p:cNvPr id="4" name="Text 2"/>
          <p:cNvSpPr/>
          <p:nvPr/>
        </p:nvSpPr>
        <p:spPr>
          <a:xfrm>
            <a:off x="530352" y="868680"/>
            <a:ext cx="8412480" cy="292608"/>
          </a:xfrm>
          <a:prstGeom prst="rect">
            <a:avLst/>
          </a:prstGeom>
          <a:noFill/>
          <a:ln/>
        </p:spPr>
        <p:txBody>
          <a:bodyPr wrap="square" lIns="0" tIns="0" rIns="0" bIns="0" rtlCol="0" anchor="ctr"/>
          <a:lstStyle/>
          <a:p>
            <a:pPr indent="0" marL="0">
              <a:buNone/>
            </a:pPr>
            <a:r>
              <a:rPr lang="en-US" sz="1100" dirty="0">
                <a:solidFill>
                  <a:srgbClr val="94A3B8"/>
                </a:solidFill>
              </a:rPr>
              <a:t>The agent is useful at broad triage, weak at exact classification</a:t>
            </a:r>
            <a:endParaRPr lang="en-US" sz="1100" dirty="0"/>
          </a:p>
        </p:txBody>
      </p:sp>
      <p:sp>
        <p:nvSpPr>
          <p:cNvPr id="5" name="Shape 3"/>
          <p:cNvSpPr/>
          <p:nvPr/>
        </p:nvSpPr>
        <p:spPr>
          <a:xfrm>
            <a:off x="502920" y="1124712"/>
            <a:ext cx="2971800" cy="0"/>
          </a:xfrm>
          <a:prstGeom prst="line">
            <a:avLst/>
          </a:prstGeom>
          <a:noFill/>
          <a:ln w="16510">
            <a:solidFill>
              <a:srgbClr val="38BDF8">
                <a:alpha val="90000"/>
              </a:srgbClr>
            </a:solidFill>
            <a:prstDash val="solid"/>
          </a:ln>
        </p:spPr>
      </p:sp>
      <p:sp>
        <p:nvSpPr>
          <p:cNvPr id="6" name="Text 4"/>
          <p:cNvSpPr/>
          <p:nvPr/>
        </p:nvSpPr>
        <p:spPr>
          <a:xfrm>
            <a:off x="1005840" y="1737360"/>
            <a:ext cx="2377440" cy="164592"/>
          </a:xfrm>
          <a:prstGeom prst="rect">
            <a:avLst/>
          </a:prstGeom>
          <a:noFill/>
          <a:ln/>
        </p:spPr>
        <p:txBody>
          <a:bodyPr wrap="square" lIns="0" tIns="0" rIns="0" bIns="0" rtlCol="0" anchor="ctr"/>
          <a:lstStyle/>
          <a:p>
            <a:pPr indent="0" marL="0">
              <a:buNone/>
            </a:pPr>
            <a:r>
              <a:rPr lang="en-US" sz="1050" dirty="0">
                <a:solidFill>
                  <a:srgbClr val="F8FAFC"/>
                </a:solidFill>
              </a:rPr>
              <a:t>Exact family accuracy</a:t>
            </a:r>
            <a:endParaRPr lang="en-US" sz="1050" dirty="0"/>
          </a:p>
        </p:txBody>
      </p:sp>
      <p:sp>
        <p:nvSpPr>
          <p:cNvPr id="7" name="Shape 5"/>
          <p:cNvSpPr/>
          <p:nvPr/>
        </p:nvSpPr>
        <p:spPr>
          <a:xfrm>
            <a:off x="3547872" y="1755648"/>
            <a:ext cx="3749040" cy="146304"/>
          </a:xfrm>
          <a:prstGeom prst="rect">
            <a:avLst/>
          </a:prstGeom>
          <a:solidFill>
            <a:srgbClr val="1F2A44"/>
          </a:solidFill>
          <a:ln w="12700">
            <a:solidFill>
              <a:srgbClr val="1F2A44">
                <a:alpha val="0"/>
              </a:srgbClr>
            </a:solidFill>
            <a:prstDash val="solid"/>
          </a:ln>
        </p:spPr>
      </p:sp>
      <p:sp>
        <p:nvSpPr>
          <p:cNvPr id="8" name="Shape 6"/>
          <p:cNvSpPr/>
          <p:nvPr/>
        </p:nvSpPr>
        <p:spPr>
          <a:xfrm>
            <a:off x="3547872" y="1755648"/>
            <a:ext cx="637337" cy="146304"/>
          </a:xfrm>
          <a:prstGeom prst="rect">
            <a:avLst/>
          </a:prstGeom>
          <a:solidFill>
            <a:srgbClr val="EF4444"/>
          </a:solidFill>
          <a:ln w="12700">
            <a:solidFill>
              <a:srgbClr val="EF4444">
                <a:alpha val="0"/>
              </a:srgbClr>
            </a:solidFill>
            <a:prstDash val="solid"/>
          </a:ln>
        </p:spPr>
      </p:sp>
      <p:sp>
        <p:nvSpPr>
          <p:cNvPr id="9" name="Text 7"/>
          <p:cNvSpPr/>
          <p:nvPr/>
        </p:nvSpPr>
        <p:spPr>
          <a:xfrm>
            <a:off x="7406640" y="1737360"/>
            <a:ext cx="502920" cy="164592"/>
          </a:xfrm>
          <a:prstGeom prst="rect">
            <a:avLst/>
          </a:prstGeom>
          <a:noFill/>
          <a:ln/>
        </p:spPr>
        <p:txBody>
          <a:bodyPr wrap="square" lIns="0" tIns="0" rIns="0" bIns="0" rtlCol="0" anchor="ctr"/>
          <a:lstStyle/>
          <a:p>
            <a:pPr indent="0" marL="0">
              <a:buNone/>
            </a:pPr>
            <a:r>
              <a:rPr lang="en-US" sz="1050" dirty="0">
                <a:solidFill>
                  <a:srgbClr val="EF4444"/>
                </a:solidFill>
              </a:rPr>
              <a:t>17%</a:t>
            </a:r>
            <a:endParaRPr lang="en-US" sz="1050" dirty="0"/>
          </a:p>
        </p:txBody>
      </p:sp>
      <p:sp>
        <p:nvSpPr>
          <p:cNvPr id="10" name="Text 8"/>
          <p:cNvSpPr/>
          <p:nvPr/>
        </p:nvSpPr>
        <p:spPr>
          <a:xfrm>
            <a:off x="1005840" y="2423160"/>
            <a:ext cx="2377440" cy="164592"/>
          </a:xfrm>
          <a:prstGeom prst="rect">
            <a:avLst/>
          </a:prstGeom>
          <a:noFill/>
          <a:ln/>
        </p:spPr>
        <p:txBody>
          <a:bodyPr wrap="square" lIns="0" tIns="0" rIns="0" bIns="0" rtlCol="0" anchor="ctr"/>
          <a:lstStyle/>
          <a:p>
            <a:pPr indent="0" marL="0">
              <a:buNone/>
            </a:pPr>
            <a:r>
              <a:rPr lang="en-US" sz="1050" dirty="0">
                <a:solidFill>
                  <a:srgbClr val="F8FAFC"/>
                </a:solidFill>
              </a:rPr>
              <a:t>Coarse triage accuracy</a:t>
            </a:r>
            <a:endParaRPr lang="en-US" sz="1050" dirty="0"/>
          </a:p>
        </p:txBody>
      </p:sp>
      <p:sp>
        <p:nvSpPr>
          <p:cNvPr id="11" name="Shape 9"/>
          <p:cNvSpPr/>
          <p:nvPr/>
        </p:nvSpPr>
        <p:spPr>
          <a:xfrm>
            <a:off x="3547872" y="2441448"/>
            <a:ext cx="3749040" cy="146304"/>
          </a:xfrm>
          <a:prstGeom prst="rect">
            <a:avLst/>
          </a:prstGeom>
          <a:solidFill>
            <a:srgbClr val="1F2A44"/>
          </a:solidFill>
          <a:ln w="12700">
            <a:solidFill>
              <a:srgbClr val="1F2A44">
                <a:alpha val="0"/>
              </a:srgbClr>
            </a:solidFill>
            <a:prstDash val="solid"/>
          </a:ln>
        </p:spPr>
      </p:sp>
      <p:sp>
        <p:nvSpPr>
          <p:cNvPr id="12" name="Shape 10"/>
          <p:cNvSpPr/>
          <p:nvPr/>
        </p:nvSpPr>
        <p:spPr>
          <a:xfrm>
            <a:off x="3547872" y="2441448"/>
            <a:ext cx="2174443" cy="146304"/>
          </a:xfrm>
          <a:prstGeom prst="rect">
            <a:avLst/>
          </a:prstGeom>
          <a:solidFill>
            <a:srgbClr val="22C55E"/>
          </a:solidFill>
          <a:ln w="12700">
            <a:solidFill>
              <a:srgbClr val="22C55E">
                <a:alpha val="0"/>
              </a:srgbClr>
            </a:solidFill>
            <a:prstDash val="solid"/>
          </a:ln>
        </p:spPr>
      </p:sp>
      <p:sp>
        <p:nvSpPr>
          <p:cNvPr id="13" name="Text 11"/>
          <p:cNvSpPr/>
          <p:nvPr/>
        </p:nvSpPr>
        <p:spPr>
          <a:xfrm>
            <a:off x="7406640" y="2423160"/>
            <a:ext cx="502920" cy="164592"/>
          </a:xfrm>
          <a:prstGeom prst="rect">
            <a:avLst/>
          </a:prstGeom>
          <a:noFill/>
          <a:ln/>
        </p:spPr>
        <p:txBody>
          <a:bodyPr wrap="square" lIns="0" tIns="0" rIns="0" bIns="0" rtlCol="0" anchor="ctr"/>
          <a:lstStyle/>
          <a:p>
            <a:pPr indent="0" marL="0">
              <a:buNone/>
            </a:pPr>
            <a:r>
              <a:rPr lang="en-US" sz="1050" dirty="0">
                <a:solidFill>
                  <a:srgbClr val="22C55E"/>
                </a:solidFill>
              </a:rPr>
              <a:t>58%</a:t>
            </a:r>
            <a:endParaRPr lang="en-US" sz="1050" dirty="0"/>
          </a:p>
        </p:txBody>
      </p:sp>
      <p:sp>
        <p:nvSpPr>
          <p:cNvPr id="14" name="Text 12"/>
          <p:cNvSpPr/>
          <p:nvPr/>
        </p:nvSpPr>
        <p:spPr>
          <a:xfrm>
            <a:off x="1005840" y="3108960"/>
            <a:ext cx="2377440" cy="164592"/>
          </a:xfrm>
          <a:prstGeom prst="rect">
            <a:avLst/>
          </a:prstGeom>
          <a:noFill/>
          <a:ln/>
        </p:spPr>
        <p:txBody>
          <a:bodyPr wrap="square" lIns="0" tIns="0" rIns="0" bIns="0" rtlCol="0" anchor="ctr"/>
          <a:lstStyle/>
          <a:p>
            <a:pPr indent="0" marL="0">
              <a:buNone/>
            </a:pPr>
            <a:r>
              <a:rPr lang="en-US" sz="1050" dirty="0">
                <a:solidFill>
                  <a:srgbClr val="F8FAFC"/>
                </a:solidFill>
              </a:rPr>
              <a:t>Fallback LLM judge pass rate</a:t>
            </a:r>
            <a:endParaRPr lang="en-US" sz="1050" dirty="0"/>
          </a:p>
        </p:txBody>
      </p:sp>
      <p:sp>
        <p:nvSpPr>
          <p:cNvPr id="15" name="Shape 13"/>
          <p:cNvSpPr/>
          <p:nvPr/>
        </p:nvSpPr>
        <p:spPr>
          <a:xfrm>
            <a:off x="3547872" y="3127248"/>
            <a:ext cx="3749040" cy="146304"/>
          </a:xfrm>
          <a:prstGeom prst="rect">
            <a:avLst/>
          </a:prstGeom>
          <a:solidFill>
            <a:srgbClr val="1F2A44"/>
          </a:solidFill>
          <a:ln w="12700">
            <a:solidFill>
              <a:srgbClr val="1F2A44">
                <a:alpha val="0"/>
              </a:srgbClr>
            </a:solidFill>
            <a:prstDash val="solid"/>
          </a:ln>
        </p:spPr>
      </p:sp>
      <p:sp>
        <p:nvSpPr>
          <p:cNvPr id="16" name="Shape 14"/>
          <p:cNvSpPr/>
          <p:nvPr/>
        </p:nvSpPr>
        <p:spPr>
          <a:xfrm>
            <a:off x="3547872" y="3127248"/>
            <a:ext cx="937260" cy="146304"/>
          </a:xfrm>
          <a:prstGeom prst="rect">
            <a:avLst/>
          </a:prstGeom>
          <a:solidFill>
            <a:srgbClr val="F59E0B"/>
          </a:solidFill>
          <a:ln w="12700">
            <a:solidFill>
              <a:srgbClr val="F59E0B">
                <a:alpha val="0"/>
              </a:srgbClr>
            </a:solidFill>
            <a:prstDash val="solid"/>
          </a:ln>
        </p:spPr>
      </p:sp>
      <p:sp>
        <p:nvSpPr>
          <p:cNvPr id="17" name="Text 15"/>
          <p:cNvSpPr/>
          <p:nvPr/>
        </p:nvSpPr>
        <p:spPr>
          <a:xfrm>
            <a:off x="7406640" y="3108960"/>
            <a:ext cx="502920" cy="164592"/>
          </a:xfrm>
          <a:prstGeom prst="rect">
            <a:avLst/>
          </a:prstGeom>
          <a:noFill/>
          <a:ln/>
        </p:spPr>
        <p:txBody>
          <a:bodyPr wrap="square" lIns="0" tIns="0" rIns="0" bIns="0" rtlCol="0" anchor="ctr"/>
          <a:lstStyle/>
          <a:p>
            <a:pPr indent="0" marL="0">
              <a:buNone/>
            </a:pPr>
            <a:r>
              <a:rPr lang="en-US" sz="1050" dirty="0">
                <a:solidFill>
                  <a:srgbClr val="F59E0B"/>
                </a:solidFill>
              </a:rPr>
              <a:t>25%</a:t>
            </a:r>
            <a:endParaRPr lang="en-US" sz="1050" dirty="0"/>
          </a:p>
        </p:txBody>
      </p:sp>
      <p:sp>
        <p:nvSpPr>
          <p:cNvPr id="18" name="Text 16"/>
          <p:cNvSpPr/>
          <p:nvPr/>
        </p:nvSpPr>
        <p:spPr>
          <a:xfrm>
            <a:off x="8229600" y="1508760"/>
            <a:ext cx="2011680" cy="548640"/>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400" b="1" dirty="0">
                <a:solidFill>
                  <a:srgbClr val="F8FAFC"/>
                </a:solidFill>
              </a:rPr>
              <a:t>Interpretation</a:t>
            </a:r>
            <a:endParaRPr lang="en-US" sz="1400" dirty="0"/>
          </a:p>
        </p:txBody>
      </p:sp>
      <p:sp>
        <p:nvSpPr>
          <p:cNvPr id="19" name="Text 17"/>
          <p:cNvSpPr/>
          <p:nvPr/>
        </p:nvSpPr>
        <p:spPr>
          <a:xfrm>
            <a:off x="8092440" y="2377440"/>
            <a:ext cx="2971800" cy="1371600"/>
          </a:xfrm>
          <a:prstGeom prst="rect">
            <a:avLst/>
          </a:prstGeom>
          <a:noFill/>
          <a:ln/>
        </p:spPr>
        <p:txBody>
          <a:bodyPr wrap="square" lIns="508" tIns="508" rIns="508" bIns="508" rtlCol="0" anchor="ctr">
            <a:normAutofit/>
          </a:bodyPr>
          <a:lstStyle/>
          <a:p>
            <a:pPr algn="ctr" indent="0" marL="0">
              <a:buNone/>
            </a:pPr>
            <a:r>
              <a:rPr lang="en-US" sz="1500" dirty="0">
                <a:solidFill>
                  <a:srgbClr val="C4CBD8"/>
                </a:solidFill>
              </a:rPr>
              <a:t>Strict exact family scoring is low because many IoT flow patterns look similar. Coarse triage is stronger because the agent often identifies the broader operational group.</a:t>
            </a:r>
            <a:endParaRPr lang="en-US" sz="1500" dirty="0"/>
          </a:p>
        </p:txBody>
      </p:sp>
      <p:sp>
        <p:nvSpPr>
          <p:cNvPr id="20" name="Text 18"/>
          <p:cNvSpPr/>
          <p:nvPr/>
        </p:nvSpPr>
        <p:spPr>
          <a:xfrm>
            <a:off x="8092440" y="4572000"/>
            <a:ext cx="2971800" cy="411480"/>
          </a:xfrm>
          <a:prstGeom prst="rect">
            <a:avLst/>
          </a:prstGeom>
          <a:noFill/>
          <a:ln/>
        </p:spPr>
        <p:txBody>
          <a:bodyPr wrap="square" lIns="508" tIns="508" rIns="508" bIns="508" rtlCol="0" anchor="ctr">
            <a:normAutofit/>
          </a:bodyPr>
          <a:lstStyle/>
          <a:p>
            <a:pPr algn="ctr" indent="0" marL="0">
              <a:buNone/>
            </a:pPr>
            <a:r>
              <a:rPr lang="en-US" sz="1400" b="1" dirty="0">
                <a:solidFill>
                  <a:srgbClr val="38BDF8"/>
                </a:solidFill>
              </a:rPr>
              <a:t>Final score source: manual deterministic judge. Automated LLM judge retained as second opinion.</a:t>
            </a:r>
            <a:endParaRPr lang="en-US" sz="1400" dirty="0"/>
          </a:p>
        </p:txBody>
      </p:sp>
      <p:sp>
        <p:nvSpPr>
          <p:cNvPr id="21" name="Text 19"/>
          <p:cNvSpPr/>
          <p:nvPr/>
        </p:nvSpPr>
        <p:spPr>
          <a:xfrm>
            <a:off x="502920" y="6473952"/>
            <a:ext cx="2926080" cy="164592"/>
          </a:xfrm>
          <a:prstGeom prst="rect">
            <a:avLst/>
          </a:prstGeom>
          <a:noFill/>
          <a:ln/>
        </p:spPr>
        <p:txBody>
          <a:bodyPr wrap="square" lIns="0" tIns="0" rIns="0" bIns="0" rtlCol="0" anchor="ctr"/>
          <a:lstStyle/>
          <a:p>
            <a:pPr indent="0" marL="0">
              <a:buNone/>
            </a:pPr>
            <a:r>
              <a:rPr lang="en-US" sz="780" dirty="0">
                <a:solidFill>
                  <a:srgbClr val="94A3B8"/>
                </a:solidFill>
              </a:rPr>
              <a:t>SentinelMesh final project</a:t>
            </a:r>
            <a:endParaRPr lang="en-US" sz="780" dirty="0"/>
          </a:p>
        </p:txBody>
      </p:sp>
      <p:sp>
        <p:nvSpPr>
          <p:cNvPr id="22" name="Text 20"/>
          <p:cNvSpPr/>
          <p:nvPr/>
        </p:nvSpPr>
        <p:spPr>
          <a:xfrm>
            <a:off x="11384280" y="6446520"/>
            <a:ext cx="320040" cy="201168"/>
          </a:xfrm>
          <a:prstGeom prst="rect">
            <a:avLst/>
          </a:prstGeom>
          <a:noFill/>
          <a:ln/>
        </p:spPr>
        <p:txBody>
          <a:bodyPr wrap="square" lIns="0" tIns="0" rIns="0" bIns="0" rtlCol="0" anchor="ctr"/>
          <a:lstStyle/>
          <a:p>
            <a:pPr algn="r" indent="0" marL="0">
              <a:buNone/>
            </a:pPr>
            <a:r>
              <a:rPr lang="en-US" sz="800" dirty="0">
                <a:solidFill>
                  <a:srgbClr val="94A3B8"/>
                </a:solidFill>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Text 1"/>
          <p:cNvSpPr/>
          <p:nvPr/>
        </p:nvSpPr>
        <p:spPr>
          <a:xfrm>
            <a:off x="502920" y="320040"/>
            <a:ext cx="8138160" cy="502920"/>
          </a:xfrm>
          <a:prstGeom prst="rect">
            <a:avLst/>
          </a:prstGeom>
          <a:noFill/>
          <a:ln/>
        </p:spPr>
        <p:txBody>
          <a:bodyPr wrap="square" lIns="0" tIns="0" rIns="0" bIns="0" rtlCol="0" anchor="ctr"/>
          <a:lstStyle/>
          <a:p>
            <a:pPr indent="0" marL="0">
              <a:buNone/>
            </a:pPr>
            <a:r>
              <a:rPr lang="en-US" sz="3100" b="1" dirty="0">
                <a:solidFill>
                  <a:srgbClr val="F8FAFC"/>
                </a:solidFill>
                <a:latin typeface="Aptos Display" pitchFamily="34" charset="0"/>
                <a:ea typeface="Aptos Display" pitchFamily="34" charset="-122"/>
                <a:cs typeface="Aptos Display" pitchFamily="34" charset="-120"/>
              </a:rPr>
              <a:t>Human review and safety</a:t>
            </a:r>
            <a:endParaRPr lang="en-US" sz="3100" dirty="0"/>
          </a:p>
        </p:txBody>
      </p:sp>
      <p:sp>
        <p:nvSpPr>
          <p:cNvPr id="4" name="Text 2"/>
          <p:cNvSpPr/>
          <p:nvPr/>
        </p:nvSpPr>
        <p:spPr>
          <a:xfrm>
            <a:off x="530352" y="868680"/>
            <a:ext cx="8412480" cy="292608"/>
          </a:xfrm>
          <a:prstGeom prst="rect">
            <a:avLst/>
          </a:prstGeom>
          <a:noFill/>
          <a:ln/>
        </p:spPr>
        <p:txBody>
          <a:bodyPr wrap="square" lIns="0" tIns="0" rIns="0" bIns="0" rtlCol="0" anchor="ctr"/>
          <a:lstStyle/>
          <a:p>
            <a:pPr indent="0" marL="0">
              <a:buNone/>
            </a:pPr>
            <a:r>
              <a:rPr lang="en-US" sz="1100" dirty="0">
                <a:solidFill>
                  <a:srgbClr val="94A3B8"/>
                </a:solidFill>
              </a:rPr>
              <a:t>Human judgment is part of evaluation and operation</a:t>
            </a:r>
            <a:endParaRPr lang="en-US" sz="1100" dirty="0"/>
          </a:p>
        </p:txBody>
      </p:sp>
      <p:sp>
        <p:nvSpPr>
          <p:cNvPr id="5" name="Shape 3"/>
          <p:cNvSpPr/>
          <p:nvPr/>
        </p:nvSpPr>
        <p:spPr>
          <a:xfrm>
            <a:off x="502920" y="1124712"/>
            <a:ext cx="2971800" cy="0"/>
          </a:xfrm>
          <a:prstGeom prst="line">
            <a:avLst/>
          </a:prstGeom>
          <a:noFill/>
          <a:ln w="16510">
            <a:solidFill>
              <a:srgbClr val="38BDF8">
                <a:alpha val="90000"/>
              </a:srgbClr>
            </a:solidFill>
            <a:prstDash val="solid"/>
          </a:ln>
        </p:spPr>
      </p:sp>
      <p:sp>
        <p:nvSpPr>
          <p:cNvPr id="6" name="Text 4"/>
          <p:cNvSpPr/>
          <p:nvPr/>
        </p:nvSpPr>
        <p:spPr>
          <a:xfrm>
            <a:off x="914400" y="1920240"/>
            <a:ext cx="1920240" cy="594360"/>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400" b="1" dirty="0">
                <a:solidFill>
                  <a:srgbClr val="F8FAFC"/>
                </a:solidFill>
              </a:rPr>
              <a:t>Review trace</a:t>
            </a:r>
            <a:endParaRPr lang="en-US" sz="1400" dirty="0"/>
          </a:p>
        </p:txBody>
      </p:sp>
      <p:sp>
        <p:nvSpPr>
          <p:cNvPr id="7" name="Text 5"/>
          <p:cNvSpPr/>
          <p:nvPr/>
        </p:nvSpPr>
        <p:spPr>
          <a:xfrm>
            <a:off x="3657600" y="1920240"/>
            <a:ext cx="2103120" cy="594360"/>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400" b="1" dirty="0">
                <a:solidFill>
                  <a:srgbClr val="F8FAFC"/>
                </a:solidFill>
              </a:rPr>
              <a:t>Compare expected family</a:t>
            </a:r>
            <a:endParaRPr lang="en-US" sz="1400" dirty="0"/>
          </a:p>
        </p:txBody>
      </p:sp>
      <p:sp>
        <p:nvSpPr>
          <p:cNvPr id="8" name="Text 6"/>
          <p:cNvSpPr/>
          <p:nvPr/>
        </p:nvSpPr>
        <p:spPr>
          <a:xfrm>
            <a:off x="6537960" y="1920240"/>
            <a:ext cx="1920240" cy="594360"/>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400" b="1" dirty="0">
                <a:solidFill>
                  <a:srgbClr val="F8FAFC"/>
                </a:solidFill>
              </a:rPr>
              <a:t>Mark pass or fail</a:t>
            </a:r>
            <a:endParaRPr lang="en-US" sz="1400" dirty="0"/>
          </a:p>
        </p:txBody>
      </p:sp>
      <p:sp>
        <p:nvSpPr>
          <p:cNvPr id="9" name="Text 7"/>
          <p:cNvSpPr/>
          <p:nvPr/>
        </p:nvSpPr>
        <p:spPr>
          <a:xfrm>
            <a:off x="9189720" y="1920240"/>
            <a:ext cx="1920240" cy="594360"/>
          </a:xfrm>
          <a:prstGeom prst="rect">
            <a:avLst/>
          </a:prstGeom>
          <a:solidFill>
            <a:srgbClr val="22C55E"/>
          </a:solidFill>
          <a:ln w="11430">
            <a:solidFill>
              <a:srgbClr val="334155"/>
            </a:solidFill>
          </a:ln>
        </p:spPr>
        <p:txBody>
          <a:bodyPr wrap="square" lIns="762" tIns="762" rIns="762" bIns="762" rtlCol="0" anchor="ctr">
            <a:normAutofit/>
          </a:bodyPr>
          <a:lstStyle/>
          <a:p>
            <a:pPr algn="ctr" indent="0" marL="0">
              <a:buNone/>
            </a:pPr>
            <a:r>
              <a:rPr lang="en-US" sz="1400" b="1" dirty="0">
                <a:solidFill>
                  <a:srgbClr val="0B1220"/>
                </a:solidFill>
              </a:rPr>
              <a:t>Approve action</a:t>
            </a:r>
            <a:endParaRPr lang="en-US" sz="1400" dirty="0"/>
          </a:p>
        </p:txBody>
      </p:sp>
      <p:sp>
        <p:nvSpPr>
          <p:cNvPr id="10" name="Shape 8"/>
          <p:cNvSpPr/>
          <p:nvPr/>
        </p:nvSpPr>
        <p:spPr>
          <a:xfrm>
            <a:off x="2834640" y="2212848"/>
            <a:ext cx="822960" cy="0"/>
          </a:xfrm>
          <a:prstGeom prst="line">
            <a:avLst/>
          </a:prstGeom>
          <a:noFill/>
          <a:ln w="20320">
            <a:solidFill>
              <a:srgbClr val="38BDF8">
                <a:alpha val="92000"/>
              </a:srgbClr>
            </a:solidFill>
            <a:prstDash val="solid"/>
            <a:tailEnd type="triangle"/>
          </a:ln>
        </p:spPr>
      </p:sp>
      <p:sp>
        <p:nvSpPr>
          <p:cNvPr id="11" name="Shape 9"/>
          <p:cNvSpPr/>
          <p:nvPr/>
        </p:nvSpPr>
        <p:spPr>
          <a:xfrm>
            <a:off x="5760720" y="2212848"/>
            <a:ext cx="777240" cy="0"/>
          </a:xfrm>
          <a:prstGeom prst="line">
            <a:avLst/>
          </a:prstGeom>
          <a:noFill/>
          <a:ln w="20320">
            <a:solidFill>
              <a:srgbClr val="38BDF8">
                <a:alpha val="92000"/>
              </a:srgbClr>
            </a:solidFill>
            <a:prstDash val="solid"/>
            <a:tailEnd type="triangle"/>
          </a:ln>
        </p:spPr>
      </p:sp>
      <p:sp>
        <p:nvSpPr>
          <p:cNvPr id="12" name="Shape 10"/>
          <p:cNvSpPr/>
          <p:nvPr/>
        </p:nvSpPr>
        <p:spPr>
          <a:xfrm>
            <a:off x="8458200" y="2212848"/>
            <a:ext cx="731520" cy="0"/>
          </a:xfrm>
          <a:prstGeom prst="line">
            <a:avLst/>
          </a:prstGeom>
          <a:noFill/>
          <a:ln w="20320">
            <a:solidFill>
              <a:srgbClr val="38BDF8">
                <a:alpha val="92000"/>
              </a:srgbClr>
            </a:solidFill>
            <a:prstDash val="solid"/>
            <a:tailEnd type="triangle"/>
          </a:ln>
        </p:spPr>
      </p:sp>
      <p:sp>
        <p:nvSpPr>
          <p:cNvPr id="13" name="Text 11"/>
          <p:cNvSpPr/>
          <p:nvPr/>
        </p:nvSpPr>
        <p:spPr>
          <a:xfrm>
            <a:off x="960120" y="3886200"/>
            <a:ext cx="2468880" cy="228600"/>
          </a:xfrm>
          <a:prstGeom prst="rect">
            <a:avLst/>
          </a:prstGeom>
          <a:noFill/>
          <a:ln/>
        </p:spPr>
        <p:txBody>
          <a:bodyPr wrap="square" lIns="508" tIns="508" rIns="508" bIns="508" rtlCol="0" anchor="ctr">
            <a:normAutofit/>
          </a:bodyPr>
          <a:lstStyle/>
          <a:p>
            <a:pPr indent="0" marL="0">
              <a:buNone/>
            </a:pPr>
            <a:r>
              <a:rPr lang="en-US" sz="1300" b="1" dirty="0">
                <a:solidFill>
                  <a:srgbClr val="38BDF8"/>
                </a:solidFill>
              </a:rPr>
              <a:t>Human review standard</a:t>
            </a:r>
            <a:endParaRPr lang="en-US" sz="1300" dirty="0"/>
          </a:p>
        </p:txBody>
      </p:sp>
      <p:sp>
        <p:nvSpPr>
          <p:cNvPr id="14" name="Text 12"/>
          <p:cNvSpPr/>
          <p:nvPr/>
        </p:nvSpPr>
        <p:spPr>
          <a:xfrm>
            <a:off x="960120" y="4187952"/>
            <a:ext cx="4206240" cy="566928"/>
          </a:xfrm>
          <a:prstGeom prst="rect">
            <a:avLst/>
          </a:prstGeom>
          <a:noFill/>
          <a:ln/>
        </p:spPr>
        <p:txBody>
          <a:bodyPr wrap="square" lIns="508" tIns="508" rIns="508" bIns="508" rtlCol="0" anchor="ctr">
            <a:normAutofit/>
          </a:bodyPr>
          <a:lstStyle/>
          <a:p>
            <a:pPr indent="0" marL="0">
              <a:buNone/>
            </a:pPr>
            <a:r>
              <a:rPr lang="en-US" sz="1400" dirty="0">
                <a:solidFill>
                  <a:srgbClr val="C4CBD8"/>
                </a:solidFill>
              </a:rPr>
              <a:t>Pass means exact family match. Fail means missing, unclear, different, null, or errored prediction.</a:t>
            </a:r>
            <a:endParaRPr lang="en-US" sz="1400" dirty="0"/>
          </a:p>
        </p:txBody>
      </p:sp>
      <p:sp>
        <p:nvSpPr>
          <p:cNvPr id="15" name="Text 13"/>
          <p:cNvSpPr/>
          <p:nvPr/>
        </p:nvSpPr>
        <p:spPr>
          <a:xfrm>
            <a:off x="6400800" y="3886200"/>
            <a:ext cx="2103120" cy="228600"/>
          </a:xfrm>
          <a:prstGeom prst="rect">
            <a:avLst/>
          </a:prstGeom>
          <a:noFill/>
          <a:ln/>
        </p:spPr>
        <p:txBody>
          <a:bodyPr wrap="square" lIns="508" tIns="508" rIns="508" bIns="508" rtlCol="0" anchor="ctr">
            <a:normAutofit/>
          </a:bodyPr>
          <a:lstStyle/>
          <a:p>
            <a:pPr indent="0" marL="0">
              <a:buNone/>
            </a:pPr>
            <a:r>
              <a:rPr lang="en-US" sz="1300" b="1" dirty="0">
                <a:solidFill>
                  <a:srgbClr val="38BDF8"/>
                </a:solidFill>
              </a:rPr>
              <a:t>Operational safety</a:t>
            </a:r>
            <a:endParaRPr lang="en-US" sz="1300" dirty="0"/>
          </a:p>
        </p:txBody>
      </p:sp>
      <p:sp>
        <p:nvSpPr>
          <p:cNvPr id="16" name="Text 14"/>
          <p:cNvSpPr/>
          <p:nvPr/>
        </p:nvSpPr>
        <p:spPr>
          <a:xfrm>
            <a:off x="6400800" y="4187952"/>
            <a:ext cx="4206240" cy="566928"/>
          </a:xfrm>
          <a:prstGeom prst="rect">
            <a:avLst/>
          </a:prstGeom>
          <a:noFill/>
          <a:ln/>
        </p:spPr>
        <p:txBody>
          <a:bodyPr wrap="square" lIns="508" tIns="508" rIns="508" bIns="508" rtlCol="0" anchor="ctr">
            <a:normAutofit/>
          </a:bodyPr>
          <a:lstStyle/>
          <a:p>
            <a:pPr indent="0" marL="0">
              <a:buNone/>
            </a:pPr>
            <a:r>
              <a:rPr lang="en-US" sz="1400" dirty="0">
                <a:solidFill>
                  <a:srgbClr val="C4CBD8"/>
                </a:solidFill>
              </a:rPr>
              <a:t>The agent recommends actions but does not execute containment. Analysts approve response changes.</a:t>
            </a:r>
            <a:endParaRPr lang="en-US" sz="1400" dirty="0"/>
          </a:p>
        </p:txBody>
      </p:sp>
      <p:sp>
        <p:nvSpPr>
          <p:cNvPr id="17" name="Text 15"/>
          <p:cNvSpPr/>
          <p:nvPr/>
        </p:nvSpPr>
        <p:spPr>
          <a:xfrm>
            <a:off x="502920" y="6473952"/>
            <a:ext cx="2926080" cy="164592"/>
          </a:xfrm>
          <a:prstGeom prst="rect">
            <a:avLst/>
          </a:prstGeom>
          <a:noFill/>
          <a:ln/>
        </p:spPr>
        <p:txBody>
          <a:bodyPr wrap="square" lIns="0" tIns="0" rIns="0" bIns="0" rtlCol="0" anchor="ctr"/>
          <a:lstStyle/>
          <a:p>
            <a:pPr indent="0" marL="0">
              <a:buNone/>
            </a:pPr>
            <a:r>
              <a:rPr lang="en-US" sz="780" dirty="0">
                <a:solidFill>
                  <a:srgbClr val="94A3B8"/>
                </a:solidFill>
              </a:rPr>
              <a:t>SentinelMesh final project</a:t>
            </a:r>
            <a:endParaRPr lang="en-US" sz="780" dirty="0"/>
          </a:p>
        </p:txBody>
      </p:sp>
      <p:sp>
        <p:nvSpPr>
          <p:cNvPr id="18" name="Text 16"/>
          <p:cNvSpPr/>
          <p:nvPr/>
        </p:nvSpPr>
        <p:spPr>
          <a:xfrm>
            <a:off x="11384280" y="6446520"/>
            <a:ext cx="320040" cy="201168"/>
          </a:xfrm>
          <a:prstGeom prst="rect">
            <a:avLst/>
          </a:prstGeom>
          <a:noFill/>
          <a:ln/>
        </p:spPr>
        <p:txBody>
          <a:bodyPr wrap="square" lIns="0" tIns="0" rIns="0" bIns="0" rtlCol="0" anchor="ctr"/>
          <a:lstStyle/>
          <a:p>
            <a:pPr algn="r" indent="0" marL="0">
              <a:buNone/>
            </a:pPr>
            <a:r>
              <a:rPr lang="en-US" sz="800" dirty="0">
                <a:solidFill>
                  <a:srgbClr val="94A3B8"/>
                </a:solidFill>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Text 1"/>
          <p:cNvSpPr/>
          <p:nvPr/>
        </p:nvSpPr>
        <p:spPr>
          <a:xfrm>
            <a:off x="502920" y="320040"/>
            <a:ext cx="8138160" cy="502920"/>
          </a:xfrm>
          <a:prstGeom prst="rect">
            <a:avLst/>
          </a:prstGeom>
          <a:noFill/>
          <a:ln/>
        </p:spPr>
        <p:txBody>
          <a:bodyPr wrap="square" lIns="0" tIns="0" rIns="0" bIns="0" rtlCol="0" anchor="ctr"/>
          <a:lstStyle/>
          <a:p>
            <a:pPr indent="0" marL="0">
              <a:buNone/>
            </a:pPr>
            <a:r>
              <a:rPr lang="en-US" sz="3100" b="1" dirty="0">
                <a:solidFill>
                  <a:srgbClr val="F8FAFC"/>
                </a:solidFill>
                <a:latin typeface="Aptos Display" pitchFamily="34" charset="0"/>
                <a:ea typeface="Aptos Display" pitchFamily="34" charset="-122"/>
                <a:cs typeface="Aptos Display" pitchFamily="34" charset="-120"/>
              </a:rPr>
              <a:t>ROI calculation</a:t>
            </a:r>
            <a:endParaRPr lang="en-US" sz="3100" dirty="0"/>
          </a:p>
        </p:txBody>
      </p:sp>
      <p:sp>
        <p:nvSpPr>
          <p:cNvPr id="4" name="Text 2"/>
          <p:cNvSpPr/>
          <p:nvPr/>
        </p:nvSpPr>
        <p:spPr>
          <a:xfrm>
            <a:off x="530352" y="868680"/>
            <a:ext cx="8412480" cy="292608"/>
          </a:xfrm>
          <a:prstGeom prst="rect">
            <a:avLst/>
          </a:prstGeom>
          <a:noFill/>
          <a:ln/>
        </p:spPr>
        <p:txBody>
          <a:bodyPr wrap="square" lIns="0" tIns="0" rIns="0" bIns="0" rtlCol="0" anchor="ctr"/>
          <a:lstStyle/>
          <a:p>
            <a:pPr indent="0" marL="0">
              <a:buNone/>
            </a:pPr>
            <a:r>
              <a:rPr lang="en-US" sz="1100" dirty="0">
                <a:solidFill>
                  <a:srgbClr val="94A3B8"/>
                </a:solidFill>
              </a:rPr>
              <a:t>Business value comes from analyst time saved, not autonomous blocking</a:t>
            </a:r>
            <a:endParaRPr lang="en-US" sz="1100" dirty="0"/>
          </a:p>
        </p:txBody>
      </p:sp>
      <p:sp>
        <p:nvSpPr>
          <p:cNvPr id="5" name="Shape 3"/>
          <p:cNvSpPr/>
          <p:nvPr/>
        </p:nvSpPr>
        <p:spPr>
          <a:xfrm>
            <a:off x="502920" y="1124712"/>
            <a:ext cx="2971800" cy="0"/>
          </a:xfrm>
          <a:prstGeom prst="line">
            <a:avLst/>
          </a:prstGeom>
          <a:noFill/>
          <a:ln w="16510">
            <a:solidFill>
              <a:srgbClr val="38BDF8">
                <a:alpha val="90000"/>
              </a:srgbClr>
            </a:solidFill>
            <a:prstDash val="solid"/>
          </a:ln>
        </p:spPr>
      </p:sp>
      <p:sp>
        <p:nvSpPr>
          <p:cNvPr id="6" name="Text 4"/>
          <p:cNvSpPr/>
          <p:nvPr/>
        </p:nvSpPr>
        <p:spPr>
          <a:xfrm>
            <a:off x="822960" y="1444752"/>
            <a:ext cx="2926080" cy="274320"/>
          </a:xfrm>
          <a:prstGeom prst="rect">
            <a:avLst/>
          </a:prstGeom>
          <a:noFill/>
          <a:ln/>
        </p:spPr>
        <p:txBody>
          <a:bodyPr wrap="square" lIns="508" tIns="508" rIns="508" bIns="508" rtlCol="0" anchor="ctr">
            <a:normAutofit/>
          </a:bodyPr>
          <a:lstStyle/>
          <a:p>
            <a:pPr indent="0" marL="0">
              <a:buNone/>
            </a:pPr>
            <a:r>
              <a:rPr lang="en-US" sz="1400" b="1" dirty="0">
                <a:solidFill>
                  <a:srgbClr val="38BDF8"/>
                </a:solidFill>
              </a:rPr>
              <a:t>Assumptions for first year pilot</a:t>
            </a:r>
            <a:endParaRPr lang="en-US" sz="1400" dirty="0"/>
          </a:p>
        </p:txBody>
      </p:sp>
      <p:sp>
        <p:nvSpPr>
          <p:cNvPr id="7" name="Text 5"/>
          <p:cNvSpPr/>
          <p:nvPr/>
        </p:nvSpPr>
        <p:spPr>
          <a:xfrm>
            <a:off x="914400" y="1828800"/>
            <a:ext cx="3657600" cy="1097280"/>
          </a:xfrm>
          <a:prstGeom prst="rect">
            <a:avLst/>
          </a:prstGeom>
          <a:noFill/>
          <a:ln/>
        </p:spPr>
        <p:txBody>
          <a:bodyPr wrap="square" lIns="508" tIns="508" rIns="508" bIns="508" rtlCol="0" anchor="ctr">
            <a:normAutofit/>
          </a:bodyPr>
          <a:lstStyle/>
          <a:p>
            <a:pPr indent="0" marL="0">
              <a:buNone/>
            </a:pPr>
            <a:r>
              <a:rPr lang="en-US" sz="1500" dirty="0">
                <a:solidFill>
                  <a:srgbClr val="C4CBD8"/>
                </a:solidFill>
              </a:rPr>
              <a:t>10,000 IoT alerts per month</a:t>
            </a:r>
            <a:endParaRPr lang="en-US" sz="1500" dirty="0"/>
          </a:p>
          <a:p>
            <a:pPr indent="0" marL="0">
              <a:buNone/>
            </a:pPr>
            <a:r>
              <a:rPr lang="en-US" sz="1500" dirty="0">
                <a:solidFill>
                  <a:srgbClr val="C4CBD8"/>
                </a:solidFill>
              </a:rPr>
              <a:t>5 minutes saved per useful triage</a:t>
            </a:r>
            <a:endParaRPr lang="en-US" sz="1500" dirty="0"/>
          </a:p>
          <a:p>
            <a:pPr indent="0" marL="0">
              <a:buNone/>
            </a:pPr>
            <a:r>
              <a:rPr lang="en-US" sz="1500" dirty="0">
                <a:solidFill>
                  <a:srgbClr val="C4CBD8"/>
                </a:solidFill>
              </a:rPr>
              <a:t>60 dollars per analyst hour</a:t>
            </a:r>
            <a:endParaRPr lang="en-US" sz="1500" dirty="0"/>
          </a:p>
          <a:p>
            <a:pPr indent="0" marL="0">
              <a:buNone/>
            </a:pPr>
            <a:r>
              <a:rPr lang="en-US" sz="1500" dirty="0">
                <a:solidFill>
                  <a:srgbClr val="C4CBD8"/>
                </a:solidFill>
              </a:rPr>
              <a:t>5 dollars value per useful triage</a:t>
            </a:r>
            <a:endParaRPr lang="en-US" sz="1500" dirty="0"/>
          </a:p>
        </p:txBody>
      </p:sp>
      <p:sp>
        <p:nvSpPr>
          <p:cNvPr id="8" name="Text 6"/>
          <p:cNvSpPr/>
          <p:nvPr/>
        </p:nvSpPr>
        <p:spPr>
          <a:xfrm>
            <a:off x="4846320" y="1874520"/>
            <a:ext cx="2377440" cy="594360"/>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400" b="1" dirty="0">
                <a:solidFill>
                  <a:srgbClr val="F8FAFC"/>
                </a:solidFill>
              </a:rPr>
              <a:t>Useful triage value</a:t>
            </a:r>
            <a:endParaRPr lang="en-US" sz="1400" dirty="0"/>
          </a:p>
        </p:txBody>
      </p:sp>
      <p:sp>
        <p:nvSpPr>
          <p:cNvPr id="9" name="Text 7"/>
          <p:cNvSpPr/>
          <p:nvPr/>
        </p:nvSpPr>
        <p:spPr>
          <a:xfrm>
            <a:off x="4343400" y="3154680"/>
            <a:ext cx="3657600" cy="640080"/>
          </a:xfrm>
          <a:prstGeom prst="rect">
            <a:avLst/>
          </a:prstGeom>
          <a:noFill/>
          <a:ln/>
        </p:spPr>
        <p:txBody>
          <a:bodyPr wrap="square" lIns="508" tIns="508" rIns="508" bIns="508" rtlCol="0" anchor="ctr">
            <a:normAutofit/>
          </a:bodyPr>
          <a:lstStyle/>
          <a:p>
            <a:pPr algn="ctr" indent="0" marL="0">
              <a:buNone/>
            </a:pPr>
            <a:r>
              <a:rPr lang="en-US" sz="1800" b="1" dirty="0">
                <a:solidFill>
                  <a:srgbClr val="22C55E"/>
                </a:solidFill>
              </a:rPr>
              <a:t>10,000 alerts × 58% coarse usefulness × 5 dollars = 29,000 dollars per month</a:t>
            </a:r>
            <a:endParaRPr lang="en-US" sz="1800" dirty="0"/>
          </a:p>
        </p:txBody>
      </p:sp>
      <p:sp>
        <p:nvSpPr>
          <p:cNvPr id="10" name="Text 8"/>
          <p:cNvSpPr/>
          <p:nvPr/>
        </p:nvSpPr>
        <p:spPr>
          <a:xfrm>
            <a:off x="8229600" y="1444752"/>
            <a:ext cx="1828800" cy="274320"/>
          </a:xfrm>
          <a:prstGeom prst="rect">
            <a:avLst/>
          </a:prstGeom>
          <a:noFill/>
          <a:ln/>
        </p:spPr>
        <p:txBody>
          <a:bodyPr wrap="square" lIns="508" tIns="508" rIns="508" bIns="508" rtlCol="0" anchor="ctr">
            <a:normAutofit/>
          </a:bodyPr>
          <a:lstStyle/>
          <a:p>
            <a:pPr indent="0" marL="0">
              <a:buNone/>
            </a:pPr>
            <a:r>
              <a:rPr lang="en-US" sz="1400" b="1" dirty="0">
                <a:solidFill>
                  <a:srgbClr val="38BDF8"/>
                </a:solidFill>
              </a:rPr>
              <a:t>Model decision</a:t>
            </a:r>
            <a:endParaRPr lang="en-US" sz="1400" dirty="0"/>
          </a:p>
        </p:txBody>
      </p:sp>
      <p:sp>
        <p:nvSpPr>
          <p:cNvPr id="11" name="Text 9"/>
          <p:cNvSpPr/>
          <p:nvPr/>
        </p:nvSpPr>
        <p:spPr>
          <a:xfrm>
            <a:off x="8001000" y="1828800"/>
            <a:ext cx="3246120" cy="1143000"/>
          </a:xfrm>
          <a:prstGeom prst="rect">
            <a:avLst/>
          </a:prstGeom>
          <a:noFill/>
          <a:ln/>
        </p:spPr>
        <p:txBody>
          <a:bodyPr wrap="square" lIns="508" tIns="508" rIns="508" bIns="508" rtlCol="0" anchor="ctr">
            <a:normAutofit/>
          </a:bodyPr>
          <a:lstStyle/>
          <a:p>
            <a:pPr algn="ctr" indent="0" marL="0">
              <a:buNone/>
            </a:pPr>
            <a:r>
              <a:rPr lang="en-US" sz="1500" dirty="0">
                <a:solidFill>
                  <a:srgbClr val="C4CBD8"/>
                </a:solidFill>
              </a:rPr>
              <a:t>Sonnet is preferred for the pilot because it completed the final answer sheet. Smaller models require more reliability testing before production use.</a:t>
            </a:r>
            <a:endParaRPr lang="en-US" sz="1500" dirty="0"/>
          </a:p>
        </p:txBody>
      </p:sp>
      <p:sp>
        <p:nvSpPr>
          <p:cNvPr id="12" name="Text 10"/>
          <p:cNvSpPr/>
          <p:nvPr/>
        </p:nvSpPr>
        <p:spPr>
          <a:xfrm>
            <a:off x="914400" y="4983480"/>
            <a:ext cx="10241280" cy="411480"/>
          </a:xfrm>
          <a:prstGeom prst="rect">
            <a:avLst/>
          </a:prstGeom>
          <a:noFill/>
          <a:ln/>
        </p:spPr>
        <p:txBody>
          <a:bodyPr wrap="square" lIns="508" tIns="508" rIns="508" bIns="508" rtlCol="0" anchor="ctr">
            <a:normAutofit/>
          </a:bodyPr>
          <a:lstStyle/>
          <a:p>
            <a:pPr algn="ctr" indent="0" marL="0">
              <a:buNone/>
            </a:pPr>
            <a:r>
              <a:rPr lang="en-US" sz="1700" b="1" dirty="0">
                <a:solidFill>
                  <a:srgbClr val="F8FAFC"/>
                </a:solidFill>
              </a:rPr>
              <a:t>ROI logic: a model is valuable only if it reduces analyst effort without increasing false confidence or unsafe response actions.</a:t>
            </a:r>
            <a:endParaRPr lang="en-US" sz="1700" dirty="0"/>
          </a:p>
        </p:txBody>
      </p:sp>
      <p:sp>
        <p:nvSpPr>
          <p:cNvPr id="13" name="Text 11"/>
          <p:cNvSpPr/>
          <p:nvPr/>
        </p:nvSpPr>
        <p:spPr>
          <a:xfrm>
            <a:off x="502920" y="6473952"/>
            <a:ext cx="2926080" cy="164592"/>
          </a:xfrm>
          <a:prstGeom prst="rect">
            <a:avLst/>
          </a:prstGeom>
          <a:noFill/>
          <a:ln/>
        </p:spPr>
        <p:txBody>
          <a:bodyPr wrap="square" lIns="0" tIns="0" rIns="0" bIns="0" rtlCol="0" anchor="ctr"/>
          <a:lstStyle/>
          <a:p>
            <a:pPr indent="0" marL="0">
              <a:buNone/>
            </a:pPr>
            <a:r>
              <a:rPr lang="en-US" sz="780" dirty="0">
                <a:solidFill>
                  <a:srgbClr val="94A3B8"/>
                </a:solidFill>
              </a:rPr>
              <a:t>SentinelMesh final project</a:t>
            </a:r>
            <a:endParaRPr lang="en-US" sz="780" dirty="0"/>
          </a:p>
        </p:txBody>
      </p:sp>
      <p:sp>
        <p:nvSpPr>
          <p:cNvPr id="14" name="Text 12"/>
          <p:cNvSpPr/>
          <p:nvPr/>
        </p:nvSpPr>
        <p:spPr>
          <a:xfrm>
            <a:off x="11384280" y="6446520"/>
            <a:ext cx="320040" cy="201168"/>
          </a:xfrm>
          <a:prstGeom prst="rect">
            <a:avLst/>
          </a:prstGeom>
          <a:noFill/>
          <a:ln/>
        </p:spPr>
        <p:txBody>
          <a:bodyPr wrap="square" lIns="0" tIns="0" rIns="0" bIns="0" rtlCol="0" anchor="ctr"/>
          <a:lstStyle/>
          <a:p>
            <a:pPr algn="r" indent="0" marL="0">
              <a:buNone/>
            </a:pPr>
            <a:r>
              <a:rPr lang="en-US" sz="800" dirty="0">
                <a:solidFill>
                  <a:srgbClr val="94A3B8"/>
                </a:solidFill>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Text 1"/>
          <p:cNvSpPr/>
          <p:nvPr/>
        </p:nvSpPr>
        <p:spPr>
          <a:xfrm>
            <a:off x="502920" y="320040"/>
            <a:ext cx="8138160" cy="502920"/>
          </a:xfrm>
          <a:prstGeom prst="rect">
            <a:avLst/>
          </a:prstGeom>
          <a:noFill/>
          <a:ln/>
        </p:spPr>
        <p:txBody>
          <a:bodyPr wrap="square" lIns="0" tIns="0" rIns="0" bIns="0" rtlCol="0" anchor="ctr"/>
          <a:lstStyle/>
          <a:p>
            <a:pPr indent="0" marL="0">
              <a:buNone/>
            </a:pPr>
            <a:r>
              <a:rPr lang="en-US" sz="3100" b="1" dirty="0">
                <a:solidFill>
                  <a:srgbClr val="F8FAFC"/>
                </a:solidFill>
                <a:latin typeface="Aptos Display" pitchFamily="34" charset="0"/>
                <a:ea typeface="Aptos Display" pitchFamily="34" charset="-122"/>
                <a:cs typeface="Aptos Display" pitchFamily="34" charset="-120"/>
              </a:rPr>
              <a:t>Deployment recommendation</a:t>
            </a:r>
            <a:endParaRPr lang="en-US" sz="3100" dirty="0"/>
          </a:p>
        </p:txBody>
      </p:sp>
      <p:sp>
        <p:nvSpPr>
          <p:cNvPr id="4" name="Text 2"/>
          <p:cNvSpPr/>
          <p:nvPr/>
        </p:nvSpPr>
        <p:spPr>
          <a:xfrm>
            <a:off x="530352" y="868680"/>
            <a:ext cx="8412480" cy="292608"/>
          </a:xfrm>
          <a:prstGeom prst="rect">
            <a:avLst/>
          </a:prstGeom>
          <a:noFill/>
          <a:ln/>
        </p:spPr>
        <p:txBody>
          <a:bodyPr wrap="square" lIns="0" tIns="0" rIns="0" bIns="0" rtlCol="0" anchor="ctr"/>
          <a:lstStyle/>
          <a:p>
            <a:pPr indent="0" marL="0">
              <a:buNone/>
            </a:pPr>
            <a:r>
              <a:rPr lang="en-US" sz="1100" dirty="0">
                <a:solidFill>
                  <a:srgbClr val="94A3B8"/>
                </a:solidFill>
              </a:rPr>
              <a:t>Start as a human reviewed enrichment service</a:t>
            </a:r>
            <a:endParaRPr lang="en-US" sz="1100" dirty="0"/>
          </a:p>
        </p:txBody>
      </p:sp>
      <p:sp>
        <p:nvSpPr>
          <p:cNvPr id="5" name="Shape 3"/>
          <p:cNvSpPr/>
          <p:nvPr/>
        </p:nvSpPr>
        <p:spPr>
          <a:xfrm>
            <a:off x="502920" y="1124712"/>
            <a:ext cx="2971800" cy="0"/>
          </a:xfrm>
          <a:prstGeom prst="line">
            <a:avLst/>
          </a:prstGeom>
          <a:noFill/>
          <a:ln w="16510">
            <a:solidFill>
              <a:srgbClr val="38BDF8">
                <a:alpha val="90000"/>
              </a:srgbClr>
            </a:solidFill>
            <a:prstDash val="solid"/>
          </a:ln>
        </p:spPr>
      </p:sp>
      <p:sp>
        <p:nvSpPr>
          <p:cNvPr id="6" name="Text 4"/>
          <p:cNvSpPr/>
          <p:nvPr/>
        </p:nvSpPr>
        <p:spPr>
          <a:xfrm>
            <a:off x="640080" y="1874520"/>
            <a:ext cx="1691640" cy="640080"/>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250" b="1" dirty="0">
                <a:solidFill>
                  <a:srgbClr val="F8FAFC"/>
                </a:solidFill>
              </a:rPr>
              <a:t>Flow logs or SIEM</a:t>
            </a:r>
            <a:endParaRPr lang="en-US" sz="1250" dirty="0"/>
          </a:p>
        </p:txBody>
      </p:sp>
      <p:sp>
        <p:nvSpPr>
          <p:cNvPr id="7" name="Shape 5"/>
          <p:cNvSpPr/>
          <p:nvPr/>
        </p:nvSpPr>
        <p:spPr>
          <a:xfrm>
            <a:off x="2331720" y="2194560"/>
            <a:ext cx="548640" cy="0"/>
          </a:xfrm>
          <a:prstGeom prst="line">
            <a:avLst/>
          </a:prstGeom>
          <a:noFill/>
          <a:ln w="20320">
            <a:solidFill>
              <a:srgbClr val="38BDF8">
                <a:alpha val="92000"/>
              </a:srgbClr>
            </a:solidFill>
            <a:prstDash val="solid"/>
            <a:tailEnd type="triangle"/>
          </a:ln>
        </p:spPr>
      </p:sp>
      <p:sp>
        <p:nvSpPr>
          <p:cNvPr id="8" name="Text 6"/>
          <p:cNvSpPr/>
          <p:nvPr/>
        </p:nvSpPr>
        <p:spPr>
          <a:xfrm>
            <a:off x="2926080" y="1874520"/>
            <a:ext cx="1691640" cy="640080"/>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250" b="1" dirty="0">
                <a:solidFill>
                  <a:srgbClr val="F8FAFC"/>
                </a:solidFill>
              </a:rPr>
              <a:t>SentinelMesh service</a:t>
            </a:r>
            <a:endParaRPr lang="en-US" sz="1250" dirty="0"/>
          </a:p>
        </p:txBody>
      </p:sp>
      <p:sp>
        <p:nvSpPr>
          <p:cNvPr id="9" name="Shape 7"/>
          <p:cNvSpPr/>
          <p:nvPr/>
        </p:nvSpPr>
        <p:spPr>
          <a:xfrm>
            <a:off x="4617720" y="2194560"/>
            <a:ext cx="548640" cy="0"/>
          </a:xfrm>
          <a:prstGeom prst="line">
            <a:avLst/>
          </a:prstGeom>
          <a:noFill/>
          <a:ln w="20320">
            <a:solidFill>
              <a:srgbClr val="38BDF8">
                <a:alpha val="92000"/>
              </a:srgbClr>
            </a:solidFill>
            <a:prstDash val="solid"/>
            <a:tailEnd type="triangle"/>
          </a:ln>
        </p:spPr>
      </p:sp>
      <p:sp>
        <p:nvSpPr>
          <p:cNvPr id="10" name="Text 8"/>
          <p:cNvSpPr/>
          <p:nvPr/>
        </p:nvSpPr>
        <p:spPr>
          <a:xfrm>
            <a:off x="5212080" y="1874520"/>
            <a:ext cx="1691640" cy="640080"/>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250" b="1" dirty="0">
                <a:solidFill>
                  <a:srgbClr val="F8FAFC"/>
                </a:solidFill>
              </a:rPr>
              <a:t>Ticket or alert queue</a:t>
            </a:r>
            <a:endParaRPr lang="en-US" sz="1250" dirty="0"/>
          </a:p>
        </p:txBody>
      </p:sp>
      <p:sp>
        <p:nvSpPr>
          <p:cNvPr id="11" name="Shape 9"/>
          <p:cNvSpPr/>
          <p:nvPr/>
        </p:nvSpPr>
        <p:spPr>
          <a:xfrm>
            <a:off x="6903720" y="2194560"/>
            <a:ext cx="548640" cy="0"/>
          </a:xfrm>
          <a:prstGeom prst="line">
            <a:avLst/>
          </a:prstGeom>
          <a:noFill/>
          <a:ln w="20320">
            <a:solidFill>
              <a:srgbClr val="38BDF8">
                <a:alpha val="92000"/>
              </a:srgbClr>
            </a:solidFill>
            <a:prstDash val="solid"/>
            <a:tailEnd type="triangle"/>
          </a:ln>
        </p:spPr>
      </p:sp>
      <p:sp>
        <p:nvSpPr>
          <p:cNvPr id="12" name="Text 10"/>
          <p:cNvSpPr/>
          <p:nvPr/>
        </p:nvSpPr>
        <p:spPr>
          <a:xfrm>
            <a:off x="7498080" y="1874520"/>
            <a:ext cx="1691640" cy="640080"/>
          </a:xfrm>
          <a:prstGeom prst="rect">
            <a:avLst/>
          </a:prstGeom>
          <a:solidFill>
            <a:srgbClr val="22C55E"/>
          </a:solidFill>
          <a:ln w="11430">
            <a:solidFill>
              <a:srgbClr val="334155"/>
            </a:solidFill>
          </a:ln>
        </p:spPr>
        <p:txBody>
          <a:bodyPr wrap="square" lIns="762" tIns="762" rIns="762" bIns="762" rtlCol="0" anchor="ctr">
            <a:normAutofit/>
          </a:bodyPr>
          <a:lstStyle/>
          <a:p>
            <a:pPr algn="ctr" indent="0" marL="0">
              <a:buNone/>
            </a:pPr>
            <a:r>
              <a:rPr lang="en-US" sz="1250" b="1" dirty="0">
                <a:solidFill>
                  <a:srgbClr val="0B1220"/>
                </a:solidFill>
              </a:rPr>
              <a:t>SOC analyst approval</a:t>
            </a:r>
            <a:endParaRPr lang="en-US" sz="1250" dirty="0"/>
          </a:p>
        </p:txBody>
      </p:sp>
      <p:sp>
        <p:nvSpPr>
          <p:cNvPr id="13" name="Shape 11"/>
          <p:cNvSpPr/>
          <p:nvPr/>
        </p:nvSpPr>
        <p:spPr>
          <a:xfrm>
            <a:off x="9189720" y="2194560"/>
            <a:ext cx="548640" cy="0"/>
          </a:xfrm>
          <a:prstGeom prst="line">
            <a:avLst/>
          </a:prstGeom>
          <a:noFill/>
          <a:ln w="20320">
            <a:solidFill>
              <a:srgbClr val="38BDF8">
                <a:alpha val="92000"/>
              </a:srgbClr>
            </a:solidFill>
            <a:prstDash val="solid"/>
            <a:tailEnd type="triangle"/>
          </a:ln>
        </p:spPr>
      </p:sp>
      <p:sp>
        <p:nvSpPr>
          <p:cNvPr id="14" name="Text 12"/>
          <p:cNvSpPr/>
          <p:nvPr/>
        </p:nvSpPr>
        <p:spPr>
          <a:xfrm>
            <a:off x="9784080" y="1874520"/>
            <a:ext cx="1691640" cy="640080"/>
          </a:xfrm>
          <a:prstGeom prst="rect">
            <a:avLst/>
          </a:prstGeom>
          <a:solidFill>
            <a:srgbClr val="1F2A44"/>
          </a:solidFill>
          <a:ln w="11430">
            <a:solidFill>
              <a:srgbClr val="334155"/>
            </a:solidFill>
          </a:ln>
        </p:spPr>
        <p:txBody>
          <a:bodyPr wrap="square" lIns="762" tIns="762" rIns="762" bIns="762" rtlCol="0" anchor="ctr">
            <a:normAutofit/>
          </a:bodyPr>
          <a:lstStyle/>
          <a:p>
            <a:pPr algn="ctr" indent="0" marL="0">
              <a:buNone/>
            </a:pPr>
            <a:r>
              <a:rPr lang="en-US" sz="1250" b="1" dirty="0">
                <a:solidFill>
                  <a:srgbClr val="F8FAFC"/>
                </a:solidFill>
              </a:rPr>
              <a:t>Feedback loop</a:t>
            </a:r>
            <a:endParaRPr lang="en-US" sz="1250" dirty="0"/>
          </a:p>
        </p:txBody>
      </p:sp>
      <p:sp>
        <p:nvSpPr>
          <p:cNvPr id="15" name="Text 13"/>
          <p:cNvSpPr/>
          <p:nvPr/>
        </p:nvSpPr>
        <p:spPr>
          <a:xfrm>
            <a:off x="914400" y="3977640"/>
            <a:ext cx="1371600" cy="228600"/>
          </a:xfrm>
          <a:prstGeom prst="rect">
            <a:avLst/>
          </a:prstGeom>
          <a:noFill/>
          <a:ln/>
        </p:spPr>
        <p:txBody>
          <a:bodyPr wrap="square" lIns="508" tIns="508" rIns="508" bIns="508" rtlCol="0" anchor="ctr">
            <a:normAutofit/>
          </a:bodyPr>
          <a:lstStyle/>
          <a:p>
            <a:pPr indent="0" marL="0">
              <a:buNone/>
            </a:pPr>
            <a:r>
              <a:rPr lang="en-US" sz="1400" b="1" dirty="0">
                <a:solidFill>
                  <a:srgbClr val="38BDF8"/>
                </a:solidFill>
              </a:rPr>
              <a:t>Phase 1</a:t>
            </a:r>
            <a:endParaRPr lang="en-US" sz="1400" dirty="0"/>
          </a:p>
        </p:txBody>
      </p:sp>
      <p:sp>
        <p:nvSpPr>
          <p:cNvPr id="16" name="Text 14"/>
          <p:cNvSpPr/>
          <p:nvPr/>
        </p:nvSpPr>
        <p:spPr>
          <a:xfrm>
            <a:off x="914400" y="4297680"/>
            <a:ext cx="2560320" cy="411480"/>
          </a:xfrm>
          <a:prstGeom prst="rect">
            <a:avLst/>
          </a:prstGeom>
          <a:noFill/>
          <a:ln/>
        </p:spPr>
        <p:txBody>
          <a:bodyPr wrap="square" lIns="508" tIns="508" rIns="508" bIns="508" rtlCol="0" anchor="ctr">
            <a:normAutofit/>
          </a:bodyPr>
          <a:lstStyle/>
          <a:p>
            <a:pPr indent="0" marL="0">
              <a:buNone/>
            </a:pPr>
            <a:r>
              <a:rPr lang="en-US" sz="1350" dirty="0">
                <a:solidFill>
                  <a:srgbClr val="C4CBD8"/>
                </a:solidFill>
              </a:rPr>
              <a:t>Alert enrichment and severity guidance only.</a:t>
            </a:r>
            <a:endParaRPr lang="en-US" sz="1350" dirty="0"/>
          </a:p>
        </p:txBody>
      </p:sp>
      <p:sp>
        <p:nvSpPr>
          <p:cNvPr id="17" name="Text 15"/>
          <p:cNvSpPr/>
          <p:nvPr/>
        </p:nvSpPr>
        <p:spPr>
          <a:xfrm>
            <a:off x="4663440" y="3977640"/>
            <a:ext cx="1371600" cy="228600"/>
          </a:xfrm>
          <a:prstGeom prst="rect">
            <a:avLst/>
          </a:prstGeom>
          <a:noFill/>
          <a:ln/>
        </p:spPr>
        <p:txBody>
          <a:bodyPr wrap="square" lIns="508" tIns="508" rIns="508" bIns="508" rtlCol="0" anchor="ctr">
            <a:normAutofit/>
          </a:bodyPr>
          <a:lstStyle/>
          <a:p>
            <a:pPr indent="0" marL="0">
              <a:buNone/>
            </a:pPr>
            <a:r>
              <a:rPr lang="en-US" sz="1400" b="1" dirty="0">
                <a:solidFill>
                  <a:srgbClr val="38BDF8"/>
                </a:solidFill>
              </a:rPr>
              <a:t>Phase 2</a:t>
            </a:r>
            <a:endParaRPr lang="en-US" sz="1400" dirty="0"/>
          </a:p>
        </p:txBody>
      </p:sp>
      <p:sp>
        <p:nvSpPr>
          <p:cNvPr id="18" name="Text 16"/>
          <p:cNvSpPr/>
          <p:nvPr/>
        </p:nvSpPr>
        <p:spPr>
          <a:xfrm>
            <a:off x="4663440" y="4297680"/>
            <a:ext cx="2743200" cy="411480"/>
          </a:xfrm>
          <a:prstGeom prst="rect">
            <a:avLst/>
          </a:prstGeom>
          <a:noFill/>
          <a:ln/>
        </p:spPr>
        <p:txBody>
          <a:bodyPr wrap="square" lIns="508" tIns="508" rIns="508" bIns="508" rtlCol="0" anchor="ctr">
            <a:normAutofit/>
          </a:bodyPr>
          <a:lstStyle/>
          <a:p>
            <a:pPr indent="0" marL="0">
              <a:buNone/>
            </a:pPr>
            <a:r>
              <a:rPr lang="en-US" sz="1350" dirty="0">
                <a:solidFill>
                  <a:srgbClr val="C4CBD8"/>
                </a:solidFill>
              </a:rPr>
              <a:t>Add retrieval or a structured classifier to improve exact family calls.</a:t>
            </a:r>
            <a:endParaRPr lang="en-US" sz="1350" dirty="0"/>
          </a:p>
        </p:txBody>
      </p:sp>
      <p:sp>
        <p:nvSpPr>
          <p:cNvPr id="19" name="Text 17"/>
          <p:cNvSpPr/>
          <p:nvPr/>
        </p:nvSpPr>
        <p:spPr>
          <a:xfrm>
            <a:off x="8412480" y="3977640"/>
            <a:ext cx="1371600" cy="228600"/>
          </a:xfrm>
          <a:prstGeom prst="rect">
            <a:avLst/>
          </a:prstGeom>
          <a:noFill/>
          <a:ln/>
        </p:spPr>
        <p:txBody>
          <a:bodyPr wrap="square" lIns="508" tIns="508" rIns="508" bIns="508" rtlCol="0" anchor="ctr">
            <a:normAutofit/>
          </a:bodyPr>
          <a:lstStyle/>
          <a:p>
            <a:pPr indent="0" marL="0">
              <a:buNone/>
            </a:pPr>
            <a:r>
              <a:rPr lang="en-US" sz="1400" b="1" dirty="0">
                <a:solidFill>
                  <a:srgbClr val="38BDF8"/>
                </a:solidFill>
              </a:rPr>
              <a:t>Phase 3</a:t>
            </a:r>
            <a:endParaRPr lang="en-US" sz="1400" dirty="0"/>
          </a:p>
        </p:txBody>
      </p:sp>
      <p:sp>
        <p:nvSpPr>
          <p:cNvPr id="20" name="Text 18"/>
          <p:cNvSpPr/>
          <p:nvPr/>
        </p:nvSpPr>
        <p:spPr>
          <a:xfrm>
            <a:off x="8412480" y="4297680"/>
            <a:ext cx="2743200" cy="502920"/>
          </a:xfrm>
          <a:prstGeom prst="rect">
            <a:avLst/>
          </a:prstGeom>
          <a:noFill/>
          <a:ln/>
        </p:spPr>
        <p:txBody>
          <a:bodyPr wrap="square" lIns="508" tIns="508" rIns="508" bIns="508" rtlCol="0" anchor="ctr">
            <a:normAutofit/>
          </a:bodyPr>
          <a:lstStyle/>
          <a:p>
            <a:pPr indent="0" marL="0">
              <a:buNone/>
            </a:pPr>
            <a:r>
              <a:rPr lang="en-US" sz="1350" dirty="0">
                <a:solidFill>
                  <a:srgbClr val="C4CBD8"/>
                </a:solidFill>
              </a:rPr>
              <a:t>Consider controlled automation only after false positive testing and approval workflow maturity.</a:t>
            </a:r>
            <a:endParaRPr lang="en-US" sz="1350" dirty="0"/>
          </a:p>
        </p:txBody>
      </p:sp>
      <p:sp>
        <p:nvSpPr>
          <p:cNvPr id="21" name="Text 19"/>
          <p:cNvSpPr/>
          <p:nvPr/>
        </p:nvSpPr>
        <p:spPr>
          <a:xfrm>
            <a:off x="502920" y="6473952"/>
            <a:ext cx="2926080" cy="164592"/>
          </a:xfrm>
          <a:prstGeom prst="rect">
            <a:avLst/>
          </a:prstGeom>
          <a:noFill/>
          <a:ln/>
        </p:spPr>
        <p:txBody>
          <a:bodyPr wrap="square" lIns="0" tIns="0" rIns="0" bIns="0" rtlCol="0" anchor="ctr"/>
          <a:lstStyle/>
          <a:p>
            <a:pPr indent="0" marL="0">
              <a:buNone/>
            </a:pPr>
            <a:r>
              <a:rPr lang="en-US" sz="780" dirty="0">
                <a:solidFill>
                  <a:srgbClr val="94A3B8"/>
                </a:solidFill>
              </a:rPr>
              <a:t>SentinelMesh final project</a:t>
            </a:r>
            <a:endParaRPr lang="en-US" sz="780" dirty="0"/>
          </a:p>
        </p:txBody>
      </p:sp>
      <p:sp>
        <p:nvSpPr>
          <p:cNvPr id="22" name="Text 20"/>
          <p:cNvSpPr/>
          <p:nvPr/>
        </p:nvSpPr>
        <p:spPr>
          <a:xfrm>
            <a:off x="11384280" y="6446520"/>
            <a:ext cx="320040" cy="201168"/>
          </a:xfrm>
          <a:prstGeom prst="rect">
            <a:avLst/>
          </a:prstGeom>
          <a:noFill/>
          <a:ln/>
        </p:spPr>
        <p:txBody>
          <a:bodyPr wrap="square" lIns="0" tIns="0" rIns="0" bIns="0" rtlCol="0" anchor="ctr"/>
          <a:lstStyle/>
          <a:p>
            <a:pPr algn="r" indent="0" marL="0">
              <a:buNone/>
            </a:pPr>
            <a:r>
              <a:rPr lang="en-US" sz="800" dirty="0">
                <a:solidFill>
                  <a:srgbClr val="94A3B8"/>
                </a:solidFill>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Text 1"/>
          <p:cNvSpPr/>
          <p:nvPr/>
        </p:nvSpPr>
        <p:spPr>
          <a:xfrm>
            <a:off x="502920" y="320040"/>
            <a:ext cx="8138160" cy="502920"/>
          </a:xfrm>
          <a:prstGeom prst="rect">
            <a:avLst/>
          </a:prstGeom>
          <a:noFill/>
          <a:ln/>
        </p:spPr>
        <p:txBody>
          <a:bodyPr wrap="square" lIns="0" tIns="0" rIns="0" bIns="0" rtlCol="0" anchor="ctr"/>
          <a:lstStyle/>
          <a:p>
            <a:pPr indent="0" marL="0">
              <a:buNone/>
            </a:pPr>
            <a:r>
              <a:rPr lang="en-US" sz="3100" b="1" dirty="0">
                <a:solidFill>
                  <a:srgbClr val="F8FAFC"/>
                </a:solidFill>
                <a:latin typeface="Aptos Display" pitchFamily="34" charset="0"/>
                <a:ea typeface="Aptos Display" pitchFamily="34" charset="-122"/>
                <a:cs typeface="Aptos Display" pitchFamily="34" charset="-120"/>
              </a:rPr>
              <a:t>Conclusion</a:t>
            </a:r>
            <a:endParaRPr lang="en-US" sz="3100" dirty="0"/>
          </a:p>
        </p:txBody>
      </p:sp>
      <p:sp>
        <p:nvSpPr>
          <p:cNvPr id="4" name="Text 2"/>
          <p:cNvSpPr/>
          <p:nvPr/>
        </p:nvSpPr>
        <p:spPr>
          <a:xfrm>
            <a:off x="530352" y="868680"/>
            <a:ext cx="8412480" cy="292608"/>
          </a:xfrm>
          <a:prstGeom prst="rect">
            <a:avLst/>
          </a:prstGeom>
          <a:noFill/>
          <a:ln/>
        </p:spPr>
        <p:txBody>
          <a:bodyPr wrap="square" lIns="0" tIns="0" rIns="0" bIns="0" rtlCol="0" anchor="ctr"/>
          <a:lstStyle/>
          <a:p>
            <a:pPr indent="0" marL="0">
              <a:buNone/>
            </a:pPr>
            <a:r>
              <a:rPr lang="en-US" sz="1100" dirty="0">
                <a:solidFill>
                  <a:srgbClr val="94A3B8"/>
                </a:solidFill>
              </a:rPr>
              <a:t>A useful evaluated prototype, not a finished classifier</a:t>
            </a:r>
            <a:endParaRPr lang="en-US" sz="1100" dirty="0"/>
          </a:p>
        </p:txBody>
      </p:sp>
      <p:sp>
        <p:nvSpPr>
          <p:cNvPr id="5" name="Shape 3"/>
          <p:cNvSpPr/>
          <p:nvPr/>
        </p:nvSpPr>
        <p:spPr>
          <a:xfrm>
            <a:off x="502920" y="1124712"/>
            <a:ext cx="2971800" cy="0"/>
          </a:xfrm>
          <a:prstGeom prst="line">
            <a:avLst/>
          </a:prstGeom>
          <a:noFill/>
          <a:ln w="16510">
            <a:solidFill>
              <a:srgbClr val="38BDF8">
                <a:alpha val="90000"/>
              </a:srgbClr>
            </a:solidFill>
            <a:prstDash val="solid"/>
          </a:ln>
        </p:spPr>
      </p:sp>
      <p:sp>
        <p:nvSpPr>
          <p:cNvPr id="6" name="Text 4"/>
          <p:cNvSpPr/>
          <p:nvPr/>
        </p:nvSpPr>
        <p:spPr>
          <a:xfrm>
            <a:off x="868680" y="1600200"/>
            <a:ext cx="1828800" cy="274320"/>
          </a:xfrm>
          <a:prstGeom prst="rect">
            <a:avLst/>
          </a:prstGeom>
          <a:noFill/>
          <a:ln/>
        </p:spPr>
        <p:txBody>
          <a:bodyPr wrap="square" lIns="508" tIns="508" rIns="508" bIns="508" rtlCol="0" anchor="ctr">
            <a:normAutofit/>
          </a:bodyPr>
          <a:lstStyle/>
          <a:p>
            <a:pPr indent="0" marL="0">
              <a:buNone/>
            </a:pPr>
            <a:r>
              <a:rPr lang="en-US" sz="1400" b="1" dirty="0">
                <a:solidFill>
                  <a:srgbClr val="22C55E"/>
                </a:solidFill>
              </a:rPr>
              <a:t>What worked</a:t>
            </a:r>
            <a:endParaRPr lang="en-US" sz="1400" dirty="0"/>
          </a:p>
        </p:txBody>
      </p:sp>
      <p:sp>
        <p:nvSpPr>
          <p:cNvPr id="7" name="Text 5"/>
          <p:cNvSpPr/>
          <p:nvPr/>
        </p:nvSpPr>
        <p:spPr>
          <a:xfrm>
            <a:off x="914400" y="1938528"/>
            <a:ext cx="2926080" cy="960120"/>
          </a:xfrm>
          <a:prstGeom prst="rect">
            <a:avLst/>
          </a:prstGeom>
          <a:noFill/>
          <a:ln/>
        </p:spPr>
        <p:txBody>
          <a:bodyPr wrap="square" lIns="508" tIns="508" rIns="508" bIns="508" rtlCol="0" anchor="ctr">
            <a:normAutofit/>
          </a:bodyPr>
          <a:lstStyle/>
          <a:p>
            <a:pPr indent="0" marL="0">
              <a:buNone/>
            </a:pPr>
            <a:r>
              <a:rPr lang="en-US" sz="1500" dirty="0">
                <a:solidFill>
                  <a:srgbClr val="C4CBD8"/>
                </a:solidFill>
              </a:rPr>
              <a:t>Reusable agent logic</a:t>
            </a:r>
            <a:endParaRPr lang="en-US" sz="1500" dirty="0"/>
          </a:p>
          <a:p>
            <a:pPr indent="0" marL="0">
              <a:buNone/>
            </a:pPr>
            <a:r>
              <a:rPr lang="en-US" sz="1500" dirty="0">
                <a:solidFill>
                  <a:srgbClr val="C4CBD8"/>
                </a:solidFill>
              </a:rPr>
              <a:t>Three grounded tools</a:t>
            </a:r>
            <a:endParaRPr lang="en-US" sz="1500" dirty="0"/>
          </a:p>
          <a:p>
            <a:pPr indent="0" marL="0">
              <a:buNone/>
            </a:pPr>
            <a:r>
              <a:rPr lang="en-US" sz="1500" dirty="0">
                <a:solidFill>
                  <a:srgbClr val="C4CBD8"/>
                </a:solidFill>
              </a:rPr>
              <a:t>Clean refusal behavior</a:t>
            </a:r>
            <a:endParaRPr lang="en-US" sz="1500" dirty="0"/>
          </a:p>
          <a:p>
            <a:pPr indent="0" marL="0">
              <a:buNone/>
            </a:pPr>
            <a:r>
              <a:rPr lang="en-US" sz="1500" dirty="0">
                <a:solidFill>
                  <a:srgbClr val="C4CBD8"/>
                </a:solidFill>
              </a:rPr>
              <a:t>Traceable evaluation flow</a:t>
            </a:r>
            <a:endParaRPr lang="en-US" sz="1500" dirty="0"/>
          </a:p>
        </p:txBody>
      </p:sp>
      <p:sp>
        <p:nvSpPr>
          <p:cNvPr id="8" name="Text 6"/>
          <p:cNvSpPr/>
          <p:nvPr/>
        </p:nvSpPr>
        <p:spPr>
          <a:xfrm>
            <a:off x="4663440" y="1600200"/>
            <a:ext cx="1828800" cy="274320"/>
          </a:xfrm>
          <a:prstGeom prst="rect">
            <a:avLst/>
          </a:prstGeom>
          <a:noFill/>
          <a:ln/>
        </p:spPr>
        <p:txBody>
          <a:bodyPr wrap="square" lIns="508" tIns="508" rIns="508" bIns="508" rtlCol="0" anchor="ctr">
            <a:normAutofit/>
          </a:bodyPr>
          <a:lstStyle/>
          <a:p>
            <a:pPr indent="0" marL="0">
              <a:buNone/>
            </a:pPr>
            <a:r>
              <a:rPr lang="en-US" sz="1400" b="1" dirty="0">
                <a:solidFill>
                  <a:srgbClr val="EF4444"/>
                </a:solidFill>
              </a:rPr>
              <a:t>What failed</a:t>
            </a:r>
            <a:endParaRPr lang="en-US" sz="1400" dirty="0"/>
          </a:p>
        </p:txBody>
      </p:sp>
      <p:sp>
        <p:nvSpPr>
          <p:cNvPr id="9" name="Text 7"/>
          <p:cNvSpPr/>
          <p:nvPr/>
        </p:nvSpPr>
        <p:spPr>
          <a:xfrm>
            <a:off x="4709160" y="1938528"/>
            <a:ext cx="2926080" cy="960120"/>
          </a:xfrm>
          <a:prstGeom prst="rect">
            <a:avLst/>
          </a:prstGeom>
          <a:noFill/>
          <a:ln/>
        </p:spPr>
        <p:txBody>
          <a:bodyPr wrap="square" lIns="508" tIns="508" rIns="508" bIns="508" rtlCol="0" anchor="ctr">
            <a:normAutofit/>
          </a:bodyPr>
          <a:lstStyle/>
          <a:p>
            <a:pPr indent="0" marL="0">
              <a:buNone/>
            </a:pPr>
            <a:r>
              <a:rPr lang="en-US" sz="1500" dirty="0">
                <a:solidFill>
                  <a:srgbClr val="C4CBD8"/>
                </a:solidFill>
              </a:rPr>
              <a:t>Exact family prediction</a:t>
            </a:r>
            <a:endParaRPr lang="en-US" sz="1500" dirty="0"/>
          </a:p>
          <a:p>
            <a:pPr indent="0" marL="0">
              <a:buNone/>
            </a:pPr>
            <a:r>
              <a:rPr lang="en-US" sz="1500" dirty="0">
                <a:solidFill>
                  <a:srgbClr val="C4CBD8"/>
                </a:solidFill>
              </a:rPr>
              <a:t>make_judge endpoint compatibility</a:t>
            </a:r>
            <a:endParaRPr lang="en-US" sz="1500" dirty="0"/>
          </a:p>
          <a:p>
            <a:pPr indent="0" marL="0">
              <a:buNone/>
            </a:pPr>
            <a:r>
              <a:rPr lang="en-US" sz="1500" dirty="0">
                <a:solidFill>
                  <a:srgbClr val="C4CBD8"/>
                </a:solidFill>
              </a:rPr>
              <a:t>Small model tool reliability</a:t>
            </a:r>
            <a:endParaRPr lang="en-US" sz="1500" dirty="0"/>
          </a:p>
          <a:p>
            <a:pPr indent="0" marL="0">
              <a:buNone/>
            </a:pPr>
            <a:r>
              <a:rPr lang="en-US" sz="1500" dirty="0">
                <a:solidFill>
                  <a:srgbClr val="C4CBD8"/>
                </a:solidFill>
              </a:rPr>
              <a:t>Autonomous readiness</a:t>
            </a:r>
            <a:endParaRPr lang="en-US" sz="1500" dirty="0"/>
          </a:p>
        </p:txBody>
      </p:sp>
      <p:sp>
        <p:nvSpPr>
          <p:cNvPr id="10" name="Text 8"/>
          <p:cNvSpPr/>
          <p:nvPr/>
        </p:nvSpPr>
        <p:spPr>
          <a:xfrm>
            <a:off x="8321040" y="1600200"/>
            <a:ext cx="1828800" cy="274320"/>
          </a:xfrm>
          <a:prstGeom prst="rect">
            <a:avLst/>
          </a:prstGeom>
          <a:noFill/>
          <a:ln/>
        </p:spPr>
        <p:txBody>
          <a:bodyPr wrap="square" lIns="508" tIns="508" rIns="508" bIns="508" rtlCol="0" anchor="ctr">
            <a:normAutofit/>
          </a:bodyPr>
          <a:lstStyle/>
          <a:p>
            <a:pPr indent="0" marL="0">
              <a:buNone/>
            </a:pPr>
            <a:r>
              <a:rPr lang="en-US" sz="1400" b="1" dirty="0">
                <a:solidFill>
                  <a:srgbClr val="38BDF8"/>
                </a:solidFill>
              </a:rPr>
              <a:t>Next improvements</a:t>
            </a:r>
            <a:endParaRPr lang="en-US" sz="1400" dirty="0"/>
          </a:p>
        </p:txBody>
      </p:sp>
      <p:sp>
        <p:nvSpPr>
          <p:cNvPr id="11" name="Text 9"/>
          <p:cNvSpPr/>
          <p:nvPr/>
        </p:nvSpPr>
        <p:spPr>
          <a:xfrm>
            <a:off x="8366760" y="1938528"/>
            <a:ext cx="2926080" cy="960120"/>
          </a:xfrm>
          <a:prstGeom prst="rect">
            <a:avLst/>
          </a:prstGeom>
          <a:noFill/>
          <a:ln/>
        </p:spPr>
        <p:txBody>
          <a:bodyPr wrap="square" lIns="508" tIns="508" rIns="508" bIns="508" rtlCol="0" anchor="ctr">
            <a:normAutofit/>
          </a:bodyPr>
          <a:lstStyle/>
          <a:p>
            <a:pPr indent="0" marL="0">
              <a:buNone/>
            </a:pPr>
            <a:r>
              <a:rPr lang="en-US" sz="1500" dirty="0">
                <a:solidFill>
                  <a:srgbClr val="C4CBD8"/>
                </a:solidFill>
              </a:rPr>
              <a:t>Nearest neighbor retrieval</a:t>
            </a:r>
            <a:endParaRPr lang="en-US" sz="1500" dirty="0"/>
          </a:p>
          <a:p>
            <a:pPr indent="0" marL="0">
              <a:buNone/>
            </a:pPr>
            <a:r>
              <a:rPr lang="en-US" sz="1500" dirty="0">
                <a:solidFill>
                  <a:srgbClr val="C4CBD8"/>
                </a:solidFill>
              </a:rPr>
              <a:t>Structured ML classifier</a:t>
            </a:r>
            <a:endParaRPr lang="en-US" sz="1500" dirty="0"/>
          </a:p>
          <a:p>
            <a:pPr indent="0" marL="0">
              <a:buNone/>
            </a:pPr>
            <a:r>
              <a:rPr lang="en-US" sz="1500" dirty="0">
                <a:solidFill>
                  <a:srgbClr val="C4CBD8"/>
                </a:solidFill>
              </a:rPr>
              <a:t>Larger eval set</a:t>
            </a:r>
            <a:endParaRPr lang="en-US" sz="1500" dirty="0"/>
          </a:p>
          <a:p>
            <a:pPr indent="0" marL="0">
              <a:buNone/>
            </a:pPr>
            <a:r>
              <a:rPr lang="en-US" sz="1500" dirty="0">
                <a:solidFill>
                  <a:srgbClr val="C4CBD8"/>
                </a:solidFill>
              </a:rPr>
              <a:t>Production rate limits</a:t>
            </a:r>
            <a:endParaRPr lang="en-US" sz="1500" dirty="0"/>
          </a:p>
        </p:txBody>
      </p:sp>
      <p:sp>
        <p:nvSpPr>
          <p:cNvPr id="12" name="Text 10"/>
          <p:cNvSpPr/>
          <p:nvPr/>
        </p:nvSpPr>
        <p:spPr>
          <a:xfrm>
            <a:off x="914400" y="4846320"/>
            <a:ext cx="10241280" cy="502920"/>
          </a:xfrm>
          <a:prstGeom prst="rect">
            <a:avLst/>
          </a:prstGeom>
          <a:noFill/>
          <a:ln/>
        </p:spPr>
        <p:txBody>
          <a:bodyPr wrap="square" lIns="508" tIns="508" rIns="508" bIns="508" rtlCol="0" anchor="ctr">
            <a:normAutofit/>
          </a:bodyPr>
          <a:lstStyle/>
          <a:p>
            <a:pPr algn="ctr" indent="0" marL="0">
              <a:buNone/>
            </a:pPr>
            <a:r>
              <a:rPr lang="en-US" sz="2100" b="1" dirty="0">
                <a:solidFill>
                  <a:srgbClr val="F8FAFC"/>
                </a:solidFill>
              </a:rPr>
              <a:t>Final recommendation: deploy as a human reviewed Tier 1 triage assistant for enrichment, routing, and severity guidance.</a:t>
            </a:r>
            <a:endParaRPr lang="en-US" sz="2100" dirty="0"/>
          </a:p>
        </p:txBody>
      </p:sp>
      <p:sp>
        <p:nvSpPr>
          <p:cNvPr id="13" name="Text 11"/>
          <p:cNvSpPr/>
          <p:nvPr/>
        </p:nvSpPr>
        <p:spPr>
          <a:xfrm>
            <a:off x="502920" y="6473952"/>
            <a:ext cx="2926080" cy="164592"/>
          </a:xfrm>
          <a:prstGeom prst="rect">
            <a:avLst/>
          </a:prstGeom>
          <a:noFill/>
          <a:ln/>
        </p:spPr>
        <p:txBody>
          <a:bodyPr wrap="square" lIns="0" tIns="0" rIns="0" bIns="0" rtlCol="0" anchor="ctr"/>
          <a:lstStyle/>
          <a:p>
            <a:pPr indent="0" marL="0">
              <a:buNone/>
            </a:pPr>
            <a:r>
              <a:rPr lang="en-US" sz="780" dirty="0">
                <a:solidFill>
                  <a:srgbClr val="94A3B8"/>
                </a:solidFill>
              </a:rPr>
              <a:t>SentinelMesh final project</a:t>
            </a:r>
            <a:endParaRPr lang="en-US" sz="780" dirty="0"/>
          </a:p>
        </p:txBody>
      </p:sp>
      <p:sp>
        <p:nvSpPr>
          <p:cNvPr id="14" name="Text 12"/>
          <p:cNvSpPr/>
          <p:nvPr/>
        </p:nvSpPr>
        <p:spPr>
          <a:xfrm>
            <a:off x="11384280" y="6446520"/>
            <a:ext cx="320040" cy="201168"/>
          </a:xfrm>
          <a:prstGeom prst="rect">
            <a:avLst/>
          </a:prstGeom>
          <a:noFill/>
          <a:ln/>
        </p:spPr>
        <p:txBody>
          <a:bodyPr wrap="square" lIns="0" tIns="0" rIns="0" bIns="0" rtlCol="0" anchor="ctr"/>
          <a:lstStyle/>
          <a:p>
            <a:pPr algn="r" indent="0" marL="0">
              <a:buNone/>
            </a:pPr>
            <a:r>
              <a:rPr lang="en-US" sz="800" dirty="0">
                <a:solidFill>
                  <a:srgbClr val="94A3B8"/>
                </a:solidFill>
              </a:rPr>
              <a:t>16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University of San Diego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SentinelMesh Agentic IoT Security Triage</dc:title>
  <dc:subject>SentinelMesh final project presentation</dc:subject>
  <dc:creator>Pawan Bishwokarma</dc:creator>
  <cp:lastModifiedBy>Pawan Bishwokarma</cp:lastModifiedBy>
  <cp:revision>1</cp:revision>
  <dcterms:created xsi:type="dcterms:W3CDTF">2026-06-22T22:14:20Z</dcterms:created>
  <dcterms:modified xsi:type="dcterms:W3CDTF">2026-06-22T22:14:20Z</dcterms:modified>
</cp:coreProperties>
</file>